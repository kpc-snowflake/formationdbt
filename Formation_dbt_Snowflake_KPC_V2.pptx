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873" r:id="rId4"/>
  </p:sldMasterIdLst>
  <p:notesMasterIdLst>
    <p:notesMasterId r:id="rId62"/>
  </p:notesMasterIdLst>
  <p:handoutMasterIdLst>
    <p:handoutMasterId r:id="rId63"/>
  </p:handoutMasterIdLst>
  <p:sldIdLst>
    <p:sldId id="256" r:id="rId5"/>
    <p:sldId id="257" r:id="rId6"/>
    <p:sldId id="258" r:id="rId7"/>
    <p:sldId id="259" r:id="rId8"/>
    <p:sldId id="260" r:id="rId9"/>
    <p:sldId id="419" r:id="rId10"/>
    <p:sldId id="262" r:id="rId11"/>
    <p:sldId id="347" r:id="rId12"/>
    <p:sldId id="420" r:id="rId13"/>
    <p:sldId id="421" r:id="rId14"/>
    <p:sldId id="422" r:id="rId15"/>
    <p:sldId id="423" r:id="rId16"/>
    <p:sldId id="393" r:id="rId17"/>
    <p:sldId id="348" r:id="rId18"/>
    <p:sldId id="394" r:id="rId19"/>
    <p:sldId id="395" r:id="rId20"/>
    <p:sldId id="396" r:id="rId21"/>
    <p:sldId id="273" r:id="rId22"/>
    <p:sldId id="397" r:id="rId23"/>
    <p:sldId id="398" r:id="rId24"/>
    <p:sldId id="399" r:id="rId25"/>
    <p:sldId id="277" r:id="rId26"/>
    <p:sldId id="400" r:id="rId27"/>
    <p:sldId id="279" r:id="rId28"/>
    <p:sldId id="349" r:id="rId29"/>
    <p:sldId id="401" r:id="rId30"/>
    <p:sldId id="402" r:id="rId31"/>
    <p:sldId id="403" r:id="rId32"/>
    <p:sldId id="404" r:id="rId33"/>
    <p:sldId id="405" r:id="rId34"/>
    <p:sldId id="286" r:id="rId35"/>
    <p:sldId id="287" r:id="rId36"/>
    <p:sldId id="350" r:id="rId37"/>
    <p:sldId id="406" r:id="rId38"/>
    <p:sldId id="290" r:id="rId39"/>
    <p:sldId id="407" r:id="rId40"/>
    <p:sldId id="408" r:id="rId41"/>
    <p:sldId id="409" r:id="rId42"/>
    <p:sldId id="410" r:id="rId43"/>
    <p:sldId id="351" r:id="rId44"/>
    <p:sldId id="296" r:id="rId45"/>
    <p:sldId id="411" r:id="rId46"/>
    <p:sldId id="298" r:id="rId47"/>
    <p:sldId id="299" r:id="rId48"/>
    <p:sldId id="352" r:id="rId49"/>
    <p:sldId id="412" r:id="rId50"/>
    <p:sldId id="413" r:id="rId51"/>
    <p:sldId id="414" r:id="rId52"/>
    <p:sldId id="304" r:id="rId53"/>
    <p:sldId id="415" r:id="rId54"/>
    <p:sldId id="353" r:id="rId55"/>
    <p:sldId id="416" r:id="rId56"/>
    <p:sldId id="308" r:id="rId57"/>
    <p:sldId id="309" r:id="rId58"/>
    <p:sldId id="417" r:id="rId59"/>
    <p:sldId id="418" r:id="rId60"/>
    <p:sldId id="312" r:id="rId6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uvertures" id="{53C05019-9BE1-FE49-BE90-974B6FCF7790}">
          <p14:sldIdLst>
            <p14:sldId id="256"/>
            <p14:sldId id="257"/>
            <p14:sldId id="258"/>
            <p14:sldId id="259"/>
            <p14:sldId id="260"/>
            <p14:sldId id="419"/>
            <p14:sldId id="262"/>
            <p14:sldId id="347"/>
            <p14:sldId id="420"/>
            <p14:sldId id="421"/>
            <p14:sldId id="422"/>
            <p14:sldId id="423"/>
            <p14:sldId id="393"/>
            <p14:sldId id="348"/>
            <p14:sldId id="394"/>
            <p14:sldId id="395"/>
            <p14:sldId id="396"/>
            <p14:sldId id="273"/>
            <p14:sldId id="397"/>
            <p14:sldId id="398"/>
            <p14:sldId id="399"/>
            <p14:sldId id="277"/>
            <p14:sldId id="400"/>
            <p14:sldId id="279"/>
            <p14:sldId id="349"/>
            <p14:sldId id="401"/>
            <p14:sldId id="402"/>
            <p14:sldId id="403"/>
            <p14:sldId id="404"/>
            <p14:sldId id="405"/>
            <p14:sldId id="286"/>
            <p14:sldId id="287"/>
            <p14:sldId id="350"/>
            <p14:sldId id="406"/>
            <p14:sldId id="290"/>
            <p14:sldId id="407"/>
            <p14:sldId id="408"/>
            <p14:sldId id="409"/>
            <p14:sldId id="410"/>
            <p14:sldId id="351"/>
            <p14:sldId id="296"/>
            <p14:sldId id="411"/>
            <p14:sldId id="298"/>
            <p14:sldId id="299"/>
            <p14:sldId id="352"/>
            <p14:sldId id="412"/>
            <p14:sldId id="413"/>
            <p14:sldId id="414"/>
            <p14:sldId id="304"/>
            <p14:sldId id="415"/>
            <p14:sldId id="353"/>
            <p14:sldId id="416"/>
            <p14:sldId id="308"/>
            <p14:sldId id="309"/>
            <p14:sldId id="417"/>
            <p14:sldId id="418"/>
            <p14:sldId id="312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441CE006-3F51-896F-55D1-76102AB1C4B8}" name="Nicolas Aumaistre" initials="NA" userId="S::nicolas.aumaistre@kpconsulting.fr::6f00dba7-6187-4edc-9bd0-38a51dd01a47" providerId="AD"/>
  <p188:author id="{A221E131-5099-6AFD-E28C-B2302C8A57F8}" name="Stéphan VERDIER" initials="SV" userId="S::sverdier@kwanzeo.com::acd683a2-6028-4993-a241-b938aee05a6b" providerId="AD"/>
  <p188:author id="{7C91C233-4422-ACB6-FD32-98265AFE1AE0}" name="Roman DOS SANTOS" initials="RS" userId="S::roman.dos-santos@kpconsulting.fr::a5a10015-77aa-4499-91f1-c499cdf0d518" providerId="AD"/>
  <p188:author id="{0885A83F-34FF-E940-379D-95FFD046A058}" name="Nicolas Veras" initials="NV" userId="S::nicolas.veras@kpconsulting.fr::52e713c2-ee76-403c-b339-e13c2cbd7a72" providerId="AD"/>
  <p188:author id="{19CB5388-907C-5BE2-31DB-F4515C010225}" name="Christel Carbonnel" initials="CC" userId="S::christel.carbonnel@kpconsulting.fr::2e75a158-d9b6-43a1-99f3-ec7e5ec616d6" providerId="AD"/>
  <p188:author id="{BA7FD898-D8D3-12BE-DF7D-CC324FB1FA32}" name="Stéphane Munoz" initials="SM" userId="S::stephane.munoz@kpconsulting.fr::4e302159-523a-4c8c-ab00-9c5bb68ef40d" providerId="AD"/>
  <p188:author id="{84984899-C832-CCDF-2271-811F861F13B0}" name="Nicolas Mussotte" initials="NM" userId="S::nicolas.mussotte@kpconsulting.fr::2765e2fd-cbe6-4b4d-8c78-89b0fbffd277" providerId="AD"/>
  <p188:author id="{A7AE32AA-2752-C6DB-6A67-805E6D563050}" name="Matthieu Augier" initials="MA" userId="S::matthieu.augier@kpconsulting.fr::381db1b4-9711-4cdf-959a-7540904b041a" providerId="AD"/>
  <p188:author id="{06F2ECB6-0E4E-88A9-75C7-C4760B1267E2}" name="Jacques CHAMBOURNIER" initials="" userId="S::jacques.chambournier@kpconsulting.fr::852b520d-d773-4d88-89da-4da0187fc5e7" providerId="AD"/>
  <p188:author id="{386D27B8-4619-6813-1EB7-E365B5283956}" name="Theo Esteban" initials="TE" userId="S::theo.esteban@kpconsulting.fr::10be8676-49c1-4260-aee4-1965d4b53977" providerId="AD"/>
  <p188:author id="{73CF53D1-B245-7A9A-228C-10A891AE906A}" name="Laurent Sirot" initials="LS" userId="S::laurent.sirot@kpconsulting.fr::addd8953-a4d2-4180-8758-e15e7ee18ac3" providerId="AD"/>
  <p188:author id="{4A7168DA-B18D-4A50-6610-C451C670FE2A}" name="Emilie Marie" initials="EM" userId="S::emilie.marie@kpconsulting.fr::59de69f1-93b5-43a3-aa0d-33ada9dcc54c" providerId="AD"/>
  <p188:author id="{13747CDE-004B-1476-D1B9-B09775F570D9}" name="Sebastien Esperance" initials="SE" userId="S::sebastien.esperance@kpconsulting.fr::d1eba6f4-45af-4569-a978-943ee0b18cc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60D3D"/>
    <a:srgbClr val="E8792F"/>
    <a:srgbClr val="2FB5E8"/>
    <a:srgbClr val="273DD3"/>
    <a:srgbClr val="F2F2F2"/>
    <a:srgbClr val="27AE60"/>
    <a:srgbClr val="320CC9"/>
    <a:srgbClr val="FF5201"/>
    <a:srgbClr val="534AB7"/>
    <a:srgbClr val="2E509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1F7B15F-C8C2-405B-BD60-C3332BF32D2B}" v="19" dt="2026-05-20T06:52:19.708"/>
  </p1510:revLst>
</p1510:revInfo>
</file>

<file path=ppt/tableStyles.xml><?xml version="1.0" encoding="utf-8"?>
<a:tblStyleLst xmlns:a="http://schemas.openxmlformats.org/drawingml/2006/main" def="{5C22544A-7EE6-4342-B048-85BDC9FD1C3A}">
  <a:tblStyle styleId="{21E4AEA4-8DFA-4A89-87EB-49C32662AFE0}" styleName="Style moyen 2 - Accentuatio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Style clair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Style moyen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Style moyen 2 - Accentuation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16DA210-FB5B-4158-B5E0-FEB733F419BA}" styleName="Style clair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C083E6E3-FA7D-4D7B-A595-EF9225AFEA82}" styleName="Style léger 1 - Accentuation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Style léger 1 - Accentuation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9D7B26C5-4107-4FEC-AEDC-1716B250A1EF}" styleName="Style clair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Style moyen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0505E3EF-67EA-436B-97B2-0124C06EBD24}" styleName="Style moyen 4 - Accentuation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72833802-FEF1-4C79-8D5D-14CF1EAF98D9}" styleName="Style léger 2 - Accentuation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52" d="100"/>
          <a:sy n="152" d="100"/>
        </p:scale>
        <p:origin x="60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6" d="100"/>
          <a:sy n="96" d="100"/>
        </p:scale>
        <p:origin x="4328" y="17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handoutMaster" Target="handoutMasters/handoutMaster1.xml"/><Relationship Id="rId68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theme" Target="theme/theme1.xml"/><Relationship Id="rId5" Type="http://schemas.openxmlformats.org/officeDocument/2006/relationships/slide" Target="slides/slide1.xml"/><Relationship Id="rId61" Type="http://schemas.openxmlformats.org/officeDocument/2006/relationships/slide" Target="slides/slide57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presProps" Target="presProps.xml"/><Relationship Id="rId69" Type="http://schemas.microsoft.com/office/2015/10/relationships/revisionInfo" Target="revisionInfo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tableStyles" Target="tableStyle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notesMaster" Target="notesMasters/notesMaster1.xml"/><Relationship Id="rId7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lorian Saubagnac" userId="ba059a44-5ec5-43c6-b683-922ba0191c92" providerId="ADAL" clId="{47050352-5C9D-4A76-BD32-3165DEE393B0}"/>
    <pc:docChg chg="undo custSel addSld modSld modSection">
      <pc:chgData name="Florian Saubagnac" userId="ba059a44-5ec5-43c6-b683-922ba0191c92" providerId="ADAL" clId="{47050352-5C9D-4A76-BD32-3165DEE393B0}" dt="2026-04-28T09:53:53.523" v="94" actId="20577"/>
      <pc:docMkLst>
        <pc:docMk/>
      </pc:docMkLst>
    </pc:docChg>
  </pc:docChgLst>
  <pc:docChgLst>
    <pc:chgData name="Cyril Lamaison" userId="f3e42cf5-8bfa-44cf-938b-64864ec9ae5f" providerId="ADAL" clId="{66AD29DD-C152-4FD7-9181-17B5C41C3F7B}"/>
    <pc:docChg chg="undo redo custSel modSld">
      <pc:chgData name="Cyril Lamaison" userId="f3e42cf5-8bfa-44cf-938b-64864ec9ae5f" providerId="ADAL" clId="{66AD29DD-C152-4FD7-9181-17B5C41C3F7B}" dt="2026-05-20T06:55:31.185" v="529" actId="12"/>
      <pc:docMkLst>
        <pc:docMk/>
      </pc:docMkLst>
      <pc:sldChg chg="modSp mod">
        <pc:chgData name="Cyril Lamaison" userId="f3e42cf5-8bfa-44cf-938b-64864ec9ae5f" providerId="ADAL" clId="{66AD29DD-C152-4FD7-9181-17B5C41C3F7B}" dt="2026-05-19T15:05:14.599" v="428" actId="20577"/>
        <pc:sldMkLst>
          <pc:docMk/>
          <pc:sldMk cId="0" sldId="264"/>
        </pc:sldMkLst>
        <pc:spChg chg="mod">
          <ac:chgData name="Cyril Lamaison" userId="f3e42cf5-8bfa-44cf-938b-64864ec9ae5f" providerId="ADAL" clId="{66AD29DD-C152-4FD7-9181-17B5C41C3F7B}" dt="2026-05-19T15:01:05.584" v="331" actId="20577"/>
          <ac:spMkLst>
            <pc:docMk/>
            <pc:sldMk cId="0" sldId="264"/>
            <ac:spMk id="3" creationId="{00000000-0000-0000-0000-000000000000}"/>
          </ac:spMkLst>
        </pc:spChg>
        <pc:spChg chg="mod">
          <ac:chgData name="Cyril Lamaison" userId="f3e42cf5-8bfa-44cf-938b-64864ec9ae5f" providerId="ADAL" clId="{66AD29DD-C152-4FD7-9181-17B5C41C3F7B}" dt="2026-05-19T15:05:14.599" v="428" actId="20577"/>
          <ac:spMkLst>
            <pc:docMk/>
            <pc:sldMk cId="0" sldId="264"/>
            <ac:spMk id="4" creationId="{00000000-0000-0000-0000-000000000000}"/>
          </ac:spMkLst>
        </pc:spChg>
      </pc:sldChg>
      <pc:sldChg chg="modSp mod">
        <pc:chgData name="Cyril Lamaison" userId="f3e42cf5-8bfa-44cf-938b-64864ec9ae5f" providerId="ADAL" clId="{66AD29DD-C152-4FD7-9181-17B5C41C3F7B}" dt="2026-05-19T15:03:24.372" v="417" actId="20577"/>
        <pc:sldMkLst>
          <pc:docMk/>
          <pc:sldMk cId="0" sldId="265"/>
        </pc:sldMkLst>
        <pc:spChg chg="mod">
          <ac:chgData name="Cyril Lamaison" userId="f3e42cf5-8bfa-44cf-938b-64864ec9ae5f" providerId="ADAL" clId="{66AD29DD-C152-4FD7-9181-17B5C41C3F7B}" dt="2026-05-19T15:02:04.437" v="343" actId="20577"/>
          <ac:spMkLst>
            <pc:docMk/>
            <pc:sldMk cId="0" sldId="265"/>
            <ac:spMk id="2" creationId="{00000000-0000-0000-0000-000000000000}"/>
          </ac:spMkLst>
        </pc:spChg>
        <pc:spChg chg="mod">
          <ac:chgData name="Cyril Lamaison" userId="f3e42cf5-8bfa-44cf-938b-64864ec9ae5f" providerId="ADAL" clId="{66AD29DD-C152-4FD7-9181-17B5C41C3F7B}" dt="2026-05-19T15:03:24.372" v="417" actId="20577"/>
          <ac:spMkLst>
            <pc:docMk/>
            <pc:sldMk cId="0" sldId="265"/>
            <ac:spMk id="3" creationId="{00000000-0000-0000-0000-000000000000}"/>
          </ac:spMkLst>
        </pc:spChg>
        <pc:spChg chg="mod">
          <ac:chgData name="Cyril Lamaison" userId="f3e42cf5-8bfa-44cf-938b-64864ec9ae5f" providerId="ADAL" clId="{66AD29DD-C152-4FD7-9181-17B5C41C3F7B}" dt="2026-05-19T14:54:30.572" v="74" actId="6549"/>
          <ac:spMkLst>
            <pc:docMk/>
            <pc:sldMk cId="0" sldId="265"/>
            <ac:spMk id="4" creationId="{00000000-0000-0000-0000-000000000000}"/>
          </ac:spMkLst>
        </pc:spChg>
      </pc:sldChg>
      <pc:sldChg chg="modSp mod">
        <pc:chgData name="Cyril Lamaison" userId="f3e42cf5-8bfa-44cf-938b-64864ec9ae5f" providerId="ADAL" clId="{66AD29DD-C152-4FD7-9181-17B5C41C3F7B}" dt="2026-05-19T15:03:42.445" v="419" actId="120"/>
        <pc:sldMkLst>
          <pc:docMk/>
          <pc:sldMk cId="0" sldId="266"/>
        </pc:sldMkLst>
        <pc:spChg chg="mod">
          <ac:chgData name="Cyril Lamaison" userId="f3e42cf5-8bfa-44cf-938b-64864ec9ae5f" providerId="ADAL" clId="{66AD29DD-C152-4FD7-9181-17B5C41C3F7B}" dt="2026-05-19T14:21:33.804" v="3" actId="20577"/>
          <ac:spMkLst>
            <pc:docMk/>
            <pc:sldMk cId="0" sldId="266"/>
            <ac:spMk id="3" creationId="{00000000-0000-0000-0000-000000000000}"/>
          </ac:spMkLst>
        </pc:spChg>
        <pc:spChg chg="mod">
          <ac:chgData name="Cyril Lamaison" userId="f3e42cf5-8bfa-44cf-938b-64864ec9ae5f" providerId="ADAL" clId="{66AD29DD-C152-4FD7-9181-17B5C41C3F7B}" dt="2026-05-19T15:03:42.445" v="419" actId="120"/>
          <ac:spMkLst>
            <pc:docMk/>
            <pc:sldMk cId="0" sldId="266"/>
            <ac:spMk id="4" creationId="{00000000-0000-0000-0000-000000000000}"/>
          </ac:spMkLst>
        </pc:spChg>
      </pc:sldChg>
      <pc:sldChg chg="modSp mod">
        <pc:chgData name="Cyril Lamaison" userId="f3e42cf5-8bfa-44cf-938b-64864ec9ae5f" providerId="ADAL" clId="{66AD29DD-C152-4FD7-9181-17B5C41C3F7B}" dt="2026-05-19T15:05:07.812" v="426" actId="20577"/>
        <pc:sldMkLst>
          <pc:docMk/>
          <pc:sldMk cId="0" sldId="267"/>
        </pc:sldMkLst>
        <pc:spChg chg="mod">
          <ac:chgData name="Cyril Lamaison" userId="f3e42cf5-8bfa-44cf-938b-64864ec9ae5f" providerId="ADAL" clId="{66AD29DD-C152-4FD7-9181-17B5C41C3F7B}" dt="2026-05-19T15:05:07.812" v="426" actId="20577"/>
          <ac:spMkLst>
            <pc:docMk/>
            <pc:sldMk cId="0" sldId="267"/>
            <ac:spMk id="5" creationId="{00000000-0000-0000-0000-000000000000}"/>
          </ac:spMkLst>
        </pc:spChg>
      </pc:sldChg>
      <pc:sldChg chg="modSp mod">
        <pc:chgData name="Cyril Lamaison" userId="f3e42cf5-8bfa-44cf-938b-64864ec9ae5f" providerId="ADAL" clId="{66AD29DD-C152-4FD7-9181-17B5C41C3F7B}" dt="2026-05-19T15:06:35.466" v="430" actId="120"/>
        <pc:sldMkLst>
          <pc:docMk/>
          <pc:sldMk cId="0" sldId="268"/>
        </pc:sldMkLst>
        <pc:spChg chg="mod">
          <ac:chgData name="Cyril Lamaison" userId="f3e42cf5-8bfa-44cf-938b-64864ec9ae5f" providerId="ADAL" clId="{66AD29DD-C152-4FD7-9181-17B5C41C3F7B}" dt="2026-05-19T15:06:35.466" v="430" actId="120"/>
          <ac:spMkLst>
            <pc:docMk/>
            <pc:sldMk cId="0" sldId="268"/>
            <ac:spMk id="6" creationId="{00000000-0000-0000-0000-000000000000}"/>
          </ac:spMkLst>
        </pc:spChg>
      </pc:sldChg>
      <pc:sldChg chg="modSp mod">
        <pc:chgData name="Cyril Lamaison" userId="f3e42cf5-8bfa-44cf-938b-64864ec9ae5f" providerId="ADAL" clId="{66AD29DD-C152-4FD7-9181-17B5C41C3F7B}" dt="2026-05-19T15:07:49.577" v="431" actId="120"/>
        <pc:sldMkLst>
          <pc:docMk/>
          <pc:sldMk cId="0" sldId="270"/>
        </pc:sldMkLst>
        <pc:spChg chg="mod">
          <ac:chgData name="Cyril Lamaison" userId="f3e42cf5-8bfa-44cf-938b-64864ec9ae5f" providerId="ADAL" clId="{66AD29DD-C152-4FD7-9181-17B5C41C3F7B}" dt="2026-05-19T15:07:49.577" v="431" actId="120"/>
          <ac:spMkLst>
            <pc:docMk/>
            <pc:sldMk cId="0" sldId="270"/>
            <ac:spMk id="4" creationId="{00000000-0000-0000-0000-000000000000}"/>
          </ac:spMkLst>
        </pc:spChg>
      </pc:sldChg>
      <pc:sldChg chg="modSp mod">
        <pc:chgData name="Cyril Lamaison" userId="f3e42cf5-8bfa-44cf-938b-64864ec9ae5f" providerId="ADAL" clId="{66AD29DD-C152-4FD7-9181-17B5C41C3F7B}" dt="2026-05-19T15:09:30.446" v="432" actId="120"/>
        <pc:sldMkLst>
          <pc:docMk/>
          <pc:sldMk cId="0" sldId="271"/>
        </pc:sldMkLst>
        <pc:spChg chg="mod">
          <ac:chgData name="Cyril Lamaison" userId="f3e42cf5-8bfa-44cf-938b-64864ec9ae5f" providerId="ADAL" clId="{66AD29DD-C152-4FD7-9181-17B5C41C3F7B}" dt="2026-05-19T15:09:30.446" v="432" actId="120"/>
          <ac:spMkLst>
            <pc:docMk/>
            <pc:sldMk cId="0" sldId="271"/>
            <ac:spMk id="4" creationId="{00000000-0000-0000-0000-000000000000}"/>
          </ac:spMkLst>
        </pc:spChg>
      </pc:sldChg>
      <pc:sldChg chg="modSp mod">
        <pc:chgData name="Cyril Lamaison" userId="f3e42cf5-8bfa-44cf-938b-64864ec9ae5f" providerId="ADAL" clId="{66AD29DD-C152-4FD7-9181-17B5C41C3F7B}" dt="2026-05-19T15:26:53.324" v="433" actId="120"/>
        <pc:sldMkLst>
          <pc:docMk/>
          <pc:sldMk cId="0" sldId="272"/>
        </pc:sldMkLst>
        <pc:spChg chg="mod">
          <ac:chgData name="Cyril Lamaison" userId="f3e42cf5-8bfa-44cf-938b-64864ec9ae5f" providerId="ADAL" clId="{66AD29DD-C152-4FD7-9181-17B5C41C3F7B}" dt="2026-05-19T15:26:53.324" v="433" actId="120"/>
          <ac:spMkLst>
            <pc:docMk/>
            <pc:sldMk cId="0" sldId="272"/>
            <ac:spMk id="4" creationId="{00000000-0000-0000-0000-000000000000}"/>
          </ac:spMkLst>
        </pc:spChg>
      </pc:sldChg>
      <pc:sldChg chg="modSp mod">
        <pc:chgData name="Cyril Lamaison" userId="f3e42cf5-8bfa-44cf-938b-64864ec9ae5f" providerId="ADAL" clId="{66AD29DD-C152-4FD7-9181-17B5C41C3F7B}" dt="2026-05-19T15:27:24.908" v="434" actId="120"/>
        <pc:sldMkLst>
          <pc:docMk/>
          <pc:sldMk cId="0" sldId="274"/>
        </pc:sldMkLst>
        <pc:spChg chg="mod">
          <ac:chgData name="Cyril Lamaison" userId="f3e42cf5-8bfa-44cf-938b-64864ec9ae5f" providerId="ADAL" clId="{66AD29DD-C152-4FD7-9181-17B5C41C3F7B}" dt="2026-05-19T15:27:24.908" v="434" actId="120"/>
          <ac:spMkLst>
            <pc:docMk/>
            <pc:sldMk cId="0" sldId="274"/>
            <ac:spMk id="4" creationId="{00000000-0000-0000-0000-000000000000}"/>
          </ac:spMkLst>
        </pc:spChg>
      </pc:sldChg>
      <pc:sldChg chg="modSp mod">
        <pc:chgData name="Cyril Lamaison" userId="f3e42cf5-8bfa-44cf-938b-64864ec9ae5f" providerId="ADAL" clId="{66AD29DD-C152-4FD7-9181-17B5C41C3F7B}" dt="2026-05-19T15:27:32.055" v="435" actId="120"/>
        <pc:sldMkLst>
          <pc:docMk/>
          <pc:sldMk cId="0" sldId="275"/>
        </pc:sldMkLst>
        <pc:spChg chg="mod">
          <ac:chgData name="Cyril Lamaison" userId="f3e42cf5-8bfa-44cf-938b-64864ec9ae5f" providerId="ADAL" clId="{66AD29DD-C152-4FD7-9181-17B5C41C3F7B}" dt="2026-05-19T15:27:32.055" v="435" actId="120"/>
          <ac:spMkLst>
            <pc:docMk/>
            <pc:sldMk cId="0" sldId="275"/>
            <ac:spMk id="4" creationId="{00000000-0000-0000-0000-000000000000}"/>
          </ac:spMkLst>
        </pc:spChg>
      </pc:sldChg>
      <pc:sldChg chg="modSp mod">
        <pc:chgData name="Cyril Lamaison" userId="f3e42cf5-8bfa-44cf-938b-64864ec9ae5f" providerId="ADAL" clId="{66AD29DD-C152-4FD7-9181-17B5C41C3F7B}" dt="2026-05-19T15:28:03.228" v="436" actId="120"/>
        <pc:sldMkLst>
          <pc:docMk/>
          <pc:sldMk cId="0" sldId="276"/>
        </pc:sldMkLst>
        <pc:spChg chg="mod">
          <ac:chgData name="Cyril Lamaison" userId="f3e42cf5-8bfa-44cf-938b-64864ec9ae5f" providerId="ADAL" clId="{66AD29DD-C152-4FD7-9181-17B5C41C3F7B}" dt="2026-05-19T15:28:03.228" v="436" actId="120"/>
          <ac:spMkLst>
            <pc:docMk/>
            <pc:sldMk cId="0" sldId="276"/>
            <ac:spMk id="4" creationId="{00000000-0000-0000-0000-000000000000}"/>
          </ac:spMkLst>
        </pc:spChg>
      </pc:sldChg>
      <pc:sldChg chg="modSp mod">
        <pc:chgData name="Cyril Lamaison" userId="f3e42cf5-8bfa-44cf-938b-64864ec9ae5f" providerId="ADAL" clId="{66AD29DD-C152-4FD7-9181-17B5C41C3F7B}" dt="2026-05-19T15:28:15.029" v="437" actId="120"/>
        <pc:sldMkLst>
          <pc:docMk/>
          <pc:sldMk cId="0" sldId="278"/>
        </pc:sldMkLst>
        <pc:spChg chg="mod">
          <ac:chgData name="Cyril Lamaison" userId="f3e42cf5-8bfa-44cf-938b-64864ec9ae5f" providerId="ADAL" clId="{66AD29DD-C152-4FD7-9181-17B5C41C3F7B}" dt="2026-05-19T15:28:15.029" v="437" actId="120"/>
          <ac:spMkLst>
            <pc:docMk/>
            <pc:sldMk cId="0" sldId="278"/>
            <ac:spMk id="6" creationId="{00000000-0000-0000-0000-000000000000}"/>
          </ac:spMkLst>
        </pc:spChg>
      </pc:sldChg>
      <pc:sldChg chg="modSp mod">
        <pc:chgData name="Cyril Lamaison" userId="f3e42cf5-8bfa-44cf-938b-64864ec9ae5f" providerId="ADAL" clId="{66AD29DD-C152-4FD7-9181-17B5C41C3F7B}" dt="2026-05-19T15:35:28.651" v="438" actId="120"/>
        <pc:sldMkLst>
          <pc:docMk/>
          <pc:sldMk cId="0" sldId="281"/>
        </pc:sldMkLst>
        <pc:spChg chg="mod">
          <ac:chgData name="Cyril Lamaison" userId="f3e42cf5-8bfa-44cf-938b-64864ec9ae5f" providerId="ADAL" clId="{66AD29DD-C152-4FD7-9181-17B5C41C3F7B}" dt="2026-05-19T15:35:28.651" v="438" actId="120"/>
          <ac:spMkLst>
            <pc:docMk/>
            <pc:sldMk cId="0" sldId="281"/>
            <ac:spMk id="4" creationId="{00000000-0000-0000-0000-000000000000}"/>
          </ac:spMkLst>
        </pc:spChg>
      </pc:sldChg>
      <pc:sldChg chg="modSp mod">
        <pc:chgData name="Cyril Lamaison" userId="f3e42cf5-8bfa-44cf-938b-64864ec9ae5f" providerId="ADAL" clId="{66AD29DD-C152-4FD7-9181-17B5C41C3F7B}" dt="2026-05-19T15:35:45.339" v="439" actId="120"/>
        <pc:sldMkLst>
          <pc:docMk/>
          <pc:sldMk cId="0" sldId="282"/>
        </pc:sldMkLst>
        <pc:spChg chg="mod">
          <ac:chgData name="Cyril Lamaison" userId="f3e42cf5-8bfa-44cf-938b-64864ec9ae5f" providerId="ADAL" clId="{66AD29DD-C152-4FD7-9181-17B5C41C3F7B}" dt="2026-05-19T15:35:45.339" v="439" actId="120"/>
          <ac:spMkLst>
            <pc:docMk/>
            <pc:sldMk cId="0" sldId="282"/>
            <ac:spMk id="4" creationId="{00000000-0000-0000-0000-000000000000}"/>
          </ac:spMkLst>
        </pc:spChg>
      </pc:sldChg>
      <pc:sldChg chg="modSp mod">
        <pc:chgData name="Cyril Lamaison" userId="f3e42cf5-8bfa-44cf-938b-64864ec9ae5f" providerId="ADAL" clId="{66AD29DD-C152-4FD7-9181-17B5C41C3F7B}" dt="2026-05-19T15:36:14.577" v="440" actId="120"/>
        <pc:sldMkLst>
          <pc:docMk/>
          <pc:sldMk cId="0" sldId="283"/>
        </pc:sldMkLst>
        <pc:spChg chg="mod">
          <ac:chgData name="Cyril Lamaison" userId="f3e42cf5-8bfa-44cf-938b-64864ec9ae5f" providerId="ADAL" clId="{66AD29DD-C152-4FD7-9181-17B5C41C3F7B}" dt="2026-05-19T15:36:14.577" v="440" actId="120"/>
          <ac:spMkLst>
            <pc:docMk/>
            <pc:sldMk cId="0" sldId="283"/>
            <ac:spMk id="4" creationId="{00000000-0000-0000-0000-000000000000}"/>
          </ac:spMkLst>
        </pc:spChg>
      </pc:sldChg>
      <pc:sldChg chg="modSp mod">
        <pc:chgData name="Cyril Lamaison" userId="f3e42cf5-8bfa-44cf-938b-64864ec9ae5f" providerId="ADAL" clId="{66AD29DD-C152-4FD7-9181-17B5C41C3F7B}" dt="2026-05-19T15:36:24.971" v="441" actId="120"/>
        <pc:sldMkLst>
          <pc:docMk/>
          <pc:sldMk cId="0" sldId="284"/>
        </pc:sldMkLst>
        <pc:spChg chg="mod">
          <ac:chgData name="Cyril Lamaison" userId="f3e42cf5-8bfa-44cf-938b-64864ec9ae5f" providerId="ADAL" clId="{66AD29DD-C152-4FD7-9181-17B5C41C3F7B}" dt="2026-05-19T15:36:24.971" v="441" actId="120"/>
          <ac:spMkLst>
            <pc:docMk/>
            <pc:sldMk cId="0" sldId="284"/>
            <ac:spMk id="4" creationId="{00000000-0000-0000-0000-000000000000}"/>
          </ac:spMkLst>
        </pc:spChg>
      </pc:sldChg>
      <pc:sldChg chg="modSp mod">
        <pc:chgData name="Cyril Lamaison" userId="f3e42cf5-8bfa-44cf-938b-64864ec9ae5f" providerId="ADAL" clId="{66AD29DD-C152-4FD7-9181-17B5C41C3F7B}" dt="2026-05-19T15:37:24.906" v="442" actId="120"/>
        <pc:sldMkLst>
          <pc:docMk/>
          <pc:sldMk cId="0" sldId="285"/>
        </pc:sldMkLst>
        <pc:spChg chg="mod">
          <ac:chgData name="Cyril Lamaison" userId="f3e42cf5-8bfa-44cf-938b-64864ec9ae5f" providerId="ADAL" clId="{66AD29DD-C152-4FD7-9181-17B5C41C3F7B}" dt="2026-05-19T15:37:24.906" v="442" actId="120"/>
          <ac:spMkLst>
            <pc:docMk/>
            <pc:sldMk cId="0" sldId="285"/>
            <ac:spMk id="4" creationId="{00000000-0000-0000-0000-000000000000}"/>
          </ac:spMkLst>
        </pc:spChg>
      </pc:sldChg>
      <pc:sldChg chg="modSp mod">
        <pc:chgData name="Cyril Lamaison" userId="f3e42cf5-8bfa-44cf-938b-64864ec9ae5f" providerId="ADAL" clId="{66AD29DD-C152-4FD7-9181-17B5C41C3F7B}" dt="2026-05-19T15:38:38.951" v="445" actId="120"/>
        <pc:sldMkLst>
          <pc:docMk/>
          <pc:sldMk cId="0" sldId="289"/>
        </pc:sldMkLst>
        <pc:spChg chg="mod">
          <ac:chgData name="Cyril Lamaison" userId="f3e42cf5-8bfa-44cf-938b-64864ec9ae5f" providerId="ADAL" clId="{66AD29DD-C152-4FD7-9181-17B5C41C3F7B}" dt="2026-05-19T15:38:38.951" v="445" actId="120"/>
          <ac:spMkLst>
            <pc:docMk/>
            <pc:sldMk cId="0" sldId="289"/>
            <ac:spMk id="4" creationId="{00000000-0000-0000-0000-000000000000}"/>
          </ac:spMkLst>
        </pc:spChg>
      </pc:sldChg>
      <pc:sldChg chg="modSp mod">
        <pc:chgData name="Cyril Lamaison" userId="f3e42cf5-8bfa-44cf-938b-64864ec9ae5f" providerId="ADAL" clId="{66AD29DD-C152-4FD7-9181-17B5C41C3F7B}" dt="2026-05-19T15:39:47.975" v="446" actId="120"/>
        <pc:sldMkLst>
          <pc:docMk/>
          <pc:sldMk cId="0" sldId="291"/>
        </pc:sldMkLst>
        <pc:spChg chg="mod">
          <ac:chgData name="Cyril Lamaison" userId="f3e42cf5-8bfa-44cf-938b-64864ec9ae5f" providerId="ADAL" clId="{66AD29DD-C152-4FD7-9181-17B5C41C3F7B}" dt="2026-05-19T15:39:47.975" v="446" actId="120"/>
          <ac:spMkLst>
            <pc:docMk/>
            <pc:sldMk cId="0" sldId="291"/>
            <ac:spMk id="4" creationId="{00000000-0000-0000-0000-000000000000}"/>
          </ac:spMkLst>
        </pc:spChg>
      </pc:sldChg>
      <pc:sldChg chg="modSp mod">
        <pc:chgData name="Cyril Lamaison" userId="f3e42cf5-8bfa-44cf-938b-64864ec9ae5f" providerId="ADAL" clId="{66AD29DD-C152-4FD7-9181-17B5C41C3F7B}" dt="2026-05-19T15:41:13.696" v="453" actId="6549"/>
        <pc:sldMkLst>
          <pc:docMk/>
          <pc:sldMk cId="0" sldId="292"/>
        </pc:sldMkLst>
        <pc:spChg chg="mod">
          <ac:chgData name="Cyril Lamaison" userId="f3e42cf5-8bfa-44cf-938b-64864ec9ae5f" providerId="ADAL" clId="{66AD29DD-C152-4FD7-9181-17B5C41C3F7B}" dt="2026-05-19T15:41:13.696" v="453" actId="6549"/>
          <ac:spMkLst>
            <pc:docMk/>
            <pc:sldMk cId="0" sldId="292"/>
            <ac:spMk id="6" creationId="{00000000-0000-0000-0000-000000000000}"/>
          </ac:spMkLst>
        </pc:spChg>
      </pc:sldChg>
      <pc:sldChg chg="modSp mod">
        <pc:chgData name="Cyril Lamaison" userId="f3e42cf5-8bfa-44cf-938b-64864ec9ae5f" providerId="ADAL" clId="{66AD29DD-C152-4FD7-9181-17B5C41C3F7B}" dt="2026-05-20T06:53:05.116" v="506" actId="20577"/>
        <pc:sldMkLst>
          <pc:docMk/>
          <pc:sldMk cId="0" sldId="293"/>
        </pc:sldMkLst>
        <pc:spChg chg="mod">
          <ac:chgData name="Cyril Lamaison" userId="f3e42cf5-8bfa-44cf-938b-64864ec9ae5f" providerId="ADAL" clId="{66AD29DD-C152-4FD7-9181-17B5C41C3F7B}" dt="2026-05-20T06:52:34.782" v="498" actId="20577"/>
          <ac:spMkLst>
            <pc:docMk/>
            <pc:sldMk cId="0" sldId="293"/>
            <ac:spMk id="3" creationId="{00000000-0000-0000-0000-000000000000}"/>
          </ac:spMkLst>
        </pc:spChg>
        <pc:spChg chg="mod">
          <ac:chgData name="Cyril Lamaison" userId="f3e42cf5-8bfa-44cf-938b-64864ec9ae5f" providerId="ADAL" clId="{66AD29DD-C152-4FD7-9181-17B5C41C3F7B}" dt="2026-05-20T06:53:05.116" v="506" actId="20577"/>
          <ac:spMkLst>
            <pc:docMk/>
            <pc:sldMk cId="0" sldId="293"/>
            <ac:spMk id="4" creationId="{00000000-0000-0000-0000-000000000000}"/>
          </ac:spMkLst>
        </pc:spChg>
      </pc:sldChg>
      <pc:sldChg chg="modSp mod">
        <pc:chgData name="Cyril Lamaison" userId="f3e42cf5-8bfa-44cf-938b-64864ec9ae5f" providerId="ADAL" clId="{66AD29DD-C152-4FD7-9181-17B5C41C3F7B}" dt="2026-05-20T06:53:30.527" v="507" actId="120"/>
        <pc:sldMkLst>
          <pc:docMk/>
          <pc:sldMk cId="0" sldId="294"/>
        </pc:sldMkLst>
        <pc:spChg chg="mod">
          <ac:chgData name="Cyril Lamaison" userId="f3e42cf5-8bfa-44cf-938b-64864ec9ae5f" providerId="ADAL" clId="{66AD29DD-C152-4FD7-9181-17B5C41C3F7B}" dt="2026-05-20T06:53:30.527" v="507" actId="120"/>
          <ac:spMkLst>
            <pc:docMk/>
            <pc:sldMk cId="0" sldId="294"/>
            <ac:spMk id="4" creationId="{00000000-0000-0000-0000-000000000000}"/>
          </ac:spMkLst>
        </pc:spChg>
      </pc:sldChg>
      <pc:sldChg chg="modSp mod">
        <pc:chgData name="Cyril Lamaison" userId="f3e42cf5-8bfa-44cf-938b-64864ec9ae5f" providerId="ADAL" clId="{66AD29DD-C152-4FD7-9181-17B5C41C3F7B}" dt="2026-05-20T06:55:31.185" v="529" actId="12"/>
        <pc:sldMkLst>
          <pc:docMk/>
          <pc:sldMk cId="0" sldId="296"/>
        </pc:sldMkLst>
        <pc:spChg chg="mod">
          <ac:chgData name="Cyril Lamaison" userId="f3e42cf5-8bfa-44cf-938b-64864ec9ae5f" providerId="ADAL" clId="{66AD29DD-C152-4FD7-9181-17B5C41C3F7B}" dt="2026-05-20T06:55:31.185" v="529" actId="12"/>
          <ac:spMkLst>
            <pc:docMk/>
            <pc:sldMk cId="0" sldId="296"/>
            <ac:spMk id="3" creationId="{00000000-0000-0000-0000-000000000000}"/>
          </ac:spMkLst>
        </pc:spChg>
      </pc:sldChg>
    </pc:docChg>
  </pc:docChgLst>
  <pc:docChgLst>
    <pc:chgData name="Julien Jouclard" userId="98db8fe4-ea9c-4e22-864b-fb0378e07163" providerId="ADAL" clId="{C4C66FCD-A974-4F25-B7CA-A81E2B85A6DB}"/>
    <pc:docChg chg="custSel addSld delSld modSld modSection">
      <pc:chgData name="Julien Jouclard" userId="98db8fe4-ea9c-4e22-864b-fb0378e07163" providerId="ADAL" clId="{C4C66FCD-A974-4F25-B7CA-A81E2B85A6DB}" dt="2026-05-08T20:20:58.956" v="487" actId="729"/>
      <pc:docMkLst>
        <pc:docMk/>
      </pc:docMkLst>
      <pc:sldMasterChg chg="delSldLayout">
        <pc:chgData name="Julien Jouclard" userId="98db8fe4-ea9c-4e22-864b-fb0378e07163" providerId="ADAL" clId="{C4C66FCD-A974-4F25-B7CA-A81E2B85A6DB}" dt="2026-04-28T10:08:06.957" v="295" actId="47"/>
        <pc:sldMasterMkLst>
          <pc:docMk/>
          <pc:sldMasterMk cId="99600480" sldId="2147484873"/>
        </pc:sldMasterMkLst>
      </pc:sldMasterChg>
    </pc:docChg>
  </pc:docChgLst>
  <pc:docChgLst>
    <pc:chgData name="Gabriel JULIEN" userId="e50c932d-b186-489d-8d71-aba54feca4d5" providerId="ADAL" clId="{F3543349-E7C9-5F90-A868-F12F66B704B2}"/>
    <pc:docChg chg="undo custSel addSld delSld modSld sldOrd addMainMaster delMainMaster modMainMaster modSection">
      <pc:chgData name="Gabriel JULIEN" userId="e50c932d-b186-489d-8d71-aba54feca4d5" providerId="ADAL" clId="{F3543349-E7C9-5F90-A868-F12F66B704B2}" dt="2026-04-28T10:17:30.205" v="3388" actId="20578"/>
      <pc:docMkLst>
        <pc:docMk/>
      </pc:docMkLst>
      <pc:sldMasterChg chg="add addSldLayout modSldLayout">
        <pc:chgData name="Gabriel JULIEN" userId="e50c932d-b186-489d-8d71-aba54feca4d5" providerId="ADAL" clId="{F3543349-E7C9-5F90-A868-F12F66B704B2}" dt="2026-04-28T09:04:35.187" v="1571"/>
        <pc:sldMasterMkLst>
          <pc:docMk/>
          <pc:sldMasterMk cId="99600480" sldId="2147484873"/>
        </pc:sldMasterMkLst>
        <pc:sldLayoutChg chg="add">
          <pc:chgData name="Gabriel JULIEN" userId="e50c932d-b186-489d-8d71-aba54feca4d5" providerId="ADAL" clId="{F3543349-E7C9-5F90-A868-F12F66B704B2}" dt="2026-04-27T15:03:33.733" v="0"/>
          <pc:sldLayoutMkLst>
            <pc:docMk/>
            <pc:sldMasterMk cId="99600480" sldId="2147484873"/>
            <pc:sldLayoutMk cId="1958044675" sldId="2147484855"/>
          </pc:sldLayoutMkLst>
        </pc:sldLayoutChg>
        <pc:sldLayoutChg chg="add">
          <pc:chgData name="Gabriel JULIEN" userId="e50c932d-b186-489d-8d71-aba54feca4d5" providerId="ADAL" clId="{F3543349-E7C9-5F90-A868-F12F66B704B2}" dt="2026-04-27T15:03:33.733" v="0"/>
          <pc:sldLayoutMkLst>
            <pc:docMk/>
            <pc:sldMasterMk cId="99600480" sldId="2147484873"/>
            <pc:sldLayoutMk cId="1082860085" sldId="2147484856"/>
          </pc:sldLayoutMkLst>
        </pc:sldLayoutChg>
        <pc:sldLayoutChg chg="add">
          <pc:chgData name="Gabriel JULIEN" userId="e50c932d-b186-489d-8d71-aba54feca4d5" providerId="ADAL" clId="{F3543349-E7C9-5F90-A868-F12F66B704B2}" dt="2026-04-27T15:03:33.733" v="0"/>
          <pc:sldLayoutMkLst>
            <pc:docMk/>
            <pc:sldMasterMk cId="99600480" sldId="2147484873"/>
            <pc:sldLayoutMk cId="3248694289" sldId="2147484857"/>
          </pc:sldLayoutMkLst>
        </pc:sldLayoutChg>
        <pc:sldLayoutChg chg="add">
          <pc:chgData name="Gabriel JULIEN" userId="e50c932d-b186-489d-8d71-aba54feca4d5" providerId="ADAL" clId="{F3543349-E7C9-5F90-A868-F12F66B704B2}" dt="2026-04-27T15:03:33.733" v="0"/>
          <pc:sldLayoutMkLst>
            <pc:docMk/>
            <pc:sldMasterMk cId="99600480" sldId="2147484873"/>
            <pc:sldLayoutMk cId="853276455" sldId="2147484859"/>
          </pc:sldLayoutMkLst>
        </pc:sldLayoutChg>
        <pc:sldLayoutChg chg="add">
          <pc:chgData name="Gabriel JULIEN" userId="e50c932d-b186-489d-8d71-aba54feca4d5" providerId="ADAL" clId="{F3543349-E7C9-5F90-A868-F12F66B704B2}" dt="2026-04-27T15:03:33.733" v="0"/>
          <pc:sldLayoutMkLst>
            <pc:docMk/>
            <pc:sldMasterMk cId="99600480" sldId="2147484873"/>
            <pc:sldLayoutMk cId="831108345" sldId="2147484860"/>
          </pc:sldLayoutMkLst>
        </pc:sldLayoutChg>
        <pc:sldLayoutChg chg="add">
          <pc:chgData name="Gabriel JULIEN" userId="e50c932d-b186-489d-8d71-aba54feca4d5" providerId="ADAL" clId="{F3543349-E7C9-5F90-A868-F12F66B704B2}" dt="2026-04-27T15:03:33.733" v="0"/>
          <pc:sldLayoutMkLst>
            <pc:docMk/>
            <pc:sldMasterMk cId="99600480" sldId="2147484873"/>
            <pc:sldLayoutMk cId="3089096937" sldId="2147484861"/>
          </pc:sldLayoutMkLst>
        </pc:sldLayoutChg>
        <pc:sldLayoutChg chg="add">
          <pc:chgData name="Gabriel JULIEN" userId="e50c932d-b186-489d-8d71-aba54feca4d5" providerId="ADAL" clId="{F3543349-E7C9-5F90-A868-F12F66B704B2}" dt="2026-04-27T15:03:33.733" v="0"/>
          <pc:sldLayoutMkLst>
            <pc:docMk/>
            <pc:sldMasterMk cId="99600480" sldId="2147484873"/>
            <pc:sldLayoutMk cId="2072211660" sldId="2147484862"/>
          </pc:sldLayoutMkLst>
        </pc:sldLayoutChg>
        <pc:sldLayoutChg chg="add">
          <pc:chgData name="Gabriel JULIEN" userId="e50c932d-b186-489d-8d71-aba54feca4d5" providerId="ADAL" clId="{F3543349-E7C9-5F90-A868-F12F66B704B2}" dt="2026-04-27T15:03:33.733" v="0"/>
          <pc:sldLayoutMkLst>
            <pc:docMk/>
            <pc:sldMasterMk cId="99600480" sldId="2147484873"/>
            <pc:sldLayoutMk cId="2293444560" sldId="2147484863"/>
          </pc:sldLayoutMkLst>
        </pc:sldLayoutChg>
        <pc:sldLayoutChg chg="add">
          <pc:chgData name="Gabriel JULIEN" userId="e50c932d-b186-489d-8d71-aba54feca4d5" providerId="ADAL" clId="{F3543349-E7C9-5F90-A868-F12F66B704B2}" dt="2026-04-27T15:03:33.733" v="0"/>
          <pc:sldLayoutMkLst>
            <pc:docMk/>
            <pc:sldMasterMk cId="99600480" sldId="2147484873"/>
            <pc:sldLayoutMk cId="2743818062" sldId="2147484864"/>
          </pc:sldLayoutMkLst>
        </pc:sldLayoutChg>
        <pc:sldLayoutChg chg="add">
          <pc:chgData name="Gabriel JULIEN" userId="e50c932d-b186-489d-8d71-aba54feca4d5" providerId="ADAL" clId="{F3543349-E7C9-5F90-A868-F12F66B704B2}" dt="2026-04-27T15:03:33.733" v="0"/>
          <pc:sldLayoutMkLst>
            <pc:docMk/>
            <pc:sldMasterMk cId="99600480" sldId="2147484873"/>
            <pc:sldLayoutMk cId="1671518753" sldId="2147484865"/>
          </pc:sldLayoutMkLst>
        </pc:sldLayoutChg>
        <pc:sldLayoutChg chg="add">
          <pc:chgData name="Gabriel JULIEN" userId="e50c932d-b186-489d-8d71-aba54feca4d5" providerId="ADAL" clId="{F3543349-E7C9-5F90-A868-F12F66B704B2}" dt="2026-04-27T15:03:33.733" v="0"/>
          <pc:sldLayoutMkLst>
            <pc:docMk/>
            <pc:sldMasterMk cId="99600480" sldId="2147484873"/>
            <pc:sldLayoutMk cId="4011644244" sldId="2147484867"/>
          </pc:sldLayoutMkLst>
        </pc:sldLayoutChg>
        <pc:sldLayoutChg chg="add">
          <pc:chgData name="Gabriel JULIEN" userId="e50c932d-b186-489d-8d71-aba54feca4d5" providerId="ADAL" clId="{F3543349-E7C9-5F90-A868-F12F66B704B2}" dt="2026-04-27T15:03:33.733" v="0"/>
          <pc:sldLayoutMkLst>
            <pc:docMk/>
            <pc:sldMasterMk cId="99600480" sldId="2147484873"/>
            <pc:sldLayoutMk cId="2988682096" sldId="2147484868"/>
          </pc:sldLayoutMkLst>
        </pc:sldLayoutChg>
        <pc:sldLayoutChg chg="add">
          <pc:chgData name="Gabriel JULIEN" userId="e50c932d-b186-489d-8d71-aba54feca4d5" providerId="ADAL" clId="{F3543349-E7C9-5F90-A868-F12F66B704B2}" dt="2026-04-27T15:03:33.733" v="0"/>
          <pc:sldLayoutMkLst>
            <pc:docMk/>
            <pc:sldMasterMk cId="99600480" sldId="2147484873"/>
            <pc:sldLayoutMk cId="1056274587" sldId="2147484869"/>
          </pc:sldLayoutMkLst>
        </pc:sldLayoutChg>
        <pc:sldLayoutChg chg="add">
          <pc:chgData name="Gabriel JULIEN" userId="e50c932d-b186-489d-8d71-aba54feca4d5" providerId="ADAL" clId="{F3543349-E7C9-5F90-A868-F12F66B704B2}" dt="2026-04-27T15:03:33.733" v="0"/>
          <pc:sldLayoutMkLst>
            <pc:docMk/>
            <pc:sldMasterMk cId="99600480" sldId="2147484873"/>
            <pc:sldLayoutMk cId="2854302001" sldId="2147484870"/>
          </pc:sldLayoutMkLst>
        </pc:sldLayoutChg>
        <pc:sldLayoutChg chg="add">
          <pc:chgData name="Gabriel JULIEN" userId="e50c932d-b186-489d-8d71-aba54feca4d5" providerId="ADAL" clId="{F3543349-E7C9-5F90-A868-F12F66B704B2}" dt="2026-04-27T15:03:33.733" v="0"/>
          <pc:sldLayoutMkLst>
            <pc:docMk/>
            <pc:sldMasterMk cId="99600480" sldId="2147484873"/>
            <pc:sldLayoutMk cId="3062976890" sldId="2147484871"/>
          </pc:sldLayoutMkLst>
        </pc:sldLayoutChg>
      </pc:sldMaster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3E28A2D9-3D4A-0CFD-59B0-6A797EE83F5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57A5100A-7E24-1DAA-8C9F-E3D72C55DA7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CE13D4-EB31-4B02-87A1-3C4A2F19DF63}" type="datetimeFigureOut">
              <a:rPr lang="fr-FR" smtClean="0"/>
              <a:t>28/05/2026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6091C2A-13E5-3D56-7BFC-89F27145391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4648D7D8-8681-6C6A-1140-723B3621577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C8527A-C54B-4EC3-B6DD-B53EE218FA79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7696155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2ABA14-EA11-4791-BBDA-209C7ECE55A6}" type="datetimeFigureOut">
              <a:rPr lang="fr-FR" smtClean="0"/>
              <a:t>28/05/2026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088D84-9F29-4B36-9CDF-C35D1A1BBE3F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48239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088D84-9F29-4B36-9CDF-C35D1A1BBE3F}" type="slidenum">
              <a:rPr lang="fr-FR" smtClean="0"/>
              <a:t>38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72464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texte 12">
            <a:extLst>
              <a:ext uri="{FF2B5EF4-FFF2-40B4-BE49-F238E27FC236}">
                <a16:creationId xmlns:a16="http://schemas.microsoft.com/office/drawing/2014/main" id="{06961C80-12F9-BADC-18DA-C5C68FF5F2C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84976" y="0"/>
            <a:ext cx="7059174" cy="760021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Montserrat" panose="020B0004020202020204" pitchFamily="34" charset="0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1958044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1493E28-1D98-A0C9-7ACB-49F459487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222" y="1158972"/>
            <a:ext cx="11501555" cy="533352"/>
          </a:xfrm>
          <a:prstGeom prst="rect">
            <a:avLst/>
          </a:prstGeom>
        </p:spPr>
        <p:txBody>
          <a:bodyPr/>
          <a:lstStyle>
            <a:lvl1pPr algn="ctr">
              <a:defRPr b="1" i="0">
                <a:latin typeface="Montserrat" panose="02010803020104030203" pitchFamily="2" charset="-79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4" name="Espace réservé du texte 12">
            <a:extLst>
              <a:ext uri="{FF2B5EF4-FFF2-40B4-BE49-F238E27FC236}">
                <a16:creationId xmlns:a16="http://schemas.microsoft.com/office/drawing/2014/main" id="{7DCB3D70-9DEF-B9FE-180A-2718841D46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84976" y="0"/>
            <a:ext cx="7059174" cy="80168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Montserrat" panose="020B0004020202020204" pitchFamily="34" charset="0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1082860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2">
            <a:extLst>
              <a:ext uri="{FF2B5EF4-FFF2-40B4-BE49-F238E27FC236}">
                <a16:creationId xmlns:a16="http://schemas.microsoft.com/office/drawing/2014/main" id="{4B14C2E8-EA81-8180-2434-F60E51AD050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84976" y="-16042"/>
            <a:ext cx="7059174" cy="76517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Montserrat" panose="020B0004020202020204" pitchFamily="34" charset="0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Marcador de posición de imagen 8">
            <a:extLst>
              <a:ext uri="{FF2B5EF4-FFF2-40B4-BE49-F238E27FC236}">
                <a16:creationId xmlns:a16="http://schemas.microsoft.com/office/drawing/2014/main" id="{F5CE99F4-94FA-5194-A3E5-BE9810C26C6C}"/>
              </a:ext>
            </a:extLst>
          </p:cNvPr>
          <p:cNvSpPr>
            <a:spLocks noGrp="1" noChangeAspect="1"/>
          </p:cNvSpPr>
          <p:nvPr>
            <p:ph type="pic" sz="quarter" idx="16"/>
          </p:nvPr>
        </p:nvSpPr>
        <p:spPr>
          <a:xfrm rot="10800000" flipV="1">
            <a:off x="6663783" y="1175258"/>
            <a:ext cx="4839784" cy="4845713"/>
          </a:xfrm>
          <a:prstGeom prst="blockArc">
            <a:avLst>
              <a:gd name="adj1" fmla="val 12466481"/>
              <a:gd name="adj2" fmla="val 8847193"/>
              <a:gd name="adj3" fmla="val 31770"/>
            </a:avLst>
          </a:prstGeom>
          <a:noFill/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486942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UVER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53276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2">
            <a:extLst>
              <a:ext uri="{FF2B5EF4-FFF2-40B4-BE49-F238E27FC236}">
                <a16:creationId xmlns:a16="http://schemas.microsoft.com/office/drawing/2014/main" id="{4B14C2E8-EA81-8180-2434-F60E51AD050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84976" y="-16042"/>
            <a:ext cx="7059174" cy="76517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 b="1" i="0">
                <a:solidFill>
                  <a:srgbClr val="FF5201"/>
                </a:solidFill>
                <a:latin typeface="Montserrat" panose="020B0004020202020204" pitchFamily="34" charset="0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pic>
        <p:nvPicPr>
          <p:cNvPr id="4" name="Image 3" descr="Une image contenant Graphique, graphisme, Caractère coloré, cercle&#10;&#10;Description générée automatiquement">
            <a:extLst>
              <a:ext uri="{FF2B5EF4-FFF2-40B4-BE49-F238E27FC236}">
                <a16:creationId xmlns:a16="http://schemas.microsoft.com/office/drawing/2014/main" id="{A1045746-0D5A-37A7-1F34-2599F380CA5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240987" y="263754"/>
            <a:ext cx="530167" cy="26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11083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Visuel 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Espace réservé pour une image  19">
            <a:extLst>
              <a:ext uri="{FF2B5EF4-FFF2-40B4-BE49-F238E27FC236}">
                <a16:creationId xmlns:a16="http://schemas.microsoft.com/office/drawing/2014/main" id="{0366FC43-BE7A-0E82-79FF-9EF95E295D6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775063"/>
            <a:ext cx="12192000" cy="5503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0969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Visuel 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2">
            <a:extLst>
              <a:ext uri="{FF2B5EF4-FFF2-40B4-BE49-F238E27FC236}">
                <a16:creationId xmlns:a16="http://schemas.microsoft.com/office/drawing/2014/main" id="{4B14C2E8-EA81-8180-2434-F60E51AD050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84976" y="-16042"/>
            <a:ext cx="7059174" cy="76517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 b="1" i="0">
                <a:solidFill>
                  <a:srgbClr val="FF5201"/>
                </a:solidFill>
                <a:latin typeface="Montserrat" panose="020B0004020202020204" pitchFamily="34" charset="0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pic>
        <p:nvPicPr>
          <p:cNvPr id="5" name="Espace réservé pour une image  19">
            <a:extLst>
              <a:ext uri="{FF2B5EF4-FFF2-40B4-BE49-F238E27FC236}">
                <a16:creationId xmlns:a16="http://schemas.microsoft.com/office/drawing/2014/main" id="{0366FC43-BE7A-0E82-79FF-9EF95E295D6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775063"/>
            <a:ext cx="12192000" cy="5503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22116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Visuel 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2">
            <a:extLst>
              <a:ext uri="{FF2B5EF4-FFF2-40B4-BE49-F238E27FC236}">
                <a16:creationId xmlns:a16="http://schemas.microsoft.com/office/drawing/2014/main" id="{4B14C2E8-EA81-8180-2434-F60E51AD050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84976" y="-16042"/>
            <a:ext cx="7059174" cy="76517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 b="1" i="0">
                <a:solidFill>
                  <a:srgbClr val="FF5201"/>
                </a:solidFill>
                <a:latin typeface="Montserrat" panose="020B0004020202020204" pitchFamily="34" charset="0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pic>
        <p:nvPicPr>
          <p:cNvPr id="5" name="Espace réservé pour une image  19">
            <a:extLst>
              <a:ext uri="{FF2B5EF4-FFF2-40B4-BE49-F238E27FC236}">
                <a16:creationId xmlns:a16="http://schemas.microsoft.com/office/drawing/2014/main" id="{0366FC43-BE7A-0E82-79FF-9EF95E295D6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775063"/>
            <a:ext cx="12192000" cy="5503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3444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Visuel 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2">
            <a:extLst>
              <a:ext uri="{FF2B5EF4-FFF2-40B4-BE49-F238E27FC236}">
                <a16:creationId xmlns:a16="http://schemas.microsoft.com/office/drawing/2014/main" id="{4B14C2E8-EA81-8180-2434-F60E51AD050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84976" y="-16042"/>
            <a:ext cx="7059174" cy="76517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 b="1" i="0">
                <a:solidFill>
                  <a:srgbClr val="FF5201"/>
                </a:solidFill>
                <a:latin typeface="Montserrat" panose="020B0004020202020204" pitchFamily="34" charset="0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pic>
        <p:nvPicPr>
          <p:cNvPr id="5" name="Espace réservé pour une image  19">
            <a:extLst>
              <a:ext uri="{FF2B5EF4-FFF2-40B4-BE49-F238E27FC236}">
                <a16:creationId xmlns:a16="http://schemas.microsoft.com/office/drawing/2014/main" id="{0366FC43-BE7A-0E82-79FF-9EF95E295D6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0" y="775063"/>
            <a:ext cx="12192000" cy="5503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38180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Visuel 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2">
            <a:extLst>
              <a:ext uri="{FF2B5EF4-FFF2-40B4-BE49-F238E27FC236}">
                <a16:creationId xmlns:a16="http://schemas.microsoft.com/office/drawing/2014/main" id="{4B14C2E8-EA81-8180-2434-F60E51AD050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84976" y="-16042"/>
            <a:ext cx="7059174" cy="76517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 b="1" i="0">
                <a:solidFill>
                  <a:srgbClr val="FF5201"/>
                </a:solidFill>
                <a:latin typeface="Montserrat" panose="020B0004020202020204" pitchFamily="34" charset="0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pic>
        <p:nvPicPr>
          <p:cNvPr id="5" name="Espace réservé pour une image  19">
            <a:extLst>
              <a:ext uri="{FF2B5EF4-FFF2-40B4-BE49-F238E27FC236}">
                <a16:creationId xmlns:a16="http://schemas.microsoft.com/office/drawing/2014/main" id="{0366FC43-BE7A-0E82-79FF-9EF95E295D6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775063"/>
            <a:ext cx="12192000" cy="5503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51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Visuel 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2">
            <a:extLst>
              <a:ext uri="{FF2B5EF4-FFF2-40B4-BE49-F238E27FC236}">
                <a16:creationId xmlns:a16="http://schemas.microsoft.com/office/drawing/2014/main" id="{4B14C2E8-EA81-8180-2434-F60E51AD050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84976" y="-16042"/>
            <a:ext cx="7059174" cy="76517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 b="1" i="0">
                <a:solidFill>
                  <a:srgbClr val="FF5201"/>
                </a:solidFill>
                <a:latin typeface="Montserrat" panose="020B0004020202020204" pitchFamily="34" charset="0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pic>
        <p:nvPicPr>
          <p:cNvPr id="5" name="Espace réservé pour une image  19">
            <a:extLst>
              <a:ext uri="{FF2B5EF4-FFF2-40B4-BE49-F238E27FC236}">
                <a16:creationId xmlns:a16="http://schemas.microsoft.com/office/drawing/2014/main" id="{0366FC43-BE7A-0E82-79FF-9EF95E295D6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775063"/>
            <a:ext cx="12192000" cy="5503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16442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Visuel Full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exte 12">
            <a:extLst>
              <a:ext uri="{FF2B5EF4-FFF2-40B4-BE49-F238E27FC236}">
                <a16:creationId xmlns:a16="http://schemas.microsoft.com/office/drawing/2014/main" id="{4B14C2E8-EA81-8180-2434-F60E51AD050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84976" y="-16042"/>
            <a:ext cx="7059174" cy="76517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 b="1" i="0">
                <a:solidFill>
                  <a:srgbClr val="FF5201"/>
                </a:solidFill>
                <a:latin typeface="Montserrat" panose="020B0004020202020204" pitchFamily="34" charset="0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pic>
        <p:nvPicPr>
          <p:cNvPr id="5" name="Espace réservé pour une image  19">
            <a:extLst>
              <a:ext uri="{FF2B5EF4-FFF2-40B4-BE49-F238E27FC236}">
                <a16:creationId xmlns:a16="http://schemas.microsoft.com/office/drawing/2014/main" id="{0366FC43-BE7A-0E82-79FF-9EF95E295D6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775063"/>
            <a:ext cx="12192000" cy="5503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86820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 tiers gauch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space réservé pour une image  7">
            <a:extLst>
              <a:ext uri="{FF2B5EF4-FFF2-40B4-BE49-F238E27FC236}">
                <a16:creationId xmlns:a16="http://schemas.microsoft.com/office/drawing/2014/main" id="{49586C2B-A3D6-9805-54AC-AA21883E77E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775064"/>
            <a:ext cx="4548188" cy="5503816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Montserrat" panose="020B0004020202020204" pitchFamily="34" charset="0"/>
              </a:defRPr>
            </a:lvl1pPr>
          </a:lstStyle>
          <a:p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87BC309A-390E-F7CF-ADA9-BB6BC8E1B4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7439" y="1501594"/>
            <a:ext cx="5201029" cy="681037"/>
          </a:xfrm>
          <a:prstGeom prst="rect">
            <a:avLst/>
          </a:prstGeom>
        </p:spPr>
        <p:txBody>
          <a:bodyPr/>
          <a:lstStyle>
            <a:lvl1pPr>
              <a:defRPr sz="4000" b="1" i="0">
                <a:latin typeface="Montserrat" panose="02010803020104030203" pitchFamily="2" charset="-79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88FADC7-94B5-BD88-0077-25E8CF563F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67438" y="2890580"/>
            <a:ext cx="5201029" cy="2976563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fr-FR" sz="1400" b="0" i="0" dirty="0" smtClean="0">
                <a:latin typeface="Montserrat" panose="020B0004020202020204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fr-FR" sz="1400" b="0" i="0" dirty="0" smtClean="0">
                <a:latin typeface="Montserrat" panose="020B0004020202020204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fr-FR" sz="1400" b="0" i="0" dirty="0" smtClean="0">
                <a:latin typeface="Montserrat" panose="020B0004020202020204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fr-FR" sz="1400" b="0" i="0" dirty="0" smtClean="0">
                <a:latin typeface="Montserrat" panose="020B0004020202020204" pitchFamily="34" charset="0"/>
              </a:defRPr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fr-FR" sz="1400" b="0" i="0" dirty="0">
                <a:latin typeface="Montserrat" panose="020B0004020202020204" pitchFamily="34" charset="0"/>
              </a:defRPr>
            </a:lvl5pPr>
          </a:lstStyle>
          <a:p>
            <a:pPr lvl="0">
              <a:lnSpc>
                <a:spcPct val="110000"/>
              </a:lnSpc>
              <a:spcAft>
                <a:spcPts val="600"/>
              </a:spcAft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fr-FR"/>
              <a:t>Cliquez pour modifier les styles du texte du masque</a:t>
            </a:r>
          </a:p>
          <a:p>
            <a:pPr lvl="1">
              <a:lnSpc>
                <a:spcPct val="110000"/>
              </a:lnSpc>
              <a:spcAft>
                <a:spcPts val="600"/>
              </a:spcAft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fr-FR"/>
              <a:t>Deuxième niveau</a:t>
            </a:r>
          </a:p>
          <a:p>
            <a:pPr lvl="2">
              <a:lnSpc>
                <a:spcPct val="110000"/>
              </a:lnSpc>
              <a:spcAft>
                <a:spcPts val="600"/>
              </a:spcAft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fr-FR"/>
              <a:t>Troisième niveau</a:t>
            </a:r>
          </a:p>
          <a:p>
            <a:pPr lvl="3">
              <a:lnSpc>
                <a:spcPct val="110000"/>
              </a:lnSpc>
              <a:spcAft>
                <a:spcPts val="600"/>
              </a:spcAft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fr-FR"/>
              <a:t>Quatrième niveau</a:t>
            </a:r>
          </a:p>
          <a:p>
            <a:pPr lvl="4">
              <a:lnSpc>
                <a:spcPct val="110000"/>
              </a:lnSpc>
              <a:spcAft>
                <a:spcPts val="600"/>
              </a:spcAft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fr-FR"/>
              <a:t>Cinquième niveau</a:t>
            </a:r>
          </a:p>
        </p:txBody>
      </p:sp>
      <p:sp>
        <p:nvSpPr>
          <p:cNvPr id="4" name="Espace réservé du texte 12">
            <a:extLst>
              <a:ext uri="{FF2B5EF4-FFF2-40B4-BE49-F238E27FC236}">
                <a16:creationId xmlns:a16="http://schemas.microsoft.com/office/drawing/2014/main" id="{0CA40196-41A2-7065-7D06-99EA839D6F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284976" y="0"/>
            <a:ext cx="7059174" cy="80168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Montserrat" panose="020B0004020202020204" pitchFamily="34" charset="0"/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10562745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 - Ouvertur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DB01ED8C-26C0-EF45-3ACF-F7E57461540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 amt="19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49" y="25538"/>
            <a:ext cx="12191501" cy="6806921"/>
          </a:xfrm>
          <a:prstGeom prst="rect">
            <a:avLst/>
          </a:prstGeom>
        </p:spPr>
      </p:pic>
      <p:sp>
        <p:nvSpPr>
          <p:cNvPr id="30" name="Espace réservé du texte 29">
            <a:extLst>
              <a:ext uri="{FF2B5EF4-FFF2-40B4-BE49-F238E27FC236}">
                <a16:creationId xmlns:a16="http://schemas.microsoft.com/office/drawing/2014/main" id="{DA941A81-C0A0-217E-8D7E-1E7A4ECB17A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50863" y="1243012"/>
            <a:ext cx="5221287" cy="4371975"/>
          </a:xfrm>
        </p:spPr>
        <p:txBody>
          <a:bodyPr anchor="ctr"/>
          <a:lstStyle>
            <a:lvl1pPr>
              <a:defRPr sz="4800">
                <a:solidFill>
                  <a:schemeClr val="bg1"/>
                </a:solidFill>
                <a:latin typeface="Montserrat"/>
              </a:defRPr>
            </a:lvl1pPr>
            <a:lvl2pPr>
              <a:defRPr sz="2400">
                <a:solidFill>
                  <a:schemeClr val="tx2"/>
                </a:solidFill>
              </a:defRPr>
            </a:lvl2pPr>
            <a:lvl3pPr>
              <a:defRPr sz="1800"/>
            </a:lvl3pPr>
            <a:lvl4pPr>
              <a:defRPr sz="1800"/>
            </a:lvl4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35" name="Marcador de posición de imagen 21">
            <a:extLst>
              <a:ext uri="{FF2B5EF4-FFF2-40B4-BE49-F238E27FC236}">
                <a16:creationId xmlns:a16="http://schemas.microsoft.com/office/drawing/2014/main" id="{D07C2948-B2C2-F333-122D-C672464981FC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48778" y="-6543222"/>
            <a:ext cx="13086443" cy="13086443"/>
          </a:xfrm>
          <a:prstGeom prst="blockArc">
            <a:avLst>
              <a:gd name="adj1" fmla="val 5405126"/>
              <a:gd name="adj2" fmla="val 10809590"/>
              <a:gd name="adj3" fmla="val 32095"/>
            </a:avLst>
          </a:prstGeom>
          <a:ln>
            <a:noFill/>
          </a:ln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s-MX"/>
          </a:p>
        </p:txBody>
      </p:sp>
      <p:sp>
        <p:nvSpPr>
          <p:cNvPr id="39" name="Arco 1">
            <a:extLst>
              <a:ext uri="{FF2B5EF4-FFF2-40B4-BE49-F238E27FC236}">
                <a16:creationId xmlns:a16="http://schemas.microsoft.com/office/drawing/2014/main" id="{6CC49FEE-2214-F1DB-7223-208192E760CE}"/>
              </a:ext>
            </a:extLst>
          </p:cNvPr>
          <p:cNvSpPr/>
          <p:nvPr userDrawn="1"/>
        </p:nvSpPr>
        <p:spPr>
          <a:xfrm rot="3656643">
            <a:off x="-1195052" y="4767220"/>
            <a:ext cx="4181559" cy="4181559"/>
          </a:xfrm>
          <a:prstGeom prst="arc">
            <a:avLst>
              <a:gd name="adj1" fmla="val 10916848"/>
              <a:gd name="adj2" fmla="val 18424255"/>
            </a:avLst>
          </a:prstGeom>
          <a:ln w="50800">
            <a:solidFill>
              <a:schemeClr val="tx2">
                <a:alpha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0" name="Elipse 2">
            <a:extLst>
              <a:ext uri="{FF2B5EF4-FFF2-40B4-BE49-F238E27FC236}">
                <a16:creationId xmlns:a16="http://schemas.microsoft.com/office/drawing/2014/main" id="{AB063977-05D9-754E-7660-2050DDC7D682}"/>
              </a:ext>
            </a:extLst>
          </p:cNvPr>
          <p:cNvSpPr/>
          <p:nvPr userDrawn="1"/>
        </p:nvSpPr>
        <p:spPr>
          <a:xfrm>
            <a:off x="1172898" y="109673"/>
            <a:ext cx="950495" cy="950495"/>
          </a:xfrm>
          <a:prstGeom prst="ellipse">
            <a:avLst/>
          </a:prstGeom>
          <a:solidFill>
            <a:schemeClr val="tx2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B38FDDDC-E3E7-64FC-ABE2-90948E84B18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844934" y="397711"/>
            <a:ext cx="798967" cy="374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3020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4" orient="horz" pos="4088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7 - Card Overview (x3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erda 1">
            <a:extLst>
              <a:ext uri="{FF2B5EF4-FFF2-40B4-BE49-F238E27FC236}">
                <a16:creationId xmlns:a16="http://schemas.microsoft.com/office/drawing/2014/main" id="{D72E547F-45D0-407D-95AC-E8A9DFDDEC8C}"/>
              </a:ext>
            </a:extLst>
          </p:cNvPr>
          <p:cNvSpPr/>
          <p:nvPr userDrawn="1"/>
        </p:nvSpPr>
        <p:spPr>
          <a:xfrm>
            <a:off x="1342358" y="5879397"/>
            <a:ext cx="2085541" cy="2085541"/>
          </a:xfrm>
          <a:prstGeom prst="chord">
            <a:avLst>
              <a:gd name="adj1" fmla="val 10946429"/>
              <a:gd name="adj2" fmla="val 21432292"/>
            </a:avLst>
          </a:prstGeom>
          <a:solidFill>
            <a:schemeClr val="tx2"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2" name="Arco 11">
            <a:extLst>
              <a:ext uri="{FF2B5EF4-FFF2-40B4-BE49-F238E27FC236}">
                <a16:creationId xmlns:a16="http://schemas.microsoft.com/office/drawing/2014/main" id="{7CCA211F-9470-464D-B98A-D2FEA5A974B1}"/>
              </a:ext>
            </a:extLst>
          </p:cNvPr>
          <p:cNvSpPr/>
          <p:nvPr userDrawn="1"/>
        </p:nvSpPr>
        <p:spPr>
          <a:xfrm rot="5400000">
            <a:off x="5817690" y="-2246668"/>
            <a:ext cx="6801601" cy="6801601"/>
          </a:xfrm>
          <a:prstGeom prst="arc">
            <a:avLst>
              <a:gd name="adj1" fmla="val 17819906"/>
              <a:gd name="adj2" fmla="val 6608620"/>
            </a:avLst>
          </a:prstGeom>
          <a:ln w="50800">
            <a:solidFill>
              <a:schemeClr val="tx2">
                <a:alpha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Espace réservé du numéro de diapositive 1">
            <a:extLst>
              <a:ext uri="{FF2B5EF4-FFF2-40B4-BE49-F238E27FC236}">
                <a16:creationId xmlns:a16="http://schemas.microsoft.com/office/drawing/2014/main" id="{DB453CF6-84A0-A60B-C1D4-B51616196778}"/>
              </a:ext>
            </a:extLst>
          </p:cNvPr>
          <p:cNvSpPr txBox="1">
            <a:spLocks/>
          </p:cNvSpPr>
          <p:nvPr userDrawn="1"/>
        </p:nvSpPr>
        <p:spPr>
          <a:xfrm>
            <a:off x="10581798" y="6116881"/>
            <a:ext cx="103163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s-MX"/>
            </a:defPPr>
            <a:lvl1pPr marL="0" algn="r" defTabSz="914400" rtl="0" eaLnBrk="1" latinLnBrk="0" hangingPunct="1">
              <a:defRPr sz="1600" kern="1200">
                <a:solidFill>
                  <a:schemeClr val="bg2"/>
                </a:solidFill>
                <a:latin typeface="Montserrat" pitchFamily="2" charset="0"/>
                <a:ea typeface="+mn-ea"/>
                <a:cs typeface="Montserra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Montserrat"/>
                <a:ea typeface="+mn-ea"/>
                <a:cs typeface="Montserra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Montserrat"/>
                <a:ea typeface="+mn-ea"/>
                <a:cs typeface="Montserra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Montserrat"/>
                <a:ea typeface="+mn-ea"/>
                <a:cs typeface="Montserra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Montserrat"/>
                <a:ea typeface="+mn-ea"/>
                <a:cs typeface="Montserra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Montserrat"/>
                <a:ea typeface="+mn-ea"/>
                <a:cs typeface="Montserra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Montserrat"/>
                <a:ea typeface="+mn-ea"/>
                <a:cs typeface="Montserra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Montserrat"/>
                <a:ea typeface="+mn-ea"/>
                <a:cs typeface="Montserra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Montserrat"/>
                <a:ea typeface="+mn-ea"/>
                <a:cs typeface="Montserrat"/>
              </a:defRPr>
            </a:lvl9pPr>
          </a:lstStyle>
          <a:p>
            <a:r>
              <a:rPr lang="es-MX" b="1">
                <a:solidFill>
                  <a:schemeClr val="tx2">
                    <a:lumMod val="20000"/>
                    <a:lumOff val="80000"/>
                  </a:schemeClr>
                </a:solidFill>
                <a:latin typeface="Montserrat" panose="020B0602020204020303" pitchFamily="34" charset="-79"/>
                <a:cs typeface="Montserrat" panose="020B0602020204020303" pitchFamily="34" charset="-79"/>
              </a:rPr>
              <a:t>|</a:t>
            </a:r>
            <a:fld id="{A26865B5-3266-4E90-A0AC-88F04D0BE393}" type="slidenum">
              <a:rPr lang="es-MX" b="1" smtClean="0">
                <a:solidFill>
                  <a:schemeClr val="tx2"/>
                </a:solidFill>
                <a:latin typeface="Montserrat" panose="020B0602020204020303" pitchFamily="34" charset="-79"/>
                <a:cs typeface="Montserrat" panose="020B0602020204020303" pitchFamily="34" charset="-79"/>
              </a:rPr>
              <a:pPr/>
              <a:t>‹N°›</a:t>
            </a:fld>
            <a:endParaRPr lang="es-MX" b="1">
              <a:solidFill>
                <a:schemeClr val="tx2"/>
              </a:solidFill>
              <a:latin typeface="Montserrat" panose="020B0602020204020303" pitchFamily="34" charset="-79"/>
              <a:cs typeface="Montserrat" panose="020B0602020204020303" pitchFamily="34" charset="-79"/>
            </a:endParaRPr>
          </a:p>
        </p:txBody>
      </p:sp>
      <p:pic>
        <p:nvPicPr>
          <p:cNvPr id="5" name="Imagen 5">
            <a:extLst>
              <a:ext uri="{FF2B5EF4-FFF2-40B4-BE49-F238E27FC236}">
                <a16:creationId xmlns:a16="http://schemas.microsoft.com/office/drawing/2014/main" id="{5FD33FD1-1BF4-120B-C3B2-F768C065A36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44934" y="387502"/>
            <a:ext cx="798967" cy="394838"/>
          </a:xfrm>
          <a:prstGeom prst="rect">
            <a:avLst/>
          </a:prstGeom>
        </p:spPr>
      </p:pic>
      <p:sp>
        <p:nvSpPr>
          <p:cNvPr id="17" name="Espace réservé du texte 15">
            <a:extLst>
              <a:ext uri="{FF2B5EF4-FFF2-40B4-BE49-F238E27FC236}">
                <a16:creationId xmlns:a16="http://schemas.microsoft.com/office/drawing/2014/main" id="{F7984933-58E9-00BF-AC88-BEBA9C7C93C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65151" y="360076"/>
            <a:ext cx="9840046" cy="422264"/>
          </a:xfrm>
        </p:spPr>
        <p:txBody>
          <a:bodyPr/>
          <a:lstStyle>
            <a:lvl1pPr>
              <a:defRPr sz="2800">
                <a:latin typeface="Montserrat" panose="02010803020104030203" pitchFamily="2" charset="-79"/>
                <a:cs typeface="Montserrat" panose="02010803020104030203" pitchFamily="2" charset="-79"/>
              </a:defRPr>
            </a:lvl1pPr>
            <a:lvl5pPr marL="1828800" indent="0">
              <a:buNone/>
              <a:defRPr/>
            </a:lvl5pPr>
          </a:lstStyle>
          <a:p>
            <a:pPr lvl="0"/>
            <a:r>
              <a:rPr lang="fr-FR"/>
              <a:t>Cliquez pour modifier les styles du</a:t>
            </a:r>
          </a:p>
        </p:txBody>
      </p:sp>
      <p:sp>
        <p:nvSpPr>
          <p:cNvPr id="7" name="Espace réservé du texte 15">
            <a:extLst>
              <a:ext uri="{FF2B5EF4-FFF2-40B4-BE49-F238E27FC236}">
                <a16:creationId xmlns:a16="http://schemas.microsoft.com/office/drawing/2014/main" id="{480DAA1E-A985-A655-D18D-2ACC0E27559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65151" y="782340"/>
            <a:ext cx="9840046" cy="422264"/>
          </a:xfrm>
        </p:spPr>
        <p:txBody>
          <a:bodyPr>
            <a:normAutofit/>
          </a:bodyPr>
          <a:lstStyle>
            <a:lvl1pPr>
              <a:defRPr sz="2000" b="0">
                <a:solidFill>
                  <a:schemeClr val="tx2"/>
                </a:solidFill>
                <a:latin typeface="Montserrat" pitchFamily="2" charset="77"/>
                <a:cs typeface="Montserrat" panose="02010803020104030203" pitchFamily="2" charset="-79"/>
              </a:defRPr>
            </a:lvl1pPr>
            <a:lvl5pPr marL="1828800" indent="0">
              <a:buNone/>
              <a:defRPr/>
            </a:lvl5pPr>
          </a:lstStyle>
          <a:p>
            <a:pPr lvl="0"/>
            <a:r>
              <a:rPr lang="fr-FR"/>
              <a:t>Cliquez pour modifier les styles du</a:t>
            </a:r>
          </a:p>
        </p:txBody>
      </p:sp>
    </p:spTree>
    <p:extLst>
      <p:ext uri="{BB962C8B-B14F-4D97-AF65-F5344CB8AC3E}">
        <p14:creationId xmlns:p14="http://schemas.microsoft.com/office/powerpoint/2010/main" val="30629768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821EF14-C390-4E2C-6F42-43160220249C}"/>
              </a:ext>
            </a:extLst>
          </p:cNvPr>
          <p:cNvSpPr>
            <a:spLocks/>
          </p:cNvSpPr>
          <p:nvPr userDrawn="1"/>
        </p:nvSpPr>
        <p:spPr>
          <a:xfrm>
            <a:off x="0" y="6282000"/>
            <a:ext cx="12176872" cy="576000"/>
          </a:xfrm>
          <a:prstGeom prst="rect">
            <a:avLst/>
          </a:prstGeom>
          <a:solidFill>
            <a:schemeClr val="bg1"/>
          </a:solidFill>
          <a:ln w="3175">
            <a:solidFill>
              <a:srgbClr val="160D3D">
                <a:alpha val="10588"/>
              </a:srgbClr>
            </a:solidFill>
          </a:ln>
          <a:effectLst>
            <a:outerShdw blurRad="50800" dist="38100" dir="2700000" algn="tl" rotWithShape="0">
              <a:schemeClr val="bg2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fr-FR" b="0" i="0">
              <a:solidFill>
                <a:srgbClr val="160D3D"/>
              </a:solidFill>
              <a:latin typeface="Montserrat" panose="020B0004020202020204" pitchFamily="34" charset="0"/>
            </a:endParaRPr>
          </a:p>
        </p:txBody>
      </p:sp>
      <p:pic>
        <p:nvPicPr>
          <p:cNvPr id="9" name="Image 8" descr="Une image contenant logo, Graphique, silhouette&#10;&#10;Description générée automatiquement">
            <a:extLst>
              <a:ext uri="{FF2B5EF4-FFF2-40B4-BE49-F238E27FC236}">
                <a16:creationId xmlns:a16="http://schemas.microsoft.com/office/drawing/2014/main" id="{10969A5D-4843-43B0-0FA3-9F330A45DA1E}"/>
              </a:ext>
            </a:extLst>
          </p:cNvPr>
          <p:cNvPicPr>
            <a:picLocks noChangeAspect="1"/>
          </p:cNvPicPr>
          <p:nvPr userDrawn="1"/>
        </p:nvPicPr>
        <p:blipFill>
          <a:blip r:embed="rId1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6093" y="6387438"/>
            <a:ext cx="365125" cy="365125"/>
          </a:xfrm>
          <a:prstGeom prst="rect">
            <a:avLst/>
          </a:prstGeom>
        </p:spPr>
      </p:pic>
      <p:sp>
        <p:nvSpPr>
          <p:cNvPr id="10" name="Espace réservé du pied de page 4">
            <a:extLst>
              <a:ext uri="{FF2B5EF4-FFF2-40B4-BE49-F238E27FC236}">
                <a16:creationId xmlns:a16="http://schemas.microsoft.com/office/drawing/2014/main" id="{8F522CF6-3DC8-EDB2-C46A-FC821EADE6B1}"/>
              </a:ext>
            </a:extLst>
          </p:cNvPr>
          <p:cNvSpPr txBox="1">
            <a:spLocks/>
          </p:cNvSpPr>
          <p:nvPr userDrawn="1"/>
        </p:nvSpPr>
        <p:spPr>
          <a:xfrm>
            <a:off x="9835775" y="6488239"/>
            <a:ext cx="2093259" cy="2154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ctr" defTabSz="914400" rtl="0" eaLnBrk="1" latinLnBrk="0" hangingPunct="1">
              <a:defRPr sz="1000" kern="1200">
                <a:solidFill>
                  <a:srgbClr val="160D3D"/>
                </a:solidFill>
                <a:latin typeface="Montserrat" pitchFamily="2" charset="0"/>
                <a:ea typeface="+mn-ea"/>
                <a:cs typeface="Montserra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Montserrat"/>
                <a:ea typeface="+mn-ea"/>
                <a:cs typeface="Montserra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Montserrat"/>
                <a:ea typeface="+mn-ea"/>
                <a:cs typeface="Montserra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Montserrat"/>
                <a:ea typeface="+mn-ea"/>
                <a:cs typeface="Montserra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Montserrat"/>
                <a:ea typeface="+mn-ea"/>
                <a:cs typeface="Montserra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Montserrat"/>
                <a:ea typeface="+mn-ea"/>
                <a:cs typeface="Montserra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Montserrat"/>
                <a:ea typeface="+mn-ea"/>
                <a:cs typeface="Montserra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Montserrat"/>
                <a:ea typeface="+mn-ea"/>
                <a:cs typeface="Montserra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Montserrat"/>
                <a:ea typeface="+mn-ea"/>
                <a:cs typeface="Montserrat"/>
              </a:defRPr>
            </a:lvl9pPr>
          </a:lstStyle>
          <a:p>
            <a:pPr algn="r"/>
            <a:r>
              <a:rPr lang="fr-FR" sz="800" b="0" i="0">
                <a:solidFill>
                  <a:srgbClr val="160D3D"/>
                </a:solidFill>
                <a:latin typeface="Montserrat" panose="020B0004020202020204" pitchFamily="34" charset="0"/>
              </a:rPr>
              <a:t>KPCGROUP.FR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B05AE39-AEEE-C153-31D7-C643B44EBEB6}"/>
              </a:ext>
            </a:extLst>
          </p:cNvPr>
          <p:cNvSpPr>
            <a:spLocks/>
          </p:cNvSpPr>
          <p:nvPr userDrawn="1"/>
        </p:nvSpPr>
        <p:spPr>
          <a:xfrm>
            <a:off x="0" y="0"/>
            <a:ext cx="12192000" cy="763480"/>
          </a:xfrm>
          <a:prstGeom prst="rect">
            <a:avLst/>
          </a:prstGeom>
          <a:solidFill>
            <a:schemeClr val="bg1"/>
          </a:solidFill>
          <a:ln w="3175">
            <a:solidFill>
              <a:srgbClr val="160D3D">
                <a:alpha val="10980"/>
              </a:srgbClr>
            </a:solidFill>
          </a:ln>
          <a:effectLst>
            <a:outerShdw blurRad="50800" dist="38100" dir="2700000" algn="tl" rotWithShape="0">
              <a:schemeClr val="bg2"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b="0" i="0">
              <a:solidFill>
                <a:srgbClr val="160D3D"/>
              </a:solidFill>
              <a:latin typeface="Montserrat" panose="020B0004020202020204" pitchFamily="34" charset="0"/>
            </a:endParaRPr>
          </a:p>
        </p:txBody>
      </p:sp>
      <p:sp>
        <p:nvSpPr>
          <p:cNvPr id="12" name="Espace réservé du pied de page 4">
            <a:extLst>
              <a:ext uri="{FF2B5EF4-FFF2-40B4-BE49-F238E27FC236}">
                <a16:creationId xmlns:a16="http://schemas.microsoft.com/office/drawing/2014/main" id="{6806A2D4-594F-DB81-9F2E-5BD511B72E17}"/>
              </a:ext>
            </a:extLst>
          </p:cNvPr>
          <p:cNvSpPr txBox="1">
            <a:spLocks/>
          </p:cNvSpPr>
          <p:nvPr userDrawn="1"/>
        </p:nvSpPr>
        <p:spPr>
          <a:xfrm>
            <a:off x="310466" y="199178"/>
            <a:ext cx="42291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fr-FR"/>
            </a:defPPr>
            <a:lvl1pPr marL="0" algn="ctr" defTabSz="914400" rtl="0" eaLnBrk="1" latinLnBrk="0" hangingPunct="1">
              <a:defRPr sz="1000" kern="1200">
                <a:solidFill>
                  <a:srgbClr val="160D3D"/>
                </a:solidFill>
                <a:latin typeface="Montserrat" pitchFamily="2" charset="0"/>
                <a:ea typeface="+mn-ea"/>
                <a:cs typeface="Montserra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Montserrat"/>
                <a:ea typeface="+mn-ea"/>
                <a:cs typeface="Montserra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Montserrat"/>
                <a:ea typeface="+mn-ea"/>
                <a:cs typeface="Montserra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Montserrat"/>
                <a:ea typeface="+mn-ea"/>
                <a:cs typeface="Montserra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Montserrat"/>
                <a:ea typeface="+mn-ea"/>
                <a:cs typeface="Montserra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Montserrat"/>
                <a:ea typeface="+mn-ea"/>
                <a:cs typeface="Montserra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Montserrat"/>
                <a:ea typeface="+mn-ea"/>
                <a:cs typeface="Montserra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Montserrat"/>
                <a:ea typeface="+mn-ea"/>
                <a:cs typeface="Montserra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Montserrat"/>
                <a:ea typeface="+mn-ea"/>
                <a:cs typeface="Montserrat"/>
              </a:defRPr>
            </a:lvl9pPr>
          </a:lstStyle>
          <a:p>
            <a:pPr algn="l"/>
            <a:r>
              <a:rPr lang="en-GB" sz="1200" b="1" i="0" noProof="1">
                <a:latin typeface="Montserrat" panose="020B0004020202020204" pitchFamily="34" charset="0"/>
              </a:rPr>
              <a:t>Formation</a:t>
            </a:r>
          </a:p>
          <a:p>
            <a:pPr algn="l"/>
            <a:r>
              <a:rPr lang="en-GB" sz="1200" b="1" i="0" noProof="1">
                <a:solidFill>
                  <a:srgbClr val="FF5201"/>
                </a:solidFill>
                <a:latin typeface="Montserrat" panose="020B0004020202020204" pitchFamily="34" charset="0"/>
              </a:rPr>
              <a:t>DBT</a:t>
            </a:r>
          </a:p>
        </p:txBody>
      </p:sp>
      <p:grpSp>
        <p:nvGrpSpPr>
          <p:cNvPr id="3" name="Group 1">
            <a:extLst>
              <a:ext uri="{FF2B5EF4-FFF2-40B4-BE49-F238E27FC236}">
                <a16:creationId xmlns:a16="http://schemas.microsoft.com/office/drawing/2014/main" id="{CB6C82AE-2DEB-4C4D-54E3-91A391302044}"/>
              </a:ext>
            </a:extLst>
          </p:cNvPr>
          <p:cNvGrpSpPr/>
          <p:nvPr userDrawn="1"/>
        </p:nvGrpSpPr>
        <p:grpSpPr>
          <a:xfrm>
            <a:off x="10147449" y="5359399"/>
            <a:ext cx="2044730" cy="1498600"/>
            <a:chOff x="9945293" y="5252707"/>
            <a:chExt cx="2003995" cy="1468767"/>
          </a:xfrm>
        </p:grpSpPr>
        <p:pic>
          <p:nvPicPr>
            <p:cNvPr id="4" name="Image 6">
              <a:extLst>
                <a:ext uri="{FF2B5EF4-FFF2-40B4-BE49-F238E27FC236}">
                  <a16:creationId xmlns:a16="http://schemas.microsoft.com/office/drawing/2014/main" id="{1554C486-0719-1925-2BAB-0E4B6E8106F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ltGray">
            <a:xfrm>
              <a:off x="9945293" y="5252707"/>
              <a:ext cx="2001921" cy="14687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77A9843-5F88-FD79-D22B-63DD8F473FD2}"/>
                </a:ext>
              </a:extLst>
            </p:cNvPr>
            <p:cNvSpPr/>
            <p:nvPr userDrawn="1"/>
          </p:nvSpPr>
          <p:spPr bwMode="ltGray">
            <a:xfrm>
              <a:off x="10161400" y="5430458"/>
              <a:ext cx="1787888" cy="1129192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sz="1837"/>
            </a:p>
          </p:txBody>
        </p:sp>
      </p:grpSp>
      <p:pic>
        <p:nvPicPr>
          <p:cNvPr id="5124" name="Picture 4" descr="Conseil et Expertise en Data Intelligence et Digital Business | KPC">
            <a:extLst>
              <a:ext uri="{FF2B5EF4-FFF2-40B4-BE49-F238E27FC236}">
                <a16:creationId xmlns:a16="http://schemas.microsoft.com/office/drawing/2014/main" id="{5252E653-8CAA-328C-35F7-99F11CB862C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38671" y="199178"/>
            <a:ext cx="635374" cy="313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Espace réservé du numéro de diapositive 3">
            <a:extLst>
              <a:ext uri="{FF2B5EF4-FFF2-40B4-BE49-F238E27FC236}">
                <a16:creationId xmlns:a16="http://schemas.microsoft.com/office/drawing/2014/main" id="{306EC246-140E-6267-1432-BD22883DFFBF}"/>
              </a:ext>
            </a:extLst>
          </p:cNvPr>
          <p:cNvSpPr txBox="1">
            <a:spLocks/>
          </p:cNvSpPr>
          <p:nvPr userDrawn="1"/>
        </p:nvSpPr>
        <p:spPr>
          <a:xfrm>
            <a:off x="247429" y="6449370"/>
            <a:ext cx="731974" cy="324985"/>
          </a:xfrm>
          <a:prstGeom prst="rect">
            <a:avLst/>
          </a:prstGeom>
        </p:spPr>
        <p:txBody>
          <a:bodyPr anchor="ctr"/>
          <a:lstStyle>
            <a:defPPr>
              <a:defRPr lang="fr-FR"/>
            </a:defPPr>
            <a:lvl1pPr marL="0" algn="l" defTabSz="914400" rtl="0" eaLnBrk="1" latinLnBrk="0" hangingPunct="1">
              <a:defRPr sz="1200" b="1" i="0" kern="1200">
                <a:solidFill>
                  <a:schemeClr val="tx1"/>
                </a:solidFill>
                <a:latin typeface="Montserrat" panose="020B0004020202020204" pitchFamily="34" charset="0"/>
                <a:ea typeface="+mn-ea"/>
                <a:cs typeface="Montserra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Montserrat"/>
                <a:ea typeface="+mn-ea"/>
                <a:cs typeface="Montserra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Montserrat"/>
                <a:ea typeface="+mn-ea"/>
                <a:cs typeface="Montserra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Montserrat"/>
                <a:ea typeface="+mn-ea"/>
                <a:cs typeface="Montserra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Montserrat"/>
                <a:ea typeface="+mn-ea"/>
                <a:cs typeface="Montserra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Montserrat"/>
                <a:ea typeface="+mn-ea"/>
                <a:cs typeface="Montserra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Montserrat"/>
                <a:ea typeface="+mn-ea"/>
                <a:cs typeface="Montserra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Montserrat"/>
                <a:ea typeface="+mn-ea"/>
                <a:cs typeface="Montserra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Montserrat"/>
                <a:ea typeface="+mn-ea"/>
                <a:cs typeface="Montserrat"/>
              </a:defRPr>
            </a:lvl9pPr>
          </a:lstStyle>
          <a:p>
            <a:fld id="{1B050D57-10FA-4819-8D31-8D4E386D13A8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96004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855" r:id="rId1"/>
    <p:sldLayoutId id="2147484856" r:id="rId2"/>
    <p:sldLayoutId id="2147484857" r:id="rId3"/>
    <p:sldLayoutId id="2147484859" r:id="rId4"/>
    <p:sldLayoutId id="2147484860" r:id="rId5"/>
    <p:sldLayoutId id="2147484861" r:id="rId6"/>
    <p:sldLayoutId id="2147484862" r:id="rId7"/>
    <p:sldLayoutId id="2147484863" r:id="rId8"/>
    <p:sldLayoutId id="2147484864" r:id="rId9"/>
    <p:sldLayoutId id="2147484865" r:id="rId10"/>
    <p:sldLayoutId id="2147484867" r:id="rId11"/>
    <p:sldLayoutId id="2147484868" r:id="rId12"/>
    <p:sldLayoutId id="2147484869" r:id="rId13"/>
    <p:sldLayoutId id="2147484870" r:id="rId14"/>
    <p:sldLayoutId id="2147484871" r:id="rId1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Montserrat" panose="00000800000000000000" pitchFamily="50" charset="0"/>
          <a:ea typeface="+mj-ea"/>
          <a:cs typeface="Montserrat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ontserrat" pitchFamily="2" charset="0"/>
          <a:ea typeface="+mn-ea"/>
          <a:cs typeface="Montserrat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 pitchFamily="2" charset="0"/>
          <a:ea typeface="+mn-ea"/>
          <a:cs typeface="Montserrat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Montserrat" pitchFamily="2" charset="0"/>
          <a:ea typeface="+mn-ea"/>
          <a:cs typeface="Montserrat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Montserrat" pitchFamily="2" charset="0"/>
          <a:ea typeface="+mn-ea"/>
          <a:cs typeface="Montserrat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Montserrat" pitchFamily="2" charset="0"/>
          <a:ea typeface="+mn-ea"/>
          <a:cs typeface="Montserrat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/>
          <a:ea typeface="+mn-ea"/>
          <a:cs typeface="Montserra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/>
          <a:ea typeface="+mn-ea"/>
          <a:cs typeface="Montserra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/>
          <a:ea typeface="+mn-ea"/>
          <a:cs typeface="Montserra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ontserrat"/>
          <a:ea typeface="+mn-ea"/>
          <a:cs typeface="Montserra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Montserrat"/>
          <a:ea typeface="+mn-ea"/>
          <a:cs typeface="Montserra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Montserrat"/>
          <a:ea typeface="+mn-ea"/>
          <a:cs typeface="Montserra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Montserrat"/>
          <a:ea typeface="+mn-ea"/>
          <a:cs typeface="Montserra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Montserrat"/>
          <a:ea typeface="+mn-ea"/>
          <a:cs typeface="Montserra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Montserrat"/>
          <a:ea typeface="+mn-ea"/>
          <a:cs typeface="Montserra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Montserrat"/>
          <a:ea typeface="+mn-ea"/>
          <a:cs typeface="Montserra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Montserrat"/>
          <a:ea typeface="+mn-ea"/>
          <a:cs typeface="Montserra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Montserrat"/>
          <a:ea typeface="+mn-ea"/>
          <a:cs typeface="Montserra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Montserrat"/>
          <a:ea typeface="+mn-ea"/>
          <a:cs typeface="Montserra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0000" y="1000000"/>
            <a:ext cx="11400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 dirty="0">
                <a:solidFill>
                  <a:srgbClr val="FFFFFF"/>
                </a:solidFill>
                <a:latin typeface="Montserrat"/>
              </a:rPr>
              <a:t>Formation </a:t>
            </a:r>
            <a:r>
              <a:rPr lang="fr-FR" sz="4400" b="1" dirty="0">
                <a:solidFill>
                  <a:srgbClr val="FFFFFF"/>
                </a:solidFill>
                <a:latin typeface="Montserrat"/>
              </a:rPr>
              <a:t>DBT</a:t>
            </a:r>
            <a:endParaRPr sz="4400" b="1" dirty="0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00000" y="2400000"/>
            <a:ext cx="114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2800" b="0">
                <a:solidFill>
                  <a:srgbClr val="FFFFFF"/>
                </a:solidFill>
                <a:latin typeface="Montserrat"/>
              </a:rPr>
              <a:t>De Debutant a Expert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00000" y="3800000"/>
            <a:ext cx="11400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0" dirty="0">
                <a:solidFill>
                  <a:srgbClr val="FFFFFF"/>
                </a:solidFill>
                <a:latin typeface="Montserrat"/>
              </a:rPr>
              <a:t>Duree : </a:t>
            </a:r>
            <a:r>
              <a:rPr lang="fr-FR" sz="1600" dirty="0">
                <a:solidFill>
                  <a:srgbClr val="FFFFFF"/>
                </a:solidFill>
                <a:latin typeface="Montserrat"/>
              </a:rPr>
              <a:t>2</a:t>
            </a:r>
            <a:r>
              <a:rPr sz="1600" b="0" dirty="0">
                <a:solidFill>
                  <a:srgbClr val="FFFFFF"/>
                </a:solidFill>
                <a:latin typeface="Montserrat"/>
              </a:rPr>
              <a:t> </a:t>
            </a:r>
            <a:r>
              <a:rPr sz="1600" b="0" dirty="0" err="1">
                <a:solidFill>
                  <a:srgbClr val="FFFFFF"/>
                </a:solidFill>
                <a:latin typeface="Montserrat"/>
              </a:rPr>
              <a:t>jours</a:t>
            </a:r>
            <a:r>
              <a:rPr sz="1600" b="0" dirty="0">
                <a:solidFill>
                  <a:srgbClr val="FFFFFF"/>
                </a:solidFill>
                <a:latin typeface="Montserrat"/>
              </a:rPr>
              <a:t> (16h)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00000" y="5800000"/>
            <a:ext cx="114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Montserrat"/>
              </a:rPr>
              <a:t>KPC Group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Image 28">
            <a:extLst>
              <a:ext uri="{FF2B5EF4-FFF2-40B4-BE49-F238E27FC236}">
                <a16:creationId xmlns:a16="http://schemas.microsoft.com/office/drawing/2014/main" id="{90B78C8B-36CC-E8E0-E476-B1E678C50E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7700"/>
            <a:ext cx="12192000" cy="5562600"/>
          </a:xfrm>
          <a:prstGeom prst="rect">
            <a:avLst/>
          </a:prstGeom>
        </p:spPr>
      </p:pic>
      <p:sp>
        <p:nvSpPr>
          <p:cNvPr id="2" name="Text Placeholder 1"/>
          <p:cNvSpPr>
            <a:spLocks noGrp="1"/>
          </p:cNvSpPr>
          <p:nvPr>
            <p:ph type="body" sz="quarter" idx="15"/>
          </p:nvPr>
        </p:nvSpPr>
        <p:spPr>
          <a:xfrm>
            <a:off x="508000" y="0"/>
            <a:ext cx="11176000" cy="760021"/>
          </a:xfrm>
        </p:spPr>
        <p:txBody>
          <a:bodyPr/>
          <a:lstStyle/>
          <a:p>
            <a:pPr algn="ctr"/>
            <a:r>
              <a:rPr sz="2200" b="1">
                <a:solidFill>
                  <a:srgbClr val="160D3D"/>
                </a:solidFill>
                <a:latin typeface="Montserrat"/>
              </a:rPr>
              <a:t>Programme de la formation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439586" y="1219636"/>
            <a:ext cx="500000" cy="350000"/>
          </a:xfrm>
          <a:prstGeom prst="roundRect">
            <a:avLst/>
          </a:prstGeom>
          <a:solidFill>
            <a:srgbClr val="160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E8792F"/>
                </a:solidFill>
                <a:latin typeface="Montserrat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39586" y="1219636"/>
            <a:ext cx="420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b="1">
                <a:solidFill>
                  <a:schemeClr val="bg1"/>
                </a:solidFill>
                <a:latin typeface="Montserrat"/>
              </a:rPr>
              <a:t>Introduction a dbt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28277" y="1249636"/>
            <a:ext cx="5600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1">
                <a:solidFill>
                  <a:schemeClr val="bg1"/>
                </a:solidFill>
                <a:latin typeface="Montserrat"/>
              </a:rPr>
              <a:t>ELT vs ETL, stack data, dataset TPCH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39586" y="1819636"/>
            <a:ext cx="500000" cy="350000"/>
          </a:xfrm>
          <a:prstGeom prst="roundRect">
            <a:avLst/>
          </a:prstGeom>
          <a:solidFill>
            <a:srgbClr val="160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E8792F"/>
                </a:solidFill>
                <a:latin typeface="Montserrat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39586" y="1819636"/>
            <a:ext cx="420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b="1">
                <a:solidFill>
                  <a:schemeClr val="bg1"/>
                </a:solidFill>
                <a:latin typeface="Montserrat"/>
              </a:rPr>
              <a:t>Mise en place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28277" y="1849636"/>
            <a:ext cx="5600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1">
                <a:solidFill>
                  <a:schemeClr val="bg1"/>
                </a:solidFill>
                <a:latin typeface="Montserrat"/>
              </a:rPr>
              <a:t>Installation, Snowflake, dbt init, GitHub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39586" y="2419636"/>
            <a:ext cx="500000" cy="350000"/>
          </a:xfrm>
          <a:prstGeom prst="roundRect">
            <a:avLst/>
          </a:prstGeom>
          <a:solidFill>
            <a:srgbClr val="160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E8792F"/>
                </a:solidFill>
                <a:latin typeface="Montserrat"/>
              </a:rPr>
              <a:t>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239586" y="2419636"/>
            <a:ext cx="420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b="1">
                <a:solidFill>
                  <a:schemeClr val="bg1"/>
                </a:solidFill>
                <a:latin typeface="Montserrat"/>
              </a:rPr>
              <a:t>Construction du projet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28277" y="2449636"/>
            <a:ext cx="5600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1">
                <a:solidFill>
                  <a:schemeClr val="bg1"/>
                </a:solidFill>
                <a:latin typeface="Montserrat"/>
              </a:rPr>
              <a:t>Sources, staging, intermediate, marts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439586" y="3019636"/>
            <a:ext cx="500000" cy="350000"/>
          </a:xfrm>
          <a:prstGeom prst="roundRect">
            <a:avLst/>
          </a:prstGeom>
          <a:solidFill>
            <a:srgbClr val="160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E8792F"/>
                </a:solidFill>
                <a:latin typeface="Montserrat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39586" y="3019636"/>
            <a:ext cx="420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b="1">
                <a:solidFill>
                  <a:schemeClr val="bg1"/>
                </a:solidFill>
                <a:latin typeface="Montserrat"/>
              </a:rPr>
              <a:t>Tests avances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28277" y="3049636"/>
            <a:ext cx="5600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1">
                <a:solidFill>
                  <a:schemeClr val="bg1"/>
                </a:solidFill>
                <a:latin typeface="Montserrat"/>
              </a:rPr>
              <a:t>Severite, dbt_utils, dbt_expectations, unit tests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39586" y="3619636"/>
            <a:ext cx="500000" cy="350000"/>
          </a:xfrm>
          <a:prstGeom prst="roundRect">
            <a:avLst/>
          </a:prstGeom>
          <a:solidFill>
            <a:srgbClr val="160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E8792F"/>
                </a:solidFill>
                <a:latin typeface="Montserrat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39586" y="3619636"/>
            <a:ext cx="420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b="1">
                <a:solidFill>
                  <a:schemeClr val="bg1"/>
                </a:solidFill>
                <a:latin typeface="Montserrat"/>
              </a:rPr>
              <a:t>Modelisation avancee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28277" y="3649636"/>
            <a:ext cx="5600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1">
                <a:solidFill>
                  <a:schemeClr val="bg1"/>
                </a:solidFill>
                <a:latin typeface="Montserrat"/>
              </a:rPr>
              <a:t>Seeds, snapshots, incremental, governance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439586" y="4219636"/>
            <a:ext cx="500000" cy="350000"/>
          </a:xfrm>
          <a:prstGeom prst="roundRect">
            <a:avLst/>
          </a:prstGeom>
          <a:solidFill>
            <a:srgbClr val="160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E8792F"/>
                </a:solidFill>
                <a:latin typeface="Montserrat"/>
              </a:rPr>
              <a:t>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39586" y="4219636"/>
            <a:ext cx="420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b="1">
                <a:solidFill>
                  <a:schemeClr val="bg1"/>
                </a:solidFill>
                <a:latin typeface="Montserrat"/>
              </a:rPr>
              <a:t>Commandes et selecteurs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28277" y="4249636"/>
            <a:ext cx="5600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1">
                <a:solidFill>
                  <a:schemeClr val="bg1"/>
                </a:solidFill>
                <a:latin typeface="Montserrat"/>
              </a:rPr>
              <a:t>CLI, selecteurs de graphe, tags, docs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439586" y="4819636"/>
            <a:ext cx="500000" cy="350000"/>
          </a:xfrm>
          <a:prstGeom prst="roundRect">
            <a:avLst/>
          </a:prstGeom>
          <a:solidFill>
            <a:srgbClr val="160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E8792F"/>
                </a:solidFill>
                <a:latin typeface="Montserrat"/>
              </a:rPr>
              <a:t>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39586" y="4819636"/>
            <a:ext cx="420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b="1">
                <a:solidFill>
                  <a:schemeClr val="bg1"/>
                </a:solidFill>
                <a:latin typeface="Montserrat"/>
              </a:rPr>
              <a:t>Jinja et Macros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28277" y="4849636"/>
            <a:ext cx="5600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1">
                <a:solidFill>
                  <a:schemeClr val="bg1"/>
                </a:solidFill>
                <a:latin typeface="Montserrat"/>
              </a:rPr>
              <a:t>Templates, macros, hooks, boucles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439586" y="5419636"/>
            <a:ext cx="500000" cy="350000"/>
          </a:xfrm>
          <a:prstGeom prst="roundRect">
            <a:avLst/>
          </a:prstGeom>
          <a:solidFill>
            <a:srgbClr val="160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E8792F"/>
                </a:solidFill>
                <a:latin typeface="Montserrat"/>
              </a:rPr>
              <a:t>08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39586" y="5419636"/>
            <a:ext cx="420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b="1" dirty="0" err="1">
                <a:solidFill>
                  <a:schemeClr val="bg1"/>
                </a:solidFill>
                <a:latin typeface="Montserrat"/>
              </a:rPr>
              <a:t>Deploiement</a:t>
            </a:r>
            <a:r>
              <a:rPr b="1" dirty="0">
                <a:solidFill>
                  <a:schemeClr val="bg1"/>
                </a:solidFill>
                <a:latin typeface="Montserrat"/>
              </a:rPr>
              <a:t> </a:t>
            </a:r>
            <a:r>
              <a:rPr b="1" dirty="0" err="1">
                <a:solidFill>
                  <a:schemeClr val="bg1"/>
                </a:solidFill>
                <a:latin typeface="Montserrat"/>
              </a:rPr>
              <a:t>dbt</a:t>
            </a:r>
            <a:r>
              <a:rPr b="1" dirty="0">
                <a:solidFill>
                  <a:schemeClr val="bg1"/>
                </a:solidFill>
                <a:latin typeface="Montserrat"/>
              </a:rPr>
              <a:t> Cloud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28277" y="5449636"/>
            <a:ext cx="5600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1" dirty="0">
                <a:solidFill>
                  <a:schemeClr val="bg1"/>
                </a:solidFill>
                <a:latin typeface="Montserrat"/>
              </a:rPr>
              <a:t>Service account, jobs, CI/CD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05519A59-D54A-B579-BF1A-5FD80B12CB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7700"/>
            <a:ext cx="12192000" cy="5562600"/>
          </a:xfrm>
          <a:prstGeom prst="rect">
            <a:avLst/>
          </a:prstGeom>
        </p:spPr>
      </p:pic>
      <p:sp>
        <p:nvSpPr>
          <p:cNvPr id="2" name="Text Placeholder 1"/>
          <p:cNvSpPr>
            <a:spLocks noGrp="1"/>
          </p:cNvSpPr>
          <p:nvPr>
            <p:ph type="body" sz="quarter" idx="15"/>
          </p:nvPr>
        </p:nvSpPr>
        <p:spPr>
          <a:xfrm>
            <a:off x="508000" y="0"/>
            <a:ext cx="11176000" cy="760021"/>
          </a:xfrm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143753" y="2203730"/>
            <a:ext cx="3000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0" b="1" dirty="0">
                <a:solidFill>
                  <a:schemeClr val="bg1"/>
                </a:solidFill>
                <a:latin typeface="Montserrat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11741" y="2772671"/>
            <a:ext cx="7800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 dirty="0">
                <a:solidFill>
                  <a:schemeClr val="bg1"/>
                </a:solidFill>
                <a:latin typeface="Montserrat"/>
              </a:rPr>
              <a:t>Introduction a </a:t>
            </a:r>
            <a:r>
              <a:rPr sz="4400" b="1" dirty="0" err="1">
                <a:solidFill>
                  <a:schemeClr val="bg1"/>
                </a:solidFill>
                <a:latin typeface="Montserrat"/>
              </a:rPr>
              <a:t>dbt</a:t>
            </a:r>
            <a:endParaRPr sz="4400" b="1" dirty="0">
              <a:solidFill>
                <a:schemeClr val="bg1"/>
              </a:solidFill>
              <a:latin typeface="Montserra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5"/>
          </p:nvPr>
        </p:nvSpPr>
        <p:spPr>
          <a:xfrm>
            <a:off x="508000" y="0"/>
            <a:ext cx="11176000" cy="760021"/>
          </a:xfrm>
        </p:spPr>
        <p:txBody>
          <a:bodyPr/>
          <a:lstStyle/>
          <a:p>
            <a:pPr algn="ctr"/>
            <a:r>
              <a:rPr sz="2200" b="1">
                <a:solidFill>
                  <a:srgbClr val="160D3D"/>
                </a:solidFill>
                <a:latin typeface="Montserrat"/>
              </a:rPr>
              <a:t>Qu'est-ce que dbt ?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CD3FAF52-F203-42A0-9E69-F0A80DEEC309}"/>
              </a:ext>
            </a:extLst>
          </p:cNvPr>
          <p:cNvSpPr txBox="1"/>
          <p:nvPr/>
        </p:nvSpPr>
        <p:spPr>
          <a:xfrm>
            <a:off x="508000" y="1016000"/>
            <a:ext cx="1117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500" b="1">
                <a:solidFill>
                  <a:srgbClr val="160D3D"/>
                </a:solidFill>
                <a:latin typeface="Montserrat"/>
              </a:rPr>
              <a:t>dbt en bref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C8FA074F-A907-4297-AFB2-563B488F95F8}"/>
              </a:ext>
            </a:extLst>
          </p:cNvPr>
          <p:cNvSpPr/>
          <p:nvPr/>
        </p:nvSpPr>
        <p:spPr>
          <a:xfrm>
            <a:off x="508000" y="1447800"/>
            <a:ext cx="3581400" cy="1905000"/>
          </a:xfrm>
          <a:prstGeom prst="roundRect">
            <a:avLst/>
          </a:prstGeom>
          <a:solidFill>
            <a:srgbClr val="160D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B562F4EB-7EC8-4CE7-BB30-63F1496460C3}"/>
              </a:ext>
            </a:extLst>
          </p:cNvPr>
          <p:cNvSpPr txBox="1"/>
          <p:nvPr/>
        </p:nvSpPr>
        <p:spPr>
          <a:xfrm>
            <a:off x="736600" y="1701800"/>
            <a:ext cx="31242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600" b="1">
                <a:solidFill>
                  <a:srgbClr val="FFFFFF"/>
                </a:solidFill>
                <a:latin typeface="Montserrat"/>
              </a:rPr>
              <a:t>data build tool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DDEAA898-61BF-4D84-8111-BB5B5D198FD5}"/>
              </a:ext>
            </a:extLst>
          </p:cNvPr>
          <p:cNvSpPr txBox="1"/>
          <p:nvPr/>
        </p:nvSpPr>
        <p:spPr>
          <a:xfrm>
            <a:off x="736600" y="2159000"/>
            <a:ext cx="31242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>
                <a:solidFill>
                  <a:srgbClr val="FFFFFF"/>
                </a:solidFill>
                <a:latin typeface="Montserrat"/>
              </a:rPr>
              <a:t>Outil de transformation
Le "T" de ELT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DB70DFD1-C84F-4513-9094-7EAA38335195}"/>
              </a:ext>
            </a:extLst>
          </p:cNvPr>
          <p:cNvSpPr/>
          <p:nvPr/>
        </p:nvSpPr>
        <p:spPr>
          <a:xfrm>
            <a:off x="4292600" y="1447800"/>
            <a:ext cx="3581400" cy="1905000"/>
          </a:xfrm>
          <a:prstGeom prst="roundRect">
            <a:avLst/>
          </a:prstGeom>
          <a:solidFill>
            <a:srgbClr val="E879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47ECF77F-91AB-4F38-93C1-191867423ADC}"/>
              </a:ext>
            </a:extLst>
          </p:cNvPr>
          <p:cNvSpPr txBox="1"/>
          <p:nvPr/>
        </p:nvSpPr>
        <p:spPr>
          <a:xfrm>
            <a:off x="4521200" y="1701800"/>
            <a:ext cx="31242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600" b="1">
                <a:solidFill>
                  <a:srgbClr val="FFFFFF"/>
                </a:solidFill>
                <a:latin typeface="Montserrat"/>
              </a:rPr>
              <a:t>SQL d'abord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CE342836-4541-4786-8C5A-88379509FDB6}"/>
              </a:ext>
            </a:extLst>
          </p:cNvPr>
          <p:cNvSpPr txBox="1"/>
          <p:nvPr/>
        </p:nvSpPr>
        <p:spPr>
          <a:xfrm>
            <a:off x="4521200" y="2159000"/>
            <a:ext cx="31242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>
                <a:solidFill>
                  <a:srgbClr val="FFFFFF"/>
                </a:solidFill>
                <a:latin typeface="Montserrat"/>
              </a:rPr>
              <a:t>Les analystes ecrivent
des SELECT, dbt gere
le DDL/DML</a:t>
            </a: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C0BFF3E0-D53F-4055-95F8-1AEB40CB6B24}"/>
              </a:ext>
            </a:extLst>
          </p:cNvPr>
          <p:cNvSpPr/>
          <p:nvPr/>
        </p:nvSpPr>
        <p:spPr>
          <a:xfrm>
            <a:off x="8077200" y="1447800"/>
            <a:ext cx="3581400" cy="1905000"/>
          </a:xfrm>
          <a:prstGeom prst="roundRect">
            <a:avLst/>
          </a:prstGeom>
          <a:solidFill>
            <a:srgbClr val="5B6B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3F98ABD8-D694-46EA-8551-EA8AF56498E9}"/>
              </a:ext>
            </a:extLst>
          </p:cNvPr>
          <p:cNvSpPr txBox="1"/>
          <p:nvPr/>
        </p:nvSpPr>
        <p:spPr>
          <a:xfrm>
            <a:off x="8305800" y="1701800"/>
            <a:ext cx="31242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600" b="1">
                <a:solidFill>
                  <a:srgbClr val="FFFFFF"/>
                </a:solidFill>
                <a:latin typeface="Montserrat"/>
              </a:rPr>
              <a:t>ELT moderne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30677EE7-77A0-4451-8B0E-552326D01CDF}"/>
              </a:ext>
            </a:extLst>
          </p:cNvPr>
          <p:cNvSpPr txBox="1"/>
          <p:nvPr/>
        </p:nvSpPr>
        <p:spPr>
          <a:xfrm>
            <a:off x="8305800" y="2159000"/>
            <a:ext cx="31242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>
                <a:solidFill>
                  <a:srgbClr val="FFFFFF"/>
                </a:solidFill>
                <a:latin typeface="Montserrat"/>
              </a:rPr>
              <a:t>Extract → Load → Transform
dans le warehouse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5B09F72D-8B26-4B98-B5F0-D1ABF85B054D}"/>
              </a:ext>
            </a:extLst>
          </p:cNvPr>
          <p:cNvSpPr txBox="1"/>
          <p:nvPr/>
        </p:nvSpPr>
        <p:spPr>
          <a:xfrm>
            <a:off x="508000" y="3657600"/>
            <a:ext cx="1117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500" b="1">
                <a:solidFill>
                  <a:srgbClr val="160D3D"/>
                </a:solidFill>
                <a:latin typeface="Montserrat"/>
              </a:rPr>
              <a:t>dbt Core vs dbt Cloud</a:t>
            </a: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493068FE-A273-428C-A834-B1E50406E49A}"/>
              </a:ext>
            </a:extLst>
          </p:cNvPr>
          <p:cNvSpPr/>
          <p:nvPr/>
        </p:nvSpPr>
        <p:spPr>
          <a:xfrm>
            <a:off x="508000" y="4089400"/>
            <a:ext cx="5334000" cy="1879600"/>
          </a:xfrm>
          <a:prstGeom prst="roundRect">
            <a:avLst/>
          </a:prstGeom>
          <a:solidFill>
            <a:srgbClr val="F7F4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5AAF0B98-0FE3-47A0-A611-0E502C716477}"/>
              </a:ext>
            </a:extLst>
          </p:cNvPr>
          <p:cNvSpPr txBox="1"/>
          <p:nvPr/>
        </p:nvSpPr>
        <p:spPr>
          <a:xfrm>
            <a:off x="736600" y="4292600"/>
            <a:ext cx="48768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 b="1">
                <a:solidFill>
                  <a:srgbClr val="160D3D"/>
                </a:solidFill>
                <a:latin typeface="Montserrat"/>
              </a:rPr>
              <a:t>dbt Core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F226AC0A-17E6-4293-88DD-E9C0D64C7C10}"/>
              </a:ext>
            </a:extLst>
          </p:cNvPr>
          <p:cNvSpPr txBox="1"/>
          <p:nvPr/>
        </p:nvSpPr>
        <p:spPr>
          <a:xfrm>
            <a:off x="736600" y="4622800"/>
            <a:ext cx="48768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160D3D"/>
                </a:solidFill>
                <a:latin typeface="Montserrat"/>
              </a:rPr>
              <a:t>Open source · CLI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4B5F41B3-C4CF-4D51-A613-CF94894EA4E8}"/>
              </a:ext>
            </a:extLst>
          </p:cNvPr>
          <p:cNvSpPr txBox="1"/>
          <p:nvPr/>
        </p:nvSpPr>
        <p:spPr>
          <a:xfrm>
            <a:off x="736600" y="4927600"/>
            <a:ext cx="4876800" cy="965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>
                <a:solidFill>
                  <a:srgbClr val="160D3D"/>
                </a:solidFill>
                <a:latin typeface="Montserrat"/>
              </a:rPr>
              <a:t>Installation locale ou serveur
Gratuit, integration libre
Ideal pour equipes techniques</a:t>
            </a:r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CF13CAE4-5CC6-477E-8F15-36069F3E54D8}"/>
              </a:ext>
            </a:extLst>
          </p:cNvPr>
          <p:cNvSpPr/>
          <p:nvPr/>
        </p:nvSpPr>
        <p:spPr>
          <a:xfrm>
            <a:off x="6350000" y="4089400"/>
            <a:ext cx="5334000" cy="1879600"/>
          </a:xfrm>
          <a:prstGeom prst="roundRect">
            <a:avLst/>
          </a:prstGeom>
          <a:solidFill>
            <a:srgbClr val="FFF0E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C64F0BB0-C4B1-4A12-AABE-B6077D6AB179}"/>
              </a:ext>
            </a:extLst>
          </p:cNvPr>
          <p:cNvSpPr txBox="1"/>
          <p:nvPr/>
        </p:nvSpPr>
        <p:spPr>
          <a:xfrm>
            <a:off x="6578600" y="4292600"/>
            <a:ext cx="48768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 b="1">
                <a:solidFill>
                  <a:srgbClr val="E8792F"/>
                </a:solidFill>
                <a:latin typeface="Montserrat"/>
              </a:rPr>
              <a:t>dbt Cloud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1A1D5194-1263-483A-B286-0FBC75EA5EC7}"/>
              </a:ext>
            </a:extLst>
          </p:cNvPr>
          <p:cNvSpPr txBox="1"/>
          <p:nvPr/>
        </p:nvSpPr>
        <p:spPr>
          <a:xfrm>
            <a:off x="6578600" y="4622800"/>
            <a:ext cx="48768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E8792F"/>
                </a:solidFill>
                <a:latin typeface="Montserrat"/>
              </a:rPr>
              <a:t>SaaS · IDE web + orchestration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3848C93A-B39F-48CC-B994-244FB2251920}"/>
              </a:ext>
            </a:extLst>
          </p:cNvPr>
          <p:cNvSpPr txBox="1"/>
          <p:nvPr/>
        </p:nvSpPr>
        <p:spPr>
          <a:xfrm>
            <a:off x="6578600" y="4927600"/>
            <a:ext cx="4876800" cy="965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>
                <a:solidFill>
                  <a:srgbClr val="160D3D"/>
                </a:solidFill>
                <a:latin typeface="Montserrat"/>
              </a:rPr>
              <a:t>Hebergement geré, jobs schedules
CI/CD, alerting, RBAC
Payant a partir d'un certain seuil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5"/>
          </p:nvPr>
        </p:nvSpPr>
        <p:spPr>
          <a:xfrm>
            <a:off x="508000" y="0"/>
            <a:ext cx="11176000" cy="760021"/>
          </a:xfrm>
        </p:spPr>
        <p:txBody>
          <a:bodyPr/>
          <a:lstStyle/>
          <a:p>
            <a:pPr algn="ctr"/>
            <a:r>
              <a:rPr sz="2200" b="1">
                <a:solidFill>
                  <a:srgbClr val="160D3D"/>
                </a:solidFill>
                <a:latin typeface="Montserrat"/>
              </a:rPr>
              <a:t>Pourquoi dbt ?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4979017-2DE3-4613-9DA7-FF37A7CFADE0}"/>
              </a:ext>
            </a:extLst>
          </p:cNvPr>
          <p:cNvSpPr txBox="1"/>
          <p:nvPr/>
        </p:nvSpPr>
        <p:spPr>
          <a:xfrm>
            <a:off x="508000" y="1016000"/>
            <a:ext cx="1117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500" b="1">
                <a:solidFill>
                  <a:srgbClr val="160D3D"/>
                </a:solidFill>
                <a:latin typeface="Montserrat"/>
              </a:rPr>
              <a:t>5 benefices cles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DA343CFC-CB44-413A-A350-9B949CEC509B}"/>
              </a:ext>
            </a:extLst>
          </p:cNvPr>
          <p:cNvSpPr/>
          <p:nvPr/>
        </p:nvSpPr>
        <p:spPr>
          <a:xfrm>
            <a:off x="508000" y="1447800"/>
            <a:ext cx="2133600" cy="1905000"/>
          </a:xfrm>
          <a:prstGeom prst="roundRect">
            <a:avLst/>
          </a:prstGeom>
          <a:solidFill>
            <a:srgbClr val="F7F4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7FDBB656-68E8-4125-9F02-F0960AB6EE9B}"/>
              </a:ext>
            </a:extLst>
          </p:cNvPr>
          <p:cNvSpPr/>
          <p:nvPr/>
        </p:nvSpPr>
        <p:spPr>
          <a:xfrm>
            <a:off x="1386538" y="1625600"/>
            <a:ext cx="381000" cy="381000"/>
          </a:xfrm>
          <a:prstGeom prst="ellipse">
            <a:avLst/>
          </a:prstGeom>
          <a:solidFill>
            <a:srgbClr val="E879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fr-FR" sz="12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2DC868FE-7237-4236-854D-02253E05265B}"/>
              </a:ext>
            </a:extLst>
          </p:cNvPr>
          <p:cNvSpPr txBox="1"/>
          <p:nvPr/>
        </p:nvSpPr>
        <p:spPr>
          <a:xfrm>
            <a:off x="660400" y="2159000"/>
            <a:ext cx="18288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fr-FR" sz="1300" b="1">
                <a:solidFill>
                  <a:srgbClr val="160D3D"/>
                </a:solidFill>
                <a:latin typeface="Montserrat"/>
              </a:rPr>
              <a:t>DAG auto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7BFB94D3-794A-4B32-9D8E-02F886DB762B}"/>
              </a:ext>
            </a:extLst>
          </p:cNvPr>
          <p:cNvSpPr txBox="1"/>
          <p:nvPr/>
        </p:nvSpPr>
        <p:spPr>
          <a:xfrm>
            <a:off x="660400" y="2514600"/>
            <a:ext cx="18288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fr-FR" sz="1100">
                <a:solidFill>
                  <a:srgbClr val="160D3D"/>
                </a:solidFill>
                <a:latin typeface="Montserrat"/>
              </a:rPr>
              <a:t>ref() construit le graphe de dependances</a:t>
            </a: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0869137F-22E3-4DF4-A329-8CE63F79474A}"/>
              </a:ext>
            </a:extLst>
          </p:cNvPr>
          <p:cNvSpPr/>
          <p:nvPr/>
        </p:nvSpPr>
        <p:spPr>
          <a:xfrm>
            <a:off x="2768600" y="1447800"/>
            <a:ext cx="2133600" cy="1905000"/>
          </a:xfrm>
          <a:prstGeom prst="roundRect">
            <a:avLst/>
          </a:prstGeom>
          <a:solidFill>
            <a:srgbClr val="F7F4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550CF2E5-87D0-4DB5-95D0-1A315139538F}"/>
              </a:ext>
            </a:extLst>
          </p:cNvPr>
          <p:cNvSpPr/>
          <p:nvPr/>
        </p:nvSpPr>
        <p:spPr>
          <a:xfrm>
            <a:off x="3647138" y="1625600"/>
            <a:ext cx="381000" cy="381000"/>
          </a:xfrm>
          <a:prstGeom prst="ellipse">
            <a:avLst/>
          </a:prstGeom>
          <a:solidFill>
            <a:srgbClr val="E879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fr-FR" sz="12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5A4DF500-645E-48CF-8F7B-A073E170ACDB}"/>
              </a:ext>
            </a:extLst>
          </p:cNvPr>
          <p:cNvSpPr txBox="1"/>
          <p:nvPr/>
        </p:nvSpPr>
        <p:spPr>
          <a:xfrm>
            <a:off x="2921000" y="2159000"/>
            <a:ext cx="18288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fr-FR" sz="1300" b="1">
                <a:solidFill>
                  <a:srgbClr val="160D3D"/>
                </a:solidFill>
                <a:latin typeface="Montserrat"/>
              </a:rPr>
              <a:t>Tests integres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37E592BD-7672-4D0D-8D8A-347F8C02D88B}"/>
              </a:ext>
            </a:extLst>
          </p:cNvPr>
          <p:cNvSpPr txBox="1"/>
          <p:nvPr/>
        </p:nvSpPr>
        <p:spPr>
          <a:xfrm>
            <a:off x="2921000" y="2514600"/>
            <a:ext cx="18288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fr-FR" sz="1100">
                <a:solidFill>
                  <a:srgbClr val="160D3D"/>
                </a:solidFill>
                <a:latin typeface="Montserrat"/>
              </a:rPr>
              <a:t>unique, not_null, relationships...</a:t>
            </a: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D4FBD067-AE5A-4049-A969-CFF8E93D33CF}"/>
              </a:ext>
            </a:extLst>
          </p:cNvPr>
          <p:cNvSpPr/>
          <p:nvPr/>
        </p:nvSpPr>
        <p:spPr>
          <a:xfrm>
            <a:off x="5029200" y="1447800"/>
            <a:ext cx="2133600" cy="1905000"/>
          </a:xfrm>
          <a:prstGeom prst="roundRect">
            <a:avLst/>
          </a:prstGeom>
          <a:solidFill>
            <a:srgbClr val="F7F4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C53E6827-610C-4EC6-A4A6-D2D9E8061899}"/>
              </a:ext>
            </a:extLst>
          </p:cNvPr>
          <p:cNvSpPr/>
          <p:nvPr/>
        </p:nvSpPr>
        <p:spPr>
          <a:xfrm>
            <a:off x="5907738" y="1625600"/>
            <a:ext cx="381000" cy="381000"/>
          </a:xfrm>
          <a:prstGeom prst="ellipse">
            <a:avLst/>
          </a:prstGeom>
          <a:solidFill>
            <a:srgbClr val="E879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fr-FR" sz="12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A82D072D-C1D2-4E19-8978-863385B06D4B}"/>
              </a:ext>
            </a:extLst>
          </p:cNvPr>
          <p:cNvSpPr txBox="1"/>
          <p:nvPr/>
        </p:nvSpPr>
        <p:spPr>
          <a:xfrm>
            <a:off x="5181600" y="2159000"/>
            <a:ext cx="18288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fr-FR" sz="1300" b="1">
                <a:solidFill>
                  <a:srgbClr val="160D3D"/>
                </a:solidFill>
                <a:latin typeface="Montserrat"/>
              </a:rPr>
              <a:t>Doc auto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0B429D1F-78FC-484D-AB44-95FA8FFEB4C9}"/>
              </a:ext>
            </a:extLst>
          </p:cNvPr>
          <p:cNvSpPr txBox="1"/>
          <p:nvPr/>
        </p:nvSpPr>
        <p:spPr>
          <a:xfrm>
            <a:off x="5181600" y="2514600"/>
            <a:ext cx="18288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fr-FR" sz="1100">
                <a:solidFill>
                  <a:srgbClr val="160D3D"/>
                </a:solidFill>
                <a:latin typeface="Montserrat"/>
              </a:rPr>
              <a:t>Site genere depuis le code</a:t>
            </a: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113545A3-B0F0-4A8F-8BF9-D06987DE26A9}"/>
              </a:ext>
            </a:extLst>
          </p:cNvPr>
          <p:cNvSpPr/>
          <p:nvPr/>
        </p:nvSpPr>
        <p:spPr>
          <a:xfrm>
            <a:off x="7289800" y="1447800"/>
            <a:ext cx="2133600" cy="1905000"/>
          </a:xfrm>
          <a:prstGeom prst="roundRect">
            <a:avLst/>
          </a:prstGeom>
          <a:solidFill>
            <a:srgbClr val="F7F4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2BF30A52-1B54-4704-B370-09F226D9CE8E}"/>
              </a:ext>
            </a:extLst>
          </p:cNvPr>
          <p:cNvSpPr/>
          <p:nvPr/>
        </p:nvSpPr>
        <p:spPr>
          <a:xfrm>
            <a:off x="8168338" y="1625600"/>
            <a:ext cx="381000" cy="381000"/>
          </a:xfrm>
          <a:prstGeom prst="ellipse">
            <a:avLst/>
          </a:prstGeom>
          <a:solidFill>
            <a:srgbClr val="E879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fr-FR" sz="1200" b="1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91064354-B23A-463E-9101-54DB15A01F2D}"/>
              </a:ext>
            </a:extLst>
          </p:cNvPr>
          <p:cNvSpPr txBox="1"/>
          <p:nvPr/>
        </p:nvSpPr>
        <p:spPr>
          <a:xfrm>
            <a:off x="7442200" y="2159000"/>
            <a:ext cx="18288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fr-FR" sz="1300" b="1">
                <a:solidFill>
                  <a:srgbClr val="160D3D"/>
                </a:solidFill>
                <a:latin typeface="Montserrat"/>
              </a:rPr>
              <a:t>Git natif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8300556E-9E49-413A-9746-BDC2015FCCA3}"/>
              </a:ext>
            </a:extLst>
          </p:cNvPr>
          <p:cNvSpPr txBox="1"/>
          <p:nvPr/>
        </p:nvSpPr>
        <p:spPr>
          <a:xfrm>
            <a:off x="7442200" y="2514600"/>
            <a:ext cx="18288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fr-FR" sz="1100">
                <a:solidFill>
                  <a:srgbClr val="160D3D"/>
                </a:solidFill>
                <a:latin typeface="Montserrat"/>
              </a:rPr>
              <a:t>Versioning, branches, PR</a:t>
            </a:r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BF0AE1AD-4EAC-4C05-BD60-159D6F4969E8}"/>
              </a:ext>
            </a:extLst>
          </p:cNvPr>
          <p:cNvSpPr/>
          <p:nvPr/>
        </p:nvSpPr>
        <p:spPr>
          <a:xfrm>
            <a:off x="9550400" y="1447800"/>
            <a:ext cx="2133600" cy="1905000"/>
          </a:xfrm>
          <a:prstGeom prst="roundRect">
            <a:avLst/>
          </a:prstGeom>
          <a:solidFill>
            <a:srgbClr val="F7F4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74DB6491-C1E9-477D-9DB2-71BA3082572A}"/>
              </a:ext>
            </a:extLst>
          </p:cNvPr>
          <p:cNvSpPr/>
          <p:nvPr/>
        </p:nvSpPr>
        <p:spPr>
          <a:xfrm>
            <a:off x="10428938" y="1625600"/>
            <a:ext cx="381000" cy="381000"/>
          </a:xfrm>
          <a:prstGeom prst="ellipse">
            <a:avLst/>
          </a:prstGeom>
          <a:solidFill>
            <a:srgbClr val="E879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fr-FR" sz="1200" b="1">
                <a:solidFill>
                  <a:srgbClr val="FFFFFF"/>
                </a:solidFill>
                <a:latin typeface="Montserrat"/>
              </a:rPr>
              <a:t>5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485EA02B-1934-463B-BAEC-ACC6C4F6312B}"/>
              </a:ext>
            </a:extLst>
          </p:cNvPr>
          <p:cNvSpPr txBox="1"/>
          <p:nvPr/>
        </p:nvSpPr>
        <p:spPr>
          <a:xfrm>
            <a:off x="9702800" y="2159000"/>
            <a:ext cx="18288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fr-FR" sz="1300" b="1">
                <a:solidFill>
                  <a:srgbClr val="160D3D"/>
                </a:solidFill>
                <a:latin typeface="Montserrat"/>
              </a:rPr>
              <a:t>Jinja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7ABA3E11-B10E-4D54-9FBF-813F09A34072}"/>
              </a:ext>
            </a:extLst>
          </p:cNvPr>
          <p:cNvSpPr txBox="1"/>
          <p:nvPr/>
        </p:nvSpPr>
        <p:spPr>
          <a:xfrm>
            <a:off x="9702800" y="2514600"/>
            <a:ext cx="18288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fr-FR" sz="1100">
                <a:solidFill>
                  <a:srgbClr val="160D3D"/>
                </a:solidFill>
                <a:latin typeface="Montserrat"/>
              </a:rPr>
              <a:t>SQL modulaire et reutilisable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AF80DDDE-D3AF-4694-9A56-5AE3A1814B76}"/>
              </a:ext>
            </a:extLst>
          </p:cNvPr>
          <p:cNvSpPr txBox="1"/>
          <p:nvPr/>
        </p:nvSpPr>
        <p:spPr>
          <a:xfrm>
            <a:off x="508000" y="3657600"/>
            <a:ext cx="1117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500" b="1">
                <a:solidFill>
                  <a:srgbClr val="160D3D"/>
                </a:solidFill>
                <a:latin typeface="Montserrat"/>
              </a:rPr>
              <a:t>Place dans la stack data</a:t>
            </a:r>
          </a:p>
        </p:txBody>
      </p:sp>
      <p:sp>
        <p:nvSpPr>
          <p:cNvPr id="26" name="Rectangle : coins arrondis 25">
            <a:extLst>
              <a:ext uri="{FF2B5EF4-FFF2-40B4-BE49-F238E27FC236}">
                <a16:creationId xmlns:a16="http://schemas.microsoft.com/office/drawing/2014/main" id="{8B43ECF7-A1AB-4DBA-858C-9E247687B7C8}"/>
              </a:ext>
            </a:extLst>
          </p:cNvPr>
          <p:cNvSpPr/>
          <p:nvPr/>
        </p:nvSpPr>
        <p:spPr>
          <a:xfrm>
            <a:off x="508000" y="4089400"/>
            <a:ext cx="11176000" cy="1879600"/>
          </a:xfrm>
          <a:prstGeom prst="roundRect">
            <a:avLst/>
          </a:prstGeom>
          <a:solidFill>
            <a:srgbClr val="F7F4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6F3FBD97-E70B-44FF-A871-A48C4FE2A2AD}"/>
              </a:ext>
            </a:extLst>
          </p:cNvPr>
          <p:cNvSpPr/>
          <p:nvPr/>
        </p:nvSpPr>
        <p:spPr>
          <a:xfrm>
            <a:off x="1143000" y="4699000"/>
            <a:ext cx="1397000" cy="660400"/>
          </a:xfrm>
          <a:prstGeom prst="roundRect">
            <a:avLst/>
          </a:prstGeom>
          <a:solidFill>
            <a:srgbClr val="E8E3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200">
                <a:solidFill>
                  <a:srgbClr val="160D3D"/>
                </a:solidFill>
                <a:latin typeface="Montserrat"/>
              </a:rPr>
              <a:t>Sources</a:t>
            </a:r>
          </a:p>
        </p:txBody>
      </p:sp>
      <p:sp>
        <p:nvSpPr>
          <p:cNvPr id="28" name="Flèche : droite 27">
            <a:extLst>
              <a:ext uri="{FF2B5EF4-FFF2-40B4-BE49-F238E27FC236}">
                <a16:creationId xmlns:a16="http://schemas.microsoft.com/office/drawing/2014/main" id="{3AC0400C-ACFF-4B0E-960A-AA60EBB471EF}"/>
              </a:ext>
            </a:extLst>
          </p:cNvPr>
          <p:cNvSpPr/>
          <p:nvPr/>
        </p:nvSpPr>
        <p:spPr>
          <a:xfrm>
            <a:off x="2565400" y="4826000"/>
            <a:ext cx="254000" cy="406400"/>
          </a:xfrm>
          <a:prstGeom prst="rightArrow">
            <a:avLst/>
          </a:prstGeom>
          <a:solidFill>
            <a:srgbClr val="C9BDE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9" name="Rectangle : coins arrondis 28">
            <a:extLst>
              <a:ext uri="{FF2B5EF4-FFF2-40B4-BE49-F238E27FC236}">
                <a16:creationId xmlns:a16="http://schemas.microsoft.com/office/drawing/2014/main" id="{2536B970-D2A8-4B10-B29A-68D219594A6F}"/>
              </a:ext>
            </a:extLst>
          </p:cNvPr>
          <p:cNvSpPr/>
          <p:nvPr/>
        </p:nvSpPr>
        <p:spPr>
          <a:xfrm>
            <a:off x="2844800" y="4699000"/>
            <a:ext cx="1397000" cy="660400"/>
          </a:xfrm>
          <a:prstGeom prst="roundRect">
            <a:avLst/>
          </a:prstGeom>
          <a:solidFill>
            <a:srgbClr val="E8E3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200">
                <a:solidFill>
                  <a:srgbClr val="160D3D"/>
                </a:solidFill>
                <a:latin typeface="Montserrat"/>
              </a:rPr>
              <a:t>Fivetran</a:t>
            </a:r>
          </a:p>
        </p:txBody>
      </p:sp>
      <p:sp>
        <p:nvSpPr>
          <p:cNvPr id="30" name="Flèche : droite 29">
            <a:extLst>
              <a:ext uri="{FF2B5EF4-FFF2-40B4-BE49-F238E27FC236}">
                <a16:creationId xmlns:a16="http://schemas.microsoft.com/office/drawing/2014/main" id="{017E357C-9257-4785-B403-FDF3D9A8D59E}"/>
              </a:ext>
            </a:extLst>
          </p:cNvPr>
          <p:cNvSpPr/>
          <p:nvPr/>
        </p:nvSpPr>
        <p:spPr>
          <a:xfrm>
            <a:off x="4267200" y="4826000"/>
            <a:ext cx="254000" cy="406400"/>
          </a:xfrm>
          <a:prstGeom prst="rightArrow">
            <a:avLst/>
          </a:prstGeom>
          <a:solidFill>
            <a:srgbClr val="C9BDE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31" name="Rectangle : coins arrondis 30">
            <a:extLst>
              <a:ext uri="{FF2B5EF4-FFF2-40B4-BE49-F238E27FC236}">
                <a16:creationId xmlns:a16="http://schemas.microsoft.com/office/drawing/2014/main" id="{77B311D8-18E1-48A2-82EA-59DD57218AB2}"/>
              </a:ext>
            </a:extLst>
          </p:cNvPr>
          <p:cNvSpPr/>
          <p:nvPr/>
        </p:nvSpPr>
        <p:spPr>
          <a:xfrm>
            <a:off x="4546600" y="4699000"/>
            <a:ext cx="1397000" cy="660400"/>
          </a:xfrm>
          <a:prstGeom prst="roundRect">
            <a:avLst/>
          </a:prstGeom>
          <a:solidFill>
            <a:srgbClr val="E8E3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200">
                <a:solidFill>
                  <a:srgbClr val="160D3D"/>
                </a:solidFill>
                <a:latin typeface="Montserrat"/>
              </a:rPr>
              <a:t>Snowflake Raw</a:t>
            </a:r>
          </a:p>
        </p:txBody>
      </p:sp>
      <p:sp>
        <p:nvSpPr>
          <p:cNvPr id="32" name="Flèche : droite 31">
            <a:extLst>
              <a:ext uri="{FF2B5EF4-FFF2-40B4-BE49-F238E27FC236}">
                <a16:creationId xmlns:a16="http://schemas.microsoft.com/office/drawing/2014/main" id="{D1223499-1D45-486F-956D-C6A2DC9EAC94}"/>
              </a:ext>
            </a:extLst>
          </p:cNvPr>
          <p:cNvSpPr/>
          <p:nvPr/>
        </p:nvSpPr>
        <p:spPr>
          <a:xfrm>
            <a:off x="5969000" y="4826000"/>
            <a:ext cx="254000" cy="406400"/>
          </a:xfrm>
          <a:prstGeom prst="rightArrow">
            <a:avLst/>
          </a:prstGeom>
          <a:solidFill>
            <a:srgbClr val="C9BDE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33" name="Rectangle : coins arrondis 32">
            <a:extLst>
              <a:ext uri="{FF2B5EF4-FFF2-40B4-BE49-F238E27FC236}">
                <a16:creationId xmlns:a16="http://schemas.microsoft.com/office/drawing/2014/main" id="{9CCDC6CA-294B-43DE-830D-B04DE8148855}"/>
              </a:ext>
            </a:extLst>
          </p:cNvPr>
          <p:cNvSpPr/>
          <p:nvPr/>
        </p:nvSpPr>
        <p:spPr>
          <a:xfrm>
            <a:off x="6248400" y="4699000"/>
            <a:ext cx="1397000" cy="660400"/>
          </a:xfrm>
          <a:prstGeom prst="roundRect">
            <a:avLst/>
          </a:prstGeom>
          <a:solidFill>
            <a:srgbClr val="160D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300" b="1">
                <a:solidFill>
                  <a:srgbClr val="FFFFFF"/>
                </a:solidFill>
                <a:latin typeface="Montserrat"/>
              </a:rPr>
              <a:t>dbt</a:t>
            </a:r>
          </a:p>
        </p:txBody>
      </p:sp>
      <p:sp>
        <p:nvSpPr>
          <p:cNvPr id="34" name="Flèche : droite 33">
            <a:extLst>
              <a:ext uri="{FF2B5EF4-FFF2-40B4-BE49-F238E27FC236}">
                <a16:creationId xmlns:a16="http://schemas.microsoft.com/office/drawing/2014/main" id="{C45D540E-7EBF-4788-9B30-55D18EB1566F}"/>
              </a:ext>
            </a:extLst>
          </p:cNvPr>
          <p:cNvSpPr/>
          <p:nvPr/>
        </p:nvSpPr>
        <p:spPr>
          <a:xfrm>
            <a:off x="7670800" y="4826000"/>
            <a:ext cx="254000" cy="406400"/>
          </a:xfrm>
          <a:prstGeom prst="rightArrow">
            <a:avLst/>
          </a:prstGeom>
          <a:solidFill>
            <a:srgbClr val="C9BDE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35" name="Rectangle : coins arrondis 34">
            <a:extLst>
              <a:ext uri="{FF2B5EF4-FFF2-40B4-BE49-F238E27FC236}">
                <a16:creationId xmlns:a16="http://schemas.microsoft.com/office/drawing/2014/main" id="{884FBC58-B603-44F0-BFB8-A9248A2EB131}"/>
              </a:ext>
            </a:extLst>
          </p:cNvPr>
          <p:cNvSpPr/>
          <p:nvPr/>
        </p:nvSpPr>
        <p:spPr>
          <a:xfrm>
            <a:off x="7950200" y="4699000"/>
            <a:ext cx="1397000" cy="660400"/>
          </a:xfrm>
          <a:prstGeom prst="roundRect">
            <a:avLst/>
          </a:prstGeom>
          <a:solidFill>
            <a:srgbClr val="E8E3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200">
                <a:solidFill>
                  <a:srgbClr val="160D3D"/>
                </a:solidFill>
                <a:latin typeface="Montserrat"/>
              </a:rPr>
              <a:t>Analytics</a:t>
            </a:r>
          </a:p>
        </p:txBody>
      </p:sp>
      <p:sp>
        <p:nvSpPr>
          <p:cNvPr id="36" name="Flèche : droite 35">
            <a:extLst>
              <a:ext uri="{FF2B5EF4-FFF2-40B4-BE49-F238E27FC236}">
                <a16:creationId xmlns:a16="http://schemas.microsoft.com/office/drawing/2014/main" id="{07CEBC83-627E-44C2-966D-C39E02D5EBF2}"/>
              </a:ext>
            </a:extLst>
          </p:cNvPr>
          <p:cNvSpPr/>
          <p:nvPr/>
        </p:nvSpPr>
        <p:spPr>
          <a:xfrm>
            <a:off x="9372600" y="4826000"/>
            <a:ext cx="254000" cy="406400"/>
          </a:xfrm>
          <a:prstGeom prst="rightArrow">
            <a:avLst/>
          </a:prstGeom>
          <a:solidFill>
            <a:srgbClr val="C9BDE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37" name="Rectangle : coins arrondis 36">
            <a:extLst>
              <a:ext uri="{FF2B5EF4-FFF2-40B4-BE49-F238E27FC236}">
                <a16:creationId xmlns:a16="http://schemas.microsoft.com/office/drawing/2014/main" id="{E6A59723-A601-4709-83FD-282CDAF5905E}"/>
              </a:ext>
            </a:extLst>
          </p:cNvPr>
          <p:cNvSpPr/>
          <p:nvPr/>
        </p:nvSpPr>
        <p:spPr>
          <a:xfrm>
            <a:off x="9652000" y="4699000"/>
            <a:ext cx="1397000" cy="660400"/>
          </a:xfrm>
          <a:prstGeom prst="roundRect">
            <a:avLst/>
          </a:prstGeom>
          <a:solidFill>
            <a:srgbClr val="E8E3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200">
                <a:solidFill>
                  <a:srgbClr val="160D3D"/>
                </a:solidFill>
                <a:latin typeface="Montserrat"/>
              </a:rPr>
              <a:t>BI</a:t>
            </a:r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17DCCBAF-3BE0-41EF-BCE8-585CB16A6B42}"/>
              </a:ext>
            </a:extLst>
          </p:cNvPr>
          <p:cNvSpPr txBox="1"/>
          <p:nvPr/>
        </p:nvSpPr>
        <p:spPr>
          <a:xfrm>
            <a:off x="508000" y="5486400"/>
            <a:ext cx="11176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160D3D"/>
                </a:solidFill>
                <a:latin typeface="Montserrat"/>
              </a:rPr>
              <a:t>dbt orchestre les transformations entre la zone Raw et les tables analytiques.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5"/>
          </p:nvPr>
        </p:nvSpPr>
        <p:spPr>
          <a:xfrm>
            <a:off x="508000" y="0"/>
            <a:ext cx="11176000" cy="760021"/>
          </a:xfrm>
        </p:spPr>
        <p:txBody>
          <a:bodyPr/>
          <a:lstStyle/>
          <a:p>
            <a:pPr algn="ctr"/>
            <a:r>
              <a:rPr sz="2200" b="1" dirty="0">
                <a:solidFill>
                  <a:srgbClr val="160D3D"/>
                </a:solidFill>
                <a:latin typeface="Montserrat"/>
              </a:rPr>
              <a:t>Le dataset TPCH_SF1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00000" y="2235200"/>
            <a:ext cx="5200000" cy="2882900"/>
          </a:xfrm>
          <a:prstGeom prst="rect">
            <a:avLst/>
          </a:prstGeom>
          <a:solidFill>
            <a:srgbClr val="0A1730"/>
          </a:solidFill>
          <a:ln w="12700" cap="flat" cmpd="sng" algn="ctr">
            <a:noFill/>
            <a:prstDash val="solid"/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3350" tIns="228600" bIns="152400" rtlCol="0" anchor="t" anchorCtr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 lang="fr-FR" sz="900" i="1" dirty="0">
              <a:solidFill>
                <a:srgbClr val="6B7BA8"/>
              </a:solidFill>
              <a:latin typeface="Courier New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lang="fr-FR" sz="900" i="1" dirty="0">
              <a:solidFill>
                <a:srgbClr val="6B7BA8"/>
              </a:solidFill>
              <a:latin typeface="Courier New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i="1" dirty="0">
                <a:solidFill>
                  <a:srgbClr val="6B7BA8"/>
                </a:solidFill>
                <a:latin typeface="Courier New"/>
              </a:rPr>
              <a:t>-- Explorer les donnees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b="1" dirty="0">
                <a:solidFill>
                  <a:srgbClr val="9D88FF"/>
                </a:solidFill>
                <a:latin typeface="Courier New"/>
              </a:rPr>
              <a:t>SELECT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</a:t>
            </a:r>
            <a:r>
              <a:rPr lang="fr-FR" sz="900" dirty="0">
                <a:solidFill>
                  <a:srgbClr val="FFA76B"/>
                </a:solidFill>
                <a:latin typeface="Courier New"/>
              </a:rPr>
              <a:t>'CUSTOMER'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AS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tbl,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 </a:t>
            </a:r>
            <a:r>
              <a:rPr lang="fr-FR" sz="900" b="1" dirty="0">
                <a:solidFill>
                  <a:srgbClr val="7DB3FF"/>
                </a:solidFill>
                <a:latin typeface="Courier New"/>
              </a:rPr>
              <a:t>COUNT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(*)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AS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cnt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b="1" dirty="0">
                <a:solidFill>
                  <a:srgbClr val="9D88FF"/>
                </a:solidFill>
                <a:latin typeface="Courier New"/>
              </a:rPr>
              <a:t>FROM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SNOWFLAKE_SAMPLE_DATA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.TPCH_SF1.CUSTOMER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b="1" dirty="0">
                <a:solidFill>
                  <a:srgbClr val="9D88FF"/>
                </a:solidFill>
                <a:latin typeface="Courier New"/>
              </a:rPr>
              <a:t>UNION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ALL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b="1" dirty="0">
                <a:solidFill>
                  <a:srgbClr val="9D88FF"/>
                </a:solidFill>
                <a:latin typeface="Courier New"/>
              </a:rPr>
              <a:t>SELECT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</a:t>
            </a:r>
            <a:r>
              <a:rPr lang="fr-FR" sz="900" dirty="0">
                <a:solidFill>
                  <a:srgbClr val="FFA76B"/>
                </a:solidFill>
                <a:latin typeface="Courier New"/>
              </a:rPr>
              <a:t>'ORDERS'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, </a:t>
            </a:r>
            <a:r>
              <a:rPr lang="fr-FR" sz="900" b="1" dirty="0">
                <a:solidFill>
                  <a:srgbClr val="7DB3FF"/>
                </a:solidFill>
                <a:latin typeface="Courier New"/>
              </a:rPr>
              <a:t>COUNT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(*)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b="1" dirty="0">
                <a:solidFill>
                  <a:srgbClr val="9D88FF"/>
                </a:solidFill>
                <a:latin typeface="Courier New"/>
              </a:rPr>
              <a:t>FROM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SNOWFLAKE_SAMPLE_DATA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.TPCH_SF1.ORDERS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b="1" dirty="0">
                <a:solidFill>
                  <a:srgbClr val="9D88FF"/>
                </a:solidFill>
                <a:latin typeface="Courier New"/>
              </a:rPr>
              <a:t>UNION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ALL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b="1" dirty="0">
                <a:solidFill>
                  <a:srgbClr val="9D88FF"/>
                </a:solidFill>
                <a:latin typeface="Courier New"/>
              </a:rPr>
              <a:t>SELECT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</a:t>
            </a:r>
            <a:r>
              <a:rPr lang="fr-FR" sz="900" dirty="0">
                <a:solidFill>
                  <a:srgbClr val="FFA76B"/>
                </a:solidFill>
                <a:latin typeface="Courier New"/>
              </a:rPr>
              <a:t>'LINEITEM'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, </a:t>
            </a:r>
            <a:r>
              <a:rPr lang="fr-FR" sz="900" b="1" dirty="0">
                <a:solidFill>
                  <a:srgbClr val="7DB3FF"/>
                </a:solidFill>
                <a:latin typeface="Courier New"/>
              </a:rPr>
              <a:t>COUNT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(*)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b="1" dirty="0">
                <a:solidFill>
                  <a:srgbClr val="9D88FF"/>
                </a:solidFill>
                <a:latin typeface="Courier New"/>
              </a:rPr>
              <a:t>FROM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SNOWFLAKE_SAMPLE_DATA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.TPCH_SF1.LINEITEM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b="1" dirty="0">
                <a:solidFill>
                  <a:srgbClr val="9D88FF"/>
                </a:solidFill>
                <a:latin typeface="Courier New"/>
              </a:rPr>
              <a:t>ORDER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BY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cnt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DESC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;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3E5C7D6-A739-45D6-8CCC-B031948B35FE}"/>
              </a:ext>
            </a:extLst>
          </p:cNvPr>
          <p:cNvSpPr txBox="1"/>
          <p:nvPr/>
        </p:nvSpPr>
        <p:spPr>
          <a:xfrm>
            <a:off x="508000" y="1079500"/>
            <a:ext cx="584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600" b="1">
                <a:solidFill>
                  <a:srgbClr val="160D3D"/>
                </a:solidFill>
                <a:latin typeface="Montserrat"/>
              </a:rPr>
              <a:t>Schéma de données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25C4C0F9-B96D-46B5-9683-D9F5367F7210}"/>
              </a:ext>
            </a:extLst>
          </p:cNvPr>
          <p:cNvSpPr/>
          <p:nvPr/>
        </p:nvSpPr>
        <p:spPr>
          <a:xfrm>
            <a:off x="508000" y="1587500"/>
            <a:ext cx="1651000" cy="635000"/>
          </a:xfrm>
          <a:prstGeom prst="roundRect">
            <a:avLst/>
          </a:prstGeom>
          <a:solidFill>
            <a:srgbClr val="E8E3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0" tIns="36000" rIns="0" bIns="36000" rtlCol="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lang="fr-FR" sz="1100" b="1" dirty="0">
                <a:solidFill>
                  <a:srgbClr val="160D3D"/>
                </a:solidFill>
                <a:latin typeface="Montserrat"/>
              </a:rPr>
              <a:t>REGION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5B4F8C"/>
                </a:solidFill>
                <a:latin typeface="Montserrat"/>
              </a:rPr>
              <a:t>5 lignes</a:t>
            </a:r>
          </a:p>
        </p:txBody>
      </p:sp>
      <p:sp>
        <p:nvSpPr>
          <p:cNvPr id="7" name="Flèche : droite 6">
            <a:extLst>
              <a:ext uri="{FF2B5EF4-FFF2-40B4-BE49-F238E27FC236}">
                <a16:creationId xmlns:a16="http://schemas.microsoft.com/office/drawing/2014/main" id="{2088D583-8365-4ABF-B0D7-EB10487DD081}"/>
              </a:ext>
            </a:extLst>
          </p:cNvPr>
          <p:cNvSpPr/>
          <p:nvPr/>
        </p:nvSpPr>
        <p:spPr>
          <a:xfrm>
            <a:off x="2209800" y="1587500"/>
            <a:ext cx="355600" cy="635000"/>
          </a:xfrm>
          <a:prstGeom prst="rightArrow">
            <a:avLst/>
          </a:prstGeom>
          <a:solidFill>
            <a:srgbClr val="C9BDE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8A7E3E88-70F6-4885-A6E6-16CF8A7C0D7C}"/>
              </a:ext>
            </a:extLst>
          </p:cNvPr>
          <p:cNvSpPr/>
          <p:nvPr/>
        </p:nvSpPr>
        <p:spPr>
          <a:xfrm>
            <a:off x="2616200" y="1587500"/>
            <a:ext cx="1651000" cy="635000"/>
          </a:xfrm>
          <a:prstGeom prst="roundRect">
            <a:avLst/>
          </a:prstGeom>
          <a:solidFill>
            <a:srgbClr val="E8E3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0" tIns="36000" rIns="0" bIns="36000" rtlCol="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lang="fr-FR" sz="1100" b="1" dirty="0">
                <a:solidFill>
                  <a:srgbClr val="160D3D"/>
                </a:solidFill>
                <a:latin typeface="Montserrat"/>
              </a:rPr>
              <a:t>NATION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5B4F8C"/>
                </a:solidFill>
                <a:latin typeface="Montserrat"/>
              </a:rPr>
              <a:t>25 lignes</a:t>
            </a:r>
          </a:p>
        </p:txBody>
      </p:sp>
      <p:sp>
        <p:nvSpPr>
          <p:cNvPr id="9" name="Flèche : droite 8">
            <a:extLst>
              <a:ext uri="{FF2B5EF4-FFF2-40B4-BE49-F238E27FC236}">
                <a16:creationId xmlns:a16="http://schemas.microsoft.com/office/drawing/2014/main" id="{EC40CE50-E49F-4B0C-A21D-9F26F605AFA6}"/>
              </a:ext>
            </a:extLst>
          </p:cNvPr>
          <p:cNvSpPr/>
          <p:nvPr/>
        </p:nvSpPr>
        <p:spPr>
          <a:xfrm>
            <a:off x="4318000" y="1587500"/>
            <a:ext cx="355600" cy="635000"/>
          </a:xfrm>
          <a:prstGeom prst="rightArrow">
            <a:avLst/>
          </a:prstGeom>
          <a:solidFill>
            <a:srgbClr val="C9BDE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7B5B5F7C-588F-4DA9-91CB-3F1A10CEF0EF}"/>
              </a:ext>
            </a:extLst>
          </p:cNvPr>
          <p:cNvSpPr/>
          <p:nvPr/>
        </p:nvSpPr>
        <p:spPr>
          <a:xfrm>
            <a:off x="4724400" y="1587500"/>
            <a:ext cx="1651000" cy="635000"/>
          </a:xfrm>
          <a:prstGeom prst="roundRect">
            <a:avLst/>
          </a:prstGeom>
          <a:solidFill>
            <a:srgbClr val="160D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0" tIns="36000" rIns="0" bIns="36000" rtlCol="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lang="fr-FR" sz="1100" b="1" dirty="0">
                <a:solidFill>
                  <a:srgbClr val="FFFFFF"/>
                </a:solidFill>
                <a:latin typeface="Montserrat"/>
              </a:rPr>
              <a:t>CUSTOMER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3FF"/>
                </a:solidFill>
                <a:latin typeface="Montserrat"/>
              </a:rPr>
              <a:t>150K</a:t>
            </a: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278924F6-F7E8-440E-8E0C-353C79011D9F}"/>
              </a:ext>
            </a:extLst>
          </p:cNvPr>
          <p:cNvSpPr/>
          <p:nvPr/>
        </p:nvSpPr>
        <p:spPr>
          <a:xfrm>
            <a:off x="508000" y="2476500"/>
            <a:ext cx="1651000" cy="635000"/>
          </a:xfrm>
          <a:prstGeom prst="roundRect">
            <a:avLst/>
          </a:prstGeom>
          <a:solidFill>
            <a:srgbClr val="FFE2C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0" tIns="36000" rIns="0" bIns="36000" rtlCol="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lang="fr-FR" sz="1100" b="1" dirty="0">
                <a:solidFill>
                  <a:srgbClr val="160D3D"/>
                </a:solidFill>
                <a:latin typeface="Montserrat"/>
              </a:rPr>
              <a:t>CUSTOMER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8C5A2E"/>
                </a:solidFill>
                <a:latin typeface="Montserrat"/>
              </a:rPr>
              <a:t>150K</a:t>
            </a:r>
          </a:p>
        </p:txBody>
      </p:sp>
      <p:sp>
        <p:nvSpPr>
          <p:cNvPr id="12" name="Flèche : droite 11">
            <a:extLst>
              <a:ext uri="{FF2B5EF4-FFF2-40B4-BE49-F238E27FC236}">
                <a16:creationId xmlns:a16="http://schemas.microsoft.com/office/drawing/2014/main" id="{E766B75E-3437-411B-95BE-E3A1D53CE337}"/>
              </a:ext>
            </a:extLst>
          </p:cNvPr>
          <p:cNvSpPr/>
          <p:nvPr/>
        </p:nvSpPr>
        <p:spPr>
          <a:xfrm>
            <a:off x="2209800" y="2476500"/>
            <a:ext cx="355600" cy="635000"/>
          </a:xfrm>
          <a:prstGeom prst="rightArrow">
            <a:avLst/>
          </a:prstGeom>
          <a:solidFill>
            <a:srgbClr val="FFB8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EAF58DA2-2510-4AB9-A6EA-C975C6614D2B}"/>
              </a:ext>
            </a:extLst>
          </p:cNvPr>
          <p:cNvSpPr/>
          <p:nvPr/>
        </p:nvSpPr>
        <p:spPr>
          <a:xfrm>
            <a:off x="2616200" y="2476500"/>
            <a:ext cx="1651000" cy="635000"/>
          </a:xfrm>
          <a:prstGeom prst="roundRect">
            <a:avLst/>
          </a:prstGeom>
          <a:solidFill>
            <a:srgbClr val="FFE2C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0" tIns="36000" rIns="0" bIns="36000" rtlCol="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lang="fr-FR" sz="1100" b="1" dirty="0">
                <a:solidFill>
                  <a:srgbClr val="160D3D"/>
                </a:solidFill>
                <a:latin typeface="Montserrat"/>
              </a:rPr>
              <a:t>ORDERS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8C5A2E"/>
                </a:solidFill>
                <a:latin typeface="Montserrat"/>
              </a:rPr>
              <a:t>1.5M</a:t>
            </a:r>
          </a:p>
        </p:txBody>
      </p:sp>
      <p:sp>
        <p:nvSpPr>
          <p:cNvPr id="14" name="Flèche : droite 13">
            <a:extLst>
              <a:ext uri="{FF2B5EF4-FFF2-40B4-BE49-F238E27FC236}">
                <a16:creationId xmlns:a16="http://schemas.microsoft.com/office/drawing/2014/main" id="{87485ED6-F01D-4D86-929D-CDFF21317C43}"/>
              </a:ext>
            </a:extLst>
          </p:cNvPr>
          <p:cNvSpPr/>
          <p:nvPr/>
        </p:nvSpPr>
        <p:spPr>
          <a:xfrm>
            <a:off x="4318000" y="2476500"/>
            <a:ext cx="355600" cy="635000"/>
          </a:xfrm>
          <a:prstGeom prst="rightArrow">
            <a:avLst/>
          </a:prstGeom>
          <a:solidFill>
            <a:srgbClr val="FFB8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DF05BF27-190E-4FF6-A029-412EAE17044F}"/>
              </a:ext>
            </a:extLst>
          </p:cNvPr>
          <p:cNvSpPr/>
          <p:nvPr/>
        </p:nvSpPr>
        <p:spPr>
          <a:xfrm>
            <a:off x="4724400" y="2476500"/>
            <a:ext cx="1651000" cy="635000"/>
          </a:xfrm>
          <a:prstGeom prst="roundRect">
            <a:avLst/>
          </a:prstGeom>
          <a:solidFill>
            <a:srgbClr val="E879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0" tIns="36000" rIns="0" bIns="36000" rtlCol="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lang="fr-FR" sz="1100" b="1" dirty="0">
                <a:solidFill>
                  <a:srgbClr val="FFFFFF"/>
                </a:solidFill>
                <a:latin typeface="Montserrat"/>
              </a:rPr>
              <a:t>LINEITEM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FFE2CC"/>
                </a:solidFill>
                <a:latin typeface="Montserrat"/>
              </a:rPr>
              <a:t>6M</a:t>
            </a: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45A8DDCD-4331-46D7-9811-CE82C6CF8A22}"/>
              </a:ext>
            </a:extLst>
          </p:cNvPr>
          <p:cNvSpPr/>
          <p:nvPr/>
        </p:nvSpPr>
        <p:spPr>
          <a:xfrm>
            <a:off x="508000" y="3365500"/>
            <a:ext cx="1651000" cy="635000"/>
          </a:xfrm>
          <a:prstGeom prst="roundRect">
            <a:avLst/>
          </a:prstGeom>
          <a:solidFill>
            <a:srgbClr val="D6F5E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0" tIns="36000" rIns="0" bIns="36000" rtlCol="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lang="fr-FR" sz="1100" b="1" dirty="0">
                <a:solidFill>
                  <a:srgbClr val="160D3D"/>
                </a:solidFill>
                <a:latin typeface="Montserrat"/>
              </a:rPr>
              <a:t>SUPPLIER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2E6B45"/>
                </a:solidFill>
                <a:latin typeface="Montserrat"/>
              </a:rPr>
              <a:t>10K</a:t>
            </a:r>
          </a:p>
        </p:txBody>
      </p:sp>
      <p:sp>
        <p:nvSpPr>
          <p:cNvPr id="17" name="Flèche : droite 16">
            <a:extLst>
              <a:ext uri="{FF2B5EF4-FFF2-40B4-BE49-F238E27FC236}">
                <a16:creationId xmlns:a16="http://schemas.microsoft.com/office/drawing/2014/main" id="{9284AA6F-CCD7-48FD-BD9C-D14AF19E1715}"/>
              </a:ext>
            </a:extLst>
          </p:cNvPr>
          <p:cNvSpPr/>
          <p:nvPr/>
        </p:nvSpPr>
        <p:spPr>
          <a:xfrm>
            <a:off x="2209800" y="3365500"/>
            <a:ext cx="355600" cy="635000"/>
          </a:xfrm>
          <a:prstGeom prst="rightArrow">
            <a:avLst/>
          </a:prstGeom>
          <a:solidFill>
            <a:srgbClr val="8FD5A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41ECCCC3-7C41-402D-BB97-4ABBC1AA7D84}"/>
              </a:ext>
            </a:extLst>
          </p:cNvPr>
          <p:cNvSpPr/>
          <p:nvPr/>
        </p:nvSpPr>
        <p:spPr>
          <a:xfrm>
            <a:off x="2616200" y="3365500"/>
            <a:ext cx="1651000" cy="635000"/>
          </a:xfrm>
          <a:prstGeom prst="roundRect">
            <a:avLst/>
          </a:prstGeom>
          <a:solidFill>
            <a:srgbClr val="D6F5E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0" tIns="36000" rIns="0" bIns="36000" rtlCol="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lang="fr-FR" sz="1100" b="1" dirty="0">
                <a:solidFill>
                  <a:srgbClr val="160D3D"/>
                </a:solidFill>
                <a:latin typeface="Montserrat"/>
              </a:rPr>
              <a:t>PARTSUPP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2E6B45"/>
                </a:solidFill>
                <a:latin typeface="Montserrat"/>
              </a:rPr>
              <a:t>800K</a:t>
            </a:r>
          </a:p>
        </p:txBody>
      </p:sp>
      <p:sp>
        <p:nvSpPr>
          <p:cNvPr id="19" name="Flèche : droite 18">
            <a:extLst>
              <a:ext uri="{FF2B5EF4-FFF2-40B4-BE49-F238E27FC236}">
                <a16:creationId xmlns:a16="http://schemas.microsoft.com/office/drawing/2014/main" id="{15DA7B36-B945-45BA-B34D-21FF65AF1DC8}"/>
              </a:ext>
            </a:extLst>
          </p:cNvPr>
          <p:cNvSpPr/>
          <p:nvPr/>
        </p:nvSpPr>
        <p:spPr>
          <a:xfrm>
            <a:off x="4318000" y="3365500"/>
            <a:ext cx="355600" cy="635000"/>
          </a:xfrm>
          <a:prstGeom prst="rightArrow">
            <a:avLst/>
          </a:prstGeom>
          <a:solidFill>
            <a:srgbClr val="8FD5A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9DB56C57-F2DD-48DA-916D-E60DF697AE8C}"/>
              </a:ext>
            </a:extLst>
          </p:cNvPr>
          <p:cNvSpPr/>
          <p:nvPr/>
        </p:nvSpPr>
        <p:spPr>
          <a:xfrm>
            <a:off x="4724400" y="3365500"/>
            <a:ext cx="1651000" cy="635000"/>
          </a:xfrm>
          <a:prstGeom prst="roundRect">
            <a:avLst/>
          </a:prstGeom>
          <a:solidFill>
            <a:srgbClr val="2E9B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square" lIns="0" tIns="36000" rIns="0" bIns="36000" rtlCol="0" anchor="ctr" anchorCtr="0">
            <a:no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lang="fr-FR" sz="1100" b="1" dirty="0">
                <a:solidFill>
                  <a:srgbClr val="FFFFFF"/>
                </a:solidFill>
                <a:latin typeface="Montserrat"/>
              </a:rPr>
              <a:t>PART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D6F5E2"/>
                </a:solidFill>
                <a:latin typeface="Montserrat"/>
              </a:rPr>
              <a:t>200K</a:t>
            </a:r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BFB96A41-4B6E-4EBA-921F-68EF2D464005}"/>
              </a:ext>
            </a:extLst>
          </p:cNvPr>
          <p:cNvSpPr/>
          <p:nvPr/>
        </p:nvSpPr>
        <p:spPr>
          <a:xfrm>
            <a:off x="508000" y="4381500"/>
            <a:ext cx="5842000" cy="1651000"/>
          </a:xfrm>
          <a:prstGeom prst="roundRect">
            <a:avLst/>
          </a:prstGeom>
          <a:solidFill>
            <a:srgbClr val="F7F4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3CDE1139-6C78-4AF1-801A-A44DD3F5617D}"/>
              </a:ext>
            </a:extLst>
          </p:cNvPr>
          <p:cNvSpPr txBox="1"/>
          <p:nvPr/>
        </p:nvSpPr>
        <p:spPr>
          <a:xfrm>
            <a:off x="1397000" y="4584700"/>
            <a:ext cx="4699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 b="1">
                <a:solidFill>
                  <a:srgbClr val="160D3D"/>
                </a:solidFill>
                <a:latin typeface="Montserrat"/>
              </a:rPr>
              <a:t>Domaine métier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012C0AB0-EBD2-485A-AA80-71094DAD51FB}"/>
              </a:ext>
            </a:extLst>
          </p:cNvPr>
          <p:cNvSpPr txBox="1"/>
          <p:nvPr/>
        </p:nvSpPr>
        <p:spPr>
          <a:xfrm>
            <a:off x="1397000" y="4940300"/>
            <a:ext cx="4699000" cy="889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>
                <a:solidFill>
                  <a:srgbClr val="160D3D"/>
                </a:solidFill>
                <a:latin typeface="Montserrat"/>
              </a:rPr>
              <a:t>Distributeur de pièces détachées
Clients · Commandes · Fournisseurs · Stocks</a:t>
            </a:r>
          </a:p>
        </p:txBody>
      </p:sp>
      <p:pic>
        <p:nvPicPr>
          <p:cNvPr id="24" name="Graphic 24" descr="Icône métier distributeur de pièces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11200" y="4762500"/>
            <a:ext cx="508000" cy="508000"/>
          </a:xfrm>
          <a:prstGeom prst="rect">
            <a:avLst/>
          </a:prstGeom>
        </p:spPr>
      </p:pic>
      <p:sp>
        <p:nvSpPr>
          <p:cNvPr id="25" name="ZoneTexte 24">
            <a:extLst>
              <a:ext uri="{FF2B5EF4-FFF2-40B4-BE49-F238E27FC236}">
                <a16:creationId xmlns:a16="http://schemas.microsoft.com/office/drawing/2014/main" id="{66AF9FDE-ADF5-4077-BC99-018091B3025A}"/>
              </a:ext>
            </a:extLst>
          </p:cNvPr>
          <p:cNvSpPr txBox="1"/>
          <p:nvPr/>
        </p:nvSpPr>
        <p:spPr>
          <a:xfrm>
            <a:off x="9768000" y="2362200"/>
            <a:ext cx="1879600" cy="2286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fr-FR" sz="800" b="1">
                <a:solidFill>
                  <a:srgbClr val="7A7290"/>
                </a:solidFill>
                <a:latin typeface="Montserrat"/>
              </a:rPr>
              <a:t>EXPLORATION SQL</a:t>
            </a:r>
          </a:p>
        </p:txBody>
      </p:sp>
    </p:spTree>
    <p:extLst>
      <p:ext uri="{BB962C8B-B14F-4D97-AF65-F5344CB8AC3E}">
        <p14:creationId xmlns:p14="http://schemas.microsoft.com/office/powerpoint/2010/main" val="417044738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5"/>
          </p:nvPr>
        </p:nvSpPr>
        <p:spPr>
          <a:xfrm>
            <a:off x="508000" y="0"/>
            <a:ext cx="11176000" cy="760021"/>
          </a:xfrm>
        </p:spPr>
        <p:txBody>
          <a:bodyPr/>
          <a:lstStyle/>
          <a:p>
            <a:pPr algn="ctr"/>
            <a:r>
              <a:rPr sz="2200" b="1">
                <a:solidFill>
                  <a:srgbClr val="160D3D"/>
                </a:solidFill>
                <a:latin typeface="Montserrat"/>
              </a:rPr>
              <a:t>Architecture du projet en 3 couches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FEE5DD9F-360F-4BD8-A3CD-69DE1E9CEA62}"/>
              </a:ext>
            </a:extLst>
          </p:cNvPr>
          <p:cNvSpPr txBox="1"/>
          <p:nvPr/>
        </p:nvSpPr>
        <p:spPr>
          <a:xfrm>
            <a:off x="508000" y="1016000"/>
            <a:ext cx="1117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500" b="1">
                <a:solidFill>
                  <a:srgbClr val="160D3D"/>
                </a:solidFill>
                <a:latin typeface="Montserrat"/>
              </a:rPr>
              <a:t>Un pipeline en 3 couches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4799FE59-9B77-414C-A784-B3D2621F3D1A}"/>
              </a:ext>
            </a:extLst>
          </p:cNvPr>
          <p:cNvSpPr/>
          <p:nvPr/>
        </p:nvSpPr>
        <p:spPr>
          <a:xfrm>
            <a:off x="508000" y="1443318"/>
            <a:ext cx="3556000" cy="660400"/>
          </a:xfrm>
          <a:prstGeom prst="roundRect">
            <a:avLst/>
          </a:prstGeom>
          <a:solidFill>
            <a:srgbClr val="160D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BF175F60-8092-4C6B-8658-D15743D6F5ED}"/>
              </a:ext>
            </a:extLst>
          </p:cNvPr>
          <p:cNvSpPr txBox="1"/>
          <p:nvPr/>
        </p:nvSpPr>
        <p:spPr>
          <a:xfrm>
            <a:off x="736600" y="1507570"/>
            <a:ext cx="30988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fr-FR" b="1">
                <a:solidFill>
                  <a:srgbClr val="FFFFFF"/>
                </a:solidFill>
                <a:latin typeface="Montserrat"/>
              </a:rPr>
              <a:t>Staging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0D6BC692-85AB-4415-817E-44467080B91C}"/>
              </a:ext>
            </a:extLst>
          </p:cNvPr>
          <p:cNvSpPr txBox="1"/>
          <p:nvPr/>
        </p:nvSpPr>
        <p:spPr>
          <a:xfrm>
            <a:off x="736600" y="1812370"/>
            <a:ext cx="30988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fr-FR" sz="1100">
                <a:solidFill>
                  <a:srgbClr val="FFFFFF"/>
                </a:solidFill>
                <a:latin typeface="Montserrat"/>
              </a:rPr>
              <a:t>Vues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76F53831-0705-4E2C-8D42-11DDDD2A9B8D}"/>
              </a:ext>
            </a:extLst>
          </p:cNvPr>
          <p:cNvSpPr/>
          <p:nvPr/>
        </p:nvSpPr>
        <p:spPr>
          <a:xfrm>
            <a:off x="508000" y="2108200"/>
            <a:ext cx="3556000" cy="3657600"/>
          </a:xfrm>
          <a:prstGeom prst="roundRect">
            <a:avLst/>
          </a:prstGeom>
          <a:solidFill>
            <a:srgbClr val="F7F4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clip" horzOverflow="clip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endParaRPr lang="fr-FR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72850E7A-A20A-47BD-B67A-E8A13D7FE70C}"/>
              </a:ext>
            </a:extLst>
          </p:cNvPr>
          <p:cNvSpPr/>
          <p:nvPr/>
        </p:nvSpPr>
        <p:spPr>
          <a:xfrm>
            <a:off x="736600" y="2682683"/>
            <a:ext cx="76200" cy="76200"/>
          </a:xfrm>
          <a:prstGeom prst="ellipse">
            <a:avLst/>
          </a:prstGeom>
          <a:solidFill>
            <a:srgbClr val="160D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A80E867A-782B-49F0-AD46-26BD8D4A5DCD}"/>
              </a:ext>
            </a:extLst>
          </p:cNvPr>
          <p:cNvSpPr txBox="1"/>
          <p:nvPr/>
        </p:nvSpPr>
        <p:spPr>
          <a:xfrm>
            <a:off x="914400" y="2619183"/>
            <a:ext cx="2921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>
                <a:solidFill>
                  <a:srgbClr val="160D3D"/>
                </a:solidFill>
                <a:latin typeface="Montserrat"/>
              </a:rPr>
              <a:t>1 modele = 1 table source</a:t>
            </a: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93114609-8E19-4A48-9987-21A05D25DF72}"/>
              </a:ext>
            </a:extLst>
          </p:cNvPr>
          <p:cNvSpPr/>
          <p:nvPr/>
        </p:nvSpPr>
        <p:spPr>
          <a:xfrm>
            <a:off x="736600" y="3241483"/>
            <a:ext cx="76200" cy="76200"/>
          </a:xfrm>
          <a:prstGeom prst="ellipse">
            <a:avLst/>
          </a:prstGeom>
          <a:solidFill>
            <a:srgbClr val="160D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86EED7FB-7441-417B-8AA7-C57AEC9E3B3B}"/>
              </a:ext>
            </a:extLst>
          </p:cNvPr>
          <p:cNvSpPr txBox="1"/>
          <p:nvPr/>
        </p:nvSpPr>
        <p:spPr>
          <a:xfrm>
            <a:off x="914400" y="3177983"/>
            <a:ext cx="2921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>
                <a:solidFill>
                  <a:srgbClr val="160D3D"/>
                </a:solidFill>
                <a:latin typeface="Montserrat"/>
              </a:rPr>
              <a:t>Renommage, cast, nettoyage</a:t>
            </a: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470602E0-071A-4D09-B33E-AB5EC5F677F0}"/>
              </a:ext>
            </a:extLst>
          </p:cNvPr>
          <p:cNvSpPr/>
          <p:nvPr/>
        </p:nvSpPr>
        <p:spPr>
          <a:xfrm>
            <a:off x="736600" y="3800283"/>
            <a:ext cx="76200" cy="76200"/>
          </a:xfrm>
          <a:prstGeom prst="ellipse">
            <a:avLst/>
          </a:prstGeom>
          <a:solidFill>
            <a:srgbClr val="160D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409E53FA-BF2F-4EC3-B09E-620E3B8B9752}"/>
              </a:ext>
            </a:extLst>
          </p:cNvPr>
          <p:cNvSpPr txBox="1"/>
          <p:nvPr/>
        </p:nvSpPr>
        <p:spPr>
          <a:xfrm>
            <a:off x="914400" y="3736783"/>
            <a:ext cx="2921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>
                <a:solidFill>
                  <a:srgbClr val="160D3D"/>
                </a:solidFill>
                <a:latin typeface="Montserrat"/>
              </a:rPr>
              <a:t>Aucune logique metier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EFCCFED-2C62-448E-A350-C0BDAECF0E1B}"/>
              </a:ext>
            </a:extLst>
          </p:cNvPr>
          <p:cNvSpPr/>
          <p:nvPr/>
        </p:nvSpPr>
        <p:spPr>
          <a:xfrm>
            <a:off x="736600" y="5105400"/>
            <a:ext cx="3098800" cy="4572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100" b="1">
                <a:solidFill>
                  <a:srgbClr val="320CC9"/>
                </a:solidFill>
                <a:latin typeface="Consolas"/>
              </a:rPr>
              <a:t>stg_tpch__&lt;table&gt;</a:t>
            </a:r>
          </a:p>
        </p:txBody>
      </p:sp>
      <p:sp>
        <p:nvSpPr>
          <p:cNvPr id="16" name="Flèche : droite 15">
            <a:extLst>
              <a:ext uri="{FF2B5EF4-FFF2-40B4-BE49-F238E27FC236}">
                <a16:creationId xmlns:a16="http://schemas.microsoft.com/office/drawing/2014/main" id="{CEFAECCD-6A68-4FD9-9DAF-5649B12794B2}"/>
              </a:ext>
            </a:extLst>
          </p:cNvPr>
          <p:cNvSpPr/>
          <p:nvPr/>
        </p:nvSpPr>
        <p:spPr>
          <a:xfrm>
            <a:off x="4064000" y="3711383"/>
            <a:ext cx="254000" cy="355600"/>
          </a:xfrm>
          <a:prstGeom prst="rightArrow">
            <a:avLst/>
          </a:prstGeom>
          <a:solidFill>
            <a:srgbClr val="99999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8331EE54-4FF5-43EE-96E6-4A3AF6E6984C}"/>
              </a:ext>
            </a:extLst>
          </p:cNvPr>
          <p:cNvSpPr/>
          <p:nvPr/>
        </p:nvSpPr>
        <p:spPr>
          <a:xfrm>
            <a:off x="4318000" y="1443318"/>
            <a:ext cx="3556000" cy="660400"/>
          </a:xfrm>
          <a:prstGeom prst="roundRect">
            <a:avLst/>
          </a:prstGeom>
          <a:solidFill>
            <a:srgbClr val="5B6B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fr-FR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D3A4CB43-A92E-4419-A09F-6A4CB14871A5}"/>
              </a:ext>
            </a:extLst>
          </p:cNvPr>
          <p:cNvSpPr txBox="1"/>
          <p:nvPr/>
        </p:nvSpPr>
        <p:spPr>
          <a:xfrm>
            <a:off x="4546600" y="1507570"/>
            <a:ext cx="30988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fr-FR" b="1">
                <a:solidFill>
                  <a:srgbClr val="FFFFFF"/>
                </a:solidFill>
                <a:latin typeface="Montserrat"/>
              </a:rPr>
              <a:t>Intermediate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6B3B1DE5-C651-4482-B2A6-67DC23DEF853}"/>
              </a:ext>
            </a:extLst>
          </p:cNvPr>
          <p:cNvSpPr txBox="1"/>
          <p:nvPr/>
        </p:nvSpPr>
        <p:spPr>
          <a:xfrm>
            <a:off x="4546600" y="1812370"/>
            <a:ext cx="30988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fr-FR" sz="1100">
                <a:solidFill>
                  <a:srgbClr val="FFFFFF"/>
                </a:solidFill>
                <a:latin typeface="Montserrat"/>
              </a:rPr>
              <a:t>Ephemeral</a:t>
            </a:r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06B69298-4011-4956-BEF0-825252812FDB}"/>
              </a:ext>
            </a:extLst>
          </p:cNvPr>
          <p:cNvSpPr/>
          <p:nvPr/>
        </p:nvSpPr>
        <p:spPr>
          <a:xfrm>
            <a:off x="4318000" y="2108200"/>
            <a:ext cx="3556000" cy="3657600"/>
          </a:xfrm>
          <a:prstGeom prst="roundRect">
            <a:avLst/>
          </a:prstGeom>
          <a:solidFill>
            <a:srgbClr val="D8DE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1" name="Ellipse 20">
            <a:extLst>
              <a:ext uri="{FF2B5EF4-FFF2-40B4-BE49-F238E27FC236}">
                <a16:creationId xmlns:a16="http://schemas.microsoft.com/office/drawing/2014/main" id="{25387924-0D37-4BC3-8478-2FF71E3099F5}"/>
              </a:ext>
            </a:extLst>
          </p:cNvPr>
          <p:cNvSpPr/>
          <p:nvPr/>
        </p:nvSpPr>
        <p:spPr>
          <a:xfrm>
            <a:off x="4546600" y="2682683"/>
            <a:ext cx="76200" cy="76200"/>
          </a:xfrm>
          <a:prstGeom prst="ellipse">
            <a:avLst/>
          </a:prstGeom>
          <a:solidFill>
            <a:srgbClr val="5B6B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00E4F30B-45EC-499B-9548-6D03431BCD64}"/>
              </a:ext>
            </a:extLst>
          </p:cNvPr>
          <p:cNvSpPr txBox="1"/>
          <p:nvPr/>
        </p:nvSpPr>
        <p:spPr>
          <a:xfrm>
            <a:off x="4724400" y="2619183"/>
            <a:ext cx="2921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>
                <a:solidFill>
                  <a:srgbClr val="160D3D"/>
                </a:solidFill>
                <a:latin typeface="Montserrat"/>
              </a:rPr>
              <a:t>Jointures et enrichissements</a:t>
            </a:r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EBFF5169-48F9-4925-9957-CBF499BCB8DD}"/>
              </a:ext>
            </a:extLst>
          </p:cNvPr>
          <p:cNvSpPr/>
          <p:nvPr/>
        </p:nvSpPr>
        <p:spPr>
          <a:xfrm>
            <a:off x="4546600" y="3241483"/>
            <a:ext cx="76200" cy="76200"/>
          </a:xfrm>
          <a:prstGeom prst="ellipse">
            <a:avLst/>
          </a:prstGeom>
          <a:solidFill>
            <a:srgbClr val="5B6B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9F6940B7-B826-4A49-B041-307C7F6DD21B}"/>
              </a:ext>
            </a:extLst>
          </p:cNvPr>
          <p:cNvSpPr txBox="1"/>
          <p:nvPr/>
        </p:nvSpPr>
        <p:spPr>
          <a:xfrm>
            <a:off x="4724400" y="3177983"/>
            <a:ext cx="2921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>
                <a:solidFill>
                  <a:srgbClr val="160D3D"/>
                </a:solidFill>
                <a:latin typeface="Montserrat"/>
              </a:rPr>
              <a:t>Pas de table creee</a:t>
            </a:r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5DFBF6CF-8329-43E2-A7F2-5B581CEEB1D4}"/>
              </a:ext>
            </a:extLst>
          </p:cNvPr>
          <p:cNvSpPr/>
          <p:nvPr/>
        </p:nvSpPr>
        <p:spPr>
          <a:xfrm>
            <a:off x="4546600" y="3800283"/>
            <a:ext cx="76200" cy="76200"/>
          </a:xfrm>
          <a:prstGeom prst="ellipse">
            <a:avLst/>
          </a:prstGeom>
          <a:solidFill>
            <a:srgbClr val="5B6B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4C1ED3F9-24E9-472F-80CE-106B863A5187}"/>
              </a:ext>
            </a:extLst>
          </p:cNvPr>
          <p:cNvSpPr txBox="1"/>
          <p:nvPr/>
        </p:nvSpPr>
        <p:spPr>
          <a:xfrm>
            <a:off x="4724400" y="3736783"/>
            <a:ext cx="2921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>
                <a:solidFill>
                  <a:srgbClr val="160D3D"/>
                </a:solidFill>
                <a:latin typeface="Montserrat"/>
              </a:rPr>
              <a:t>Intercale entre staging et marts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4F877A35-CD89-4C16-B30B-4CCC3563777D}"/>
              </a:ext>
            </a:extLst>
          </p:cNvPr>
          <p:cNvSpPr/>
          <p:nvPr/>
        </p:nvSpPr>
        <p:spPr>
          <a:xfrm>
            <a:off x="4546600" y="5105400"/>
            <a:ext cx="3098800" cy="4572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100" b="1">
                <a:solidFill>
                  <a:srgbClr val="5B6BC8"/>
                </a:solidFill>
                <a:latin typeface="Consolas"/>
              </a:rPr>
              <a:t>int_&lt;entite&gt;_&lt;action&gt;</a:t>
            </a:r>
          </a:p>
        </p:txBody>
      </p:sp>
      <p:sp>
        <p:nvSpPr>
          <p:cNvPr id="28" name="Flèche : droite 27">
            <a:extLst>
              <a:ext uri="{FF2B5EF4-FFF2-40B4-BE49-F238E27FC236}">
                <a16:creationId xmlns:a16="http://schemas.microsoft.com/office/drawing/2014/main" id="{65EBF406-1B48-4FD8-8FD7-798CAFECA30B}"/>
              </a:ext>
            </a:extLst>
          </p:cNvPr>
          <p:cNvSpPr/>
          <p:nvPr/>
        </p:nvSpPr>
        <p:spPr>
          <a:xfrm>
            <a:off x="7874000" y="3711383"/>
            <a:ext cx="254000" cy="355600"/>
          </a:xfrm>
          <a:prstGeom prst="rightArrow">
            <a:avLst/>
          </a:prstGeom>
          <a:solidFill>
            <a:srgbClr val="99999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9" name="Rectangle : coins arrondis 28">
            <a:extLst>
              <a:ext uri="{FF2B5EF4-FFF2-40B4-BE49-F238E27FC236}">
                <a16:creationId xmlns:a16="http://schemas.microsoft.com/office/drawing/2014/main" id="{44DB0DB7-A7EA-40DC-A1D1-631F10A22CB2}"/>
              </a:ext>
            </a:extLst>
          </p:cNvPr>
          <p:cNvSpPr/>
          <p:nvPr/>
        </p:nvSpPr>
        <p:spPr>
          <a:xfrm>
            <a:off x="8128000" y="1443318"/>
            <a:ext cx="3556000" cy="660400"/>
          </a:xfrm>
          <a:prstGeom prst="roundRect">
            <a:avLst/>
          </a:prstGeom>
          <a:solidFill>
            <a:srgbClr val="E879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ctr"/>
            <a:endParaRPr lang="fr-FR"/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D8FBCBB3-4C8D-4E7E-88A8-B8AE3FF6DD68}"/>
              </a:ext>
            </a:extLst>
          </p:cNvPr>
          <p:cNvSpPr txBox="1"/>
          <p:nvPr/>
        </p:nvSpPr>
        <p:spPr>
          <a:xfrm>
            <a:off x="8356600" y="1507570"/>
            <a:ext cx="30988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fr-FR" b="1">
                <a:solidFill>
                  <a:srgbClr val="FFFFFF"/>
                </a:solidFill>
                <a:latin typeface="Montserrat"/>
              </a:rPr>
              <a:t>Marts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3D445A85-05C4-48C9-8809-F331BB390321}"/>
              </a:ext>
            </a:extLst>
          </p:cNvPr>
          <p:cNvSpPr txBox="1"/>
          <p:nvPr/>
        </p:nvSpPr>
        <p:spPr>
          <a:xfrm>
            <a:off x="8356600" y="1812370"/>
            <a:ext cx="30988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ctr"/>
            <a:r>
              <a:rPr lang="fr-FR" sz="1100">
                <a:solidFill>
                  <a:srgbClr val="FFFFFF"/>
                </a:solidFill>
                <a:latin typeface="Montserrat"/>
              </a:rPr>
              <a:t>Tables</a:t>
            </a:r>
          </a:p>
        </p:txBody>
      </p:sp>
      <p:sp>
        <p:nvSpPr>
          <p:cNvPr id="32" name="Rectangle : coins arrondis 31">
            <a:extLst>
              <a:ext uri="{FF2B5EF4-FFF2-40B4-BE49-F238E27FC236}">
                <a16:creationId xmlns:a16="http://schemas.microsoft.com/office/drawing/2014/main" id="{7382EA6E-EF9A-4B5C-BCE3-E565B2A6C583}"/>
              </a:ext>
            </a:extLst>
          </p:cNvPr>
          <p:cNvSpPr/>
          <p:nvPr/>
        </p:nvSpPr>
        <p:spPr>
          <a:xfrm>
            <a:off x="8128000" y="2108200"/>
            <a:ext cx="3556000" cy="3657600"/>
          </a:xfrm>
          <a:prstGeom prst="roundRect">
            <a:avLst/>
          </a:prstGeom>
          <a:solidFill>
            <a:srgbClr val="FFE2C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33" name="Ellipse 32">
            <a:extLst>
              <a:ext uri="{FF2B5EF4-FFF2-40B4-BE49-F238E27FC236}">
                <a16:creationId xmlns:a16="http://schemas.microsoft.com/office/drawing/2014/main" id="{4CD9AEEF-B511-499A-B226-422C1FEE67B0}"/>
              </a:ext>
            </a:extLst>
          </p:cNvPr>
          <p:cNvSpPr/>
          <p:nvPr/>
        </p:nvSpPr>
        <p:spPr>
          <a:xfrm>
            <a:off x="8356600" y="2682683"/>
            <a:ext cx="76200" cy="76200"/>
          </a:xfrm>
          <a:prstGeom prst="ellipse">
            <a:avLst/>
          </a:prstGeom>
          <a:solidFill>
            <a:srgbClr val="E879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E11C5F58-5769-4A07-BB05-1611B4AA30AF}"/>
              </a:ext>
            </a:extLst>
          </p:cNvPr>
          <p:cNvSpPr txBox="1"/>
          <p:nvPr/>
        </p:nvSpPr>
        <p:spPr>
          <a:xfrm>
            <a:off x="8534400" y="2619183"/>
            <a:ext cx="2921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>
                <a:solidFill>
                  <a:srgbClr val="160D3D"/>
                </a:solidFill>
                <a:latin typeface="Montserrat"/>
              </a:rPr>
              <a:t>Tables physiques materialisees</a:t>
            </a:r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4973E2D2-137E-427F-AC7E-DD1689B5D424}"/>
              </a:ext>
            </a:extLst>
          </p:cNvPr>
          <p:cNvSpPr/>
          <p:nvPr/>
        </p:nvSpPr>
        <p:spPr>
          <a:xfrm>
            <a:off x="8356600" y="3241483"/>
            <a:ext cx="76200" cy="76200"/>
          </a:xfrm>
          <a:prstGeom prst="ellipse">
            <a:avLst/>
          </a:prstGeom>
          <a:solidFill>
            <a:srgbClr val="E879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D4B4F420-9BE3-4D2C-86AC-368EAC2B1DBF}"/>
              </a:ext>
            </a:extLst>
          </p:cNvPr>
          <p:cNvSpPr txBox="1"/>
          <p:nvPr/>
        </p:nvSpPr>
        <p:spPr>
          <a:xfrm>
            <a:off x="8534400" y="3177983"/>
            <a:ext cx="2921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>
                <a:solidFill>
                  <a:srgbClr val="160D3D"/>
                </a:solidFill>
                <a:latin typeface="Montserrat"/>
              </a:rPr>
              <a:t>Pretes pour la BI / l'analyse</a:t>
            </a:r>
          </a:p>
        </p:txBody>
      </p:sp>
      <p:sp>
        <p:nvSpPr>
          <p:cNvPr id="37" name="Ellipse 36">
            <a:extLst>
              <a:ext uri="{FF2B5EF4-FFF2-40B4-BE49-F238E27FC236}">
                <a16:creationId xmlns:a16="http://schemas.microsoft.com/office/drawing/2014/main" id="{FBFD0C1F-3AC5-459C-921B-DB81E85DB5B3}"/>
              </a:ext>
            </a:extLst>
          </p:cNvPr>
          <p:cNvSpPr/>
          <p:nvPr/>
        </p:nvSpPr>
        <p:spPr>
          <a:xfrm>
            <a:off x="8356600" y="3800283"/>
            <a:ext cx="76200" cy="76200"/>
          </a:xfrm>
          <a:prstGeom prst="ellipse">
            <a:avLst/>
          </a:prstGeom>
          <a:solidFill>
            <a:srgbClr val="E879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414C0EF4-7F0B-48FC-98A4-3062D35E7BFF}"/>
              </a:ext>
            </a:extLst>
          </p:cNvPr>
          <p:cNvSpPr txBox="1"/>
          <p:nvPr/>
        </p:nvSpPr>
        <p:spPr>
          <a:xfrm>
            <a:off x="8534400" y="3736783"/>
            <a:ext cx="29210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>
                <a:solidFill>
                  <a:srgbClr val="160D3D"/>
                </a:solidFill>
                <a:latin typeface="Montserrat"/>
              </a:rPr>
              <a:t>Une par domaine metier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9391343D-4047-4072-95A4-237BAD784FF2}"/>
              </a:ext>
            </a:extLst>
          </p:cNvPr>
          <p:cNvSpPr/>
          <p:nvPr/>
        </p:nvSpPr>
        <p:spPr>
          <a:xfrm>
            <a:off x="8356600" y="5105400"/>
            <a:ext cx="3098800" cy="4572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100" b="1">
                <a:solidFill>
                  <a:srgbClr val="FF660D"/>
                </a:solidFill>
                <a:latin typeface="Consolas"/>
              </a:rPr>
              <a:t>fct_ / dim_ / agg_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E66F5-DA69-00D4-DD9B-C276ADC3B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B15E2C24-2000-1DA1-B3B5-6F0EA16032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7700"/>
            <a:ext cx="12192000" cy="5562600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8EE2B60-37F4-73A2-1920-59111EB1497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8000" y="0"/>
            <a:ext cx="11176000" cy="760021"/>
          </a:xfrm>
        </p:spPr>
        <p:txBody>
          <a:bodyPr/>
          <a:lstStyle/>
          <a:p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3FE219C-9155-2AFA-EDF7-BD0D16B75BD9}"/>
              </a:ext>
            </a:extLst>
          </p:cNvPr>
          <p:cNvSpPr txBox="1"/>
          <p:nvPr/>
        </p:nvSpPr>
        <p:spPr>
          <a:xfrm>
            <a:off x="1143753" y="2203730"/>
            <a:ext cx="3000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0" b="1" dirty="0">
                <a:solidFill>
                  <a:schemeClr val="bg1"/>
                </a:solidFill>
                <a:latin typeface="Montserrat"/>
              </a:rPr>
              <a:t>0</a:t>
            </a:r>
            <a:r>
              <a:rPr lang="fr-FR" sz="12000" b="1" dirty="0">
                <a:solidFill>
                  <a:schemeClr val="bg1"/>
                </a:solidFill>
                <a:latin typeface="Montserrat"/>
              </a:rPr>
              <a:t>2</a:t>
            </a:r>
            <a:endParaRPr sz="12000" b="1" dirty="0">
              <a:solidFill>
                <a:schemeClr val="bg1"/>
              </a:solidFill>
              <a:latin typeface="Montserra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EBEF9A-E7F7-1D69-8C08-A8AC06B4C7BB}"/>
              </a:ext>
            </a:extLst>
          </p:cNvPr>
          <p:cNvSpPr txBox="1"/>
          <p:nvPr/>
        </p:nvSpPr>
        <p:spPr>
          <a:xfrm>
            <a:off x="3746211" y="2454807"/>
            <a:ext cx="7800000" cy="14978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fr-FR" sz="4400" b="1" dirty="0">
                <a:solidFill>
                  <a:schemeClr val="bg1"/>
                </a:solidFill>
              </a:rPr>
              <a:t>Mise en place de
l'environnement</a:t>
            </a:r>
          </a:p>
        </p:txBody>
      </p:sp>
    </p:spTree>
    <p:extLst>
      <p:ext uri="{BB962C8B-B14F-4D97-AF65-F5344CB8AC3E}">
        <p14:creationId xmlns:p14="http://schemas.microsoft.com/office/powerpoint/2010/main" val="23455352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5"/>
          </p:nvPr>
        </p:nvSpPr>
        <p:spPr>
          <a:xfrm>
            <a:off x="508000" y="0"/>
            <a:ext cx="11176000" cy="760021"/>
          </a:xfrm>
        </p:spPr>
        <p:txBody>
          <a:bodyPr/>
          <a:lstStyle/>
          <a:p>
            <a:pPr algn="ctr"/>
            <a:r>
              <a:rPr sz="2200" b="1" dirty="0">
                <a:solidFill>
                  <a:srgbClr val="160D3D"/>
                </a:solidFill>
                <a:latin typeface="Montserrat"/>
              </a:rPr>
              <a:t>Installation des </a:t>
            </a:r>
            <a:r>
              <a:rPr sz="2200" b="1" dirty="0" err="1">
                <a:solidFill>
                  <a:srgbClr val="160D3D"/>
                </a:solidFill>
                <a:latin typeface="Montserrat"/>
              </a:rPr>
              <a:t>outils</a:t>
            </a:r>
            <a:endParaRPr sz="2200" b="1" dirty="0">
              <a:solidFill>
                <a:srgbClr val="160D3D"/>
              </a:solidFill>
              <a:latin typeface="Montserrat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600000" y="2324100"/>
            <a:ext cx="5200000" cy="2717800"/>
          </a:xfrm>
          <a:prstGeom prst="rect">
            <a:avLst/>
          </a:prstGeom>
          <a:solidFill>
            <a:srgbClr val="0A1730"/>
          </a:solidFill>
          <a:ln w="12700" cap="flat" cmpd="sng" algn="ctr">
            <a:noFill/>
            <a:prstDash val="solid"/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 anchorCtr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 lang="fr-FR" sz="900" i="1" dirty="0">
              <a:solidFill>
                <a:srgbClr val="6B7BA8"/>
              </a:solidFill>
              <a:latin typeface="Courier New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lang="fr-FR" sz="900" i="1" dirty="0">
              <a:solidFill>
                <a:srgbClr val="6B7BA8"/>
              </a:solidFill>
              <a:latin typeface="Courier New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lang="fr-FR" sz="900" i="1" dirty="0">
              <a:solidFill>
                <a:srgbClr val="6B7BA8"/>
              </a:solidFill>
              <a:latin typeface="Courier New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i="1" dirty="0">
                <a:solidFill>
                  <a:srgbClr val="6B7BA8"/>
                </a:solidFill>
                <a:latin typeface="Courier New"/>
              </a:rPr>
              <a:t># Creer le projet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b="1" dirty="0">
                <a:solidFill>
                  <a:srgbClr val="9D88FF"/>
                </a:solidFill>
                <a:latin typeface="Courier New"/>
              </a:rPr>
              <a:t>mkdir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tpch_analytics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b="1" dirty="0">
                <a:solidFill>
                  <a:srgbClr val="9D88FF"/>
                </a:solidFill>
                <a:latin typeface="Courier New"/>
              </a:rPr>
              <a:t>cd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tpch_analytics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i="1" dirty="0">
                <a:solidFill>
                  <a:srgbClr val="6B7BA8"/>
                </a:solidFill>
                <a:latin typeface="Courier New"/>
              </a:rPr>
              <a:t># Environnement virtuel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b="1" dirty="0">
                <a:solidFill>
                  <a:srgbClr val="9D88FF"/>
                </a:solidFill>
                <a:latin typeface="Courier New"/>
              </a:rPr>
              <a:t>python3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-m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venv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.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venv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b="1" dirty="0">
                <a:solidFill>
                  <a:srgbClr val="9D88FF"/>
                </a:solidFill>
                <a:latin typeface="Courier New"/>
              </a:rPr>
              <a:t>source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.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venv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/bin/activate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i="1" dirty="0">
                <a:solidFill>
                  <a:srgbClr val="6B7BA8"/>
                </a:solidFill>
                <a:latin typeface="Courier New"/>
              </a:rPr>
              <a:t># Installer dbt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b="1" dirty="0">
                <a:solidFill>
                  <a:srgbClr val="9D88FF"/>
                </a:solidFill>
                <a:latin typeface="Courier New"/>
              </a:rPr>
              <a:t>pip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install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dbt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-snowflake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i="1" dirty="0">
                <a:solidFill>
                  <a:srgbClr val="6B7BA8"/>
                </a:solidFill>
                <a:latin typeface="Courier New"/>
              </a:rPr>
              <a:t># Verifier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b="1" dirty="0">
                <a:solidFill>
                  <a:srgbClr val="9D88FF"/>
                </a:solidFill>
                <a:latin typeface="Courier New"/>
              </a:rPr>
              <a:t>dbt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–version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24456B2-2174-4279-9A1E-4B3C67CE0FB8}"/>
              </a:ext>
            </a:extLst>
          </p:cNvPr>
          <p:cNvSpPr txBox="1"/>
          <p:nvPr/>
        </p:nvSpPr>
        <p:spPr>
          <a:xfrm>
            <a:off x="508000" y="1079500"/>
            <a:ext cx="58420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600" b="1">
                <a:solidFill>
                  <a:srgbClr val="160D3D"/>
                </a:solidFill>
                <a:latin typeface="Montserrat"/>
              </a:rPr>
              <a:t>Pré-requis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A1D4476D-67B8-4CCB-B230-63E3604466F8}"/>
              </a:ext>
            </a:extLst>
          </p:cNvPr>
          <p:cNvSpPr/>
          <p:nvPr/>
        </p:nvSpPr>
        <p:spPr>
          <a:xfrm>
            <a:off x="508000" y="2712575"/>
            <a:ext cx="2819400" cy="952500"/>
          </a:xfrm>
          <a:prstGeom prst="roundRect">
            <a:avLst/>
          </a:prstGeom>
          <a:solidFill>
            <a:srgbClr val="F7F4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9595121D-75F5-482E-9BF5-6152E6E8E48F}"/>
              </a:ext>
            </a:extLst>
          </p:cNvPr>
          <p:cNvSpPr/>
          <p:nvPr/>
        </p:nvSpPr>
        <p:spPr>
          <a:xfrm>
            <a:off x="685800" y="2960225"/>
            <a:ext cx="457200" cy="457200"/>
          </a:xfrm>
          <a:prstGeom prst="ellipse">
            <a:avLst/>
          </a:prstGeom>
          <a:solidFill>
            <a:srgbClr val="160D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fr-FR" sz="1400" b="1" dirty="0">
                <a:solidFill>
                  <a:srgbClr val="FFFFFF"/>
                </a:solidFill>
                <a:latin typeface="Montserrat"/>
              </a:rPr>
              <a:t>Py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032C88C0-7D70-45E8-97E2-21B39BE141AA}"/>
              </a:ext>
            </a:extLst>
          </p:cNvPr>
          <p:cNvSpPr txBox="1"/>
          <p:nvPr/>
        </p:nvSpPr>
        <p:spPr>
          <a:xfrm>
            <a:off x="1295400" y="2839575"/>
            <a:ext cx="1905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300" b="1">
                <a:solidFill>
                  <a:srgbClr val="160D3D"/>
                </a:solidFill>
                <a:latin typeface="Montserrat"/>
              </a:rPr>
              <a:t>Python 3.10+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598865F2-9771-4C70-B16E-892876A32BCD}"/>
              </a:ext>
            </a:extLst>
          </p:cNvPr>
          <p:cNvSpPr txBox="1"/>
          <p:nvPr/>
        </p:nvSpPr>
        <p:spPr>
          <a:xfrm>
            <a:off x="1295400" y="3118975"/>
            <a:ext cx="1905000" cy="4699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160D3D"/>
                </a:solidFill>
                <a:latin typeface="Montserrat"/>
              </a:rPr>
              <a:t>Runtime requis pour dbt et l'environnement virtuel</a:t>
            </a: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FDA66C60-4C07-4F8D-946B-76D64542AB50}"/>
              </a:ext>
            </a:extLst>
          </p:cNvPr>
          <p:cNvSpPr/>
          <p:nvPr/>
        </p:nvSpPr>
        <p:spPr>
          <a:xfrm>
            <a:off x="3530600" y="2712575"/>
            <a:ext cx="2819400" cy="952500"/>
          </a:xfrm>
          <a:prstGeom prst="roundRect">
            <a:avLst/>
          </a:prstGeom>
          <a:solidFill>
            <a:srgbClr val="F7F4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35960B89-DEC0-4113-A630-468FE99A912F}"/>
              </a:ext>
            </a:extLst>
          </p:cNvPr>
          <p:cNvSpPr/>
          <p:nvPr/>
        </p:nvSpPr>
        <p:spPr>
          <a:xfrm>
            <a:off x="3708400" y="2960225"/>
            <a:ext cx="457200" cy="457200"/>
          </a:xfrm>
          <a:prstGeom prst="ellipse">
            <a:avLst/>
          </a:prstGeom>
          <a:solidFill>
            <a:srgbClr val="373A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fr-FR" sz="1400" b="1" dirty="0">
                <a:solidFill>
                  <a:srgbClr val="FFFFFF"/>
                </a:solidFill>
                <a:latin typeface="Montserrat"/>
              </a:rPr>
              <a:t>&lt;&gt;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0B1ADCE2-21C6-429C-81DA-070A2106082F}"/>
              </a:ext>
            </a:extLst>
          </p:cNvPr>
          <p:cNvSpPr txBox="1"/>
          <p:nvPr/>
        </p:nvSpPr>
        <p:spPr>
          <a:xfrm>
            <a:off x="4318000" y="2839575"/>
            <a:ext cx="1905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300" b="1">
                <a:solidFill>
                  <a:srgbClr val="160D3D"/>
                </a:solidFill>
                <a:latin typeface="Montserrat"/>
              </a:rPr>
              <a:t>VS Code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78A73A6C-7890-4791-A102-86682153FA9C}"/>
              </a:ext>
            </a:extLst>
          </p:cNvPr>
          <p:cNvSpPr txBox="1"/>
          <p:nvPr/>
        </p:nvSpPr>
        <p:spPr>
          <a:xfrm>
            <a:off x="4318000" y="3118975"/>
            <a:ext cx="1905000" cy="4699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>
                <a:solidFill>
                  <a:srgbClr val="160D3D"/>
                </a:solidFill>
                <a:latin typeface="Montserrat"/>
              </a:rPr>
              <a:t>Extensions : dbt Power User, SQLFluff, YAML</a:t>
            </a:r>
            <a:endParaRPr lang="fr-FR" sz="1100">
              <a:solidFill>
                <a:srgbClr val="160D3D"/>
              </a:solidFill>
              <a:latin typeface="Montserrat"/>
            </a:endParaRP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528C6669-F6C9-46C8-B00D-994A474587C5}"/>
              </a:ext>
            </a:extLst>
          </p:cNvPr>
          <p:cNvSpPr/>
          <p:nvPr/>
        </p:nvSpPr>
        <p:spPr>
          <a:xfrm>
            <a:off x="508000" y="3868275"/>
            <a:ext cx="2819400" cy="952500"/>
          </a:xfrm>
          <a:prstGeom prst="roundRect">
            <a:avLst/>
          </a:prstGeom>
          <a:solidFill>
            <a:srgbClr val="F7F4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596AB215-EC94-4080-AE2E-A0165BA1ADA4}"/>
              </a:ext>
            </a:extLst>
          </p:cNvPr>
          <p:cNvSpPr/>
          <p:nvPr/>
        </p:nvSpPr>
        <p:spPr>
          <a:xfrm>
            <a:off x="685800" y="4115925"/>
            <a:ext cx="457200" cy="457200"/>
          </a:xfrm>
          <a:prstGeom prst="ellipse">
            <a:avLst/>
          </a:prstGeom>
          <a:solidFill>
            <a:srgbClr val="E879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fr-FR" sz="1400" b="1" dirty="0">
                <a:solidFill>
                  <a:srgbClr val="FFFFFF"/>
                </a:solidFill>
                <a:latin typeface="Montserrat"/>
              </a:rPr>
              <a:t>Git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3D645C08-2803-4DE5-B65A-6716CA878773}"/>
              </a:ext>
            </a:extLst>
          </p:cNvPr>
          <p:cNvSpPr txBox="1"/>
          <p:nvPr/>
        </p:nvSpPr>
        <p:spPr>
          <a:xfrm>
            <a:off x="1295400" y="3995275"/>
            <a:ext cx="1905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300" b="1">
                <a:solidFill>
                  <a:srgbClr val="160D3D"/>
                </a:solidFill>
                <a:latin typeface="Montserrat"/>
              </a:rPr>
              <a:t>Git + GitHub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F9552181-45CD-4D2F-9F1A-30B714788E32}"/>
              </a:ext>
            </a:extLst>
          </p:cNvPr>
          <p:cNvSpPr txBox="1"/>
          <p:nvPr/>
        </p:nvSpPr>
        <p:spPr>
          <a:xfrm>
            <a:off x="1295400" y="4274675"/>
            <a:ext cx="1905000" cy="4699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160D3D"/>
                </a:solidFill>
                <a:latin typeface="Montserrat"/>
              </a:rPr>
              <a:t>Versioning du projet et collaboration</a:t>
            </a: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C9321352-A5B9-46D7-82BC-BDC0250A981B}"/>
              </a:ext>
            </a:extLst>
          </p:cNvPr>
          <p:cNvSpPr/>
          <p:nvPr/>
        </p:nvSpPr>
        <p:spPr>
          <a:xfrm>
            <a:off x="3530600" y="3868275"/>
            <a:ext cx="2819400" cy="952500"/>
          </a:xfrm>
          <a:prstGeom prst="roundRect">
            <a:avLst/>
          </a:prstGeom>
          <a:solidFill>
            <a:srgbClr val="F7F4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9968DE97-1C29-48F1-A952-CD55BAF32A60}"/>
              </a:ext>
            </a:extLst>
          </p:cNvPr>
          <p:cNvSpPr/>
          <p:nvPr/>
        </p:nvSpPr>
        <p:spPr>
          <a:xfrm>
            <a:off x="3708400" y="4115925"/>
            <a:ext cx="457200" cy="457200"/>
          </a:xfrm>
          <a:prstGeom prst="ellipse">
            <a:avLst/>
          </a:prstGeom>
          <a:solidFill>
            <a:srgbClr val="5BAFE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fr-FR" sz="1400" b="1" dirty="0">
                <a:solidFill>
                  <a:srgbClr val="FFFFFF"/>
                </a:solidFill>
                <a:latin typeface="Montserrat"/>
              </a:rPr>
              <a:t>❄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3B350FE6-EF19-4E16-BCA3-6FFA9F8990DD}"/>
              </a:ext>
            </a:extLst>
          </p:cNvPr>
          <p:cNvSpPr txBox="1"/>
          <p:nvPr/>
        </p:nvSpPr>
        <p:spPr>
          <a:xfrm>
            <a:off x="4318000" y="3995275"/>
            <a:ext cx="1905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300" b="1">
                <a:solidFill>
                  <a:srgbClr val="160D3D"/>
                </a:solidFill>
                <a:latin typeface="Montserrat"/>
              </a:rPr>
              <a:t>Snowflake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D68A0795-114B-48DB-B9E3-9E8517B52BF9}"/>
              </a:ext>
            </a:extLst>
          </p:cNvPr>
          <p:cNvSpPr txBox="1"/>
          <p:nvPr/>
        </p:nvSpPr>
        <p:spPr>
          <a:xfrm>
            <a:off x="4318000" y="4274675"/>
            <a:ext cx="1905000" cy="4699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160D3D"/>
                </a:solidFill>
                <a:latin typeface="Montserrat"/>
              </a:rPr>
              <a:t>Compte vérifié, rôle et warehouse configurés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2D03FE2E-151B-488C-B19A-7A6F74ABE96D}"/>
              </a:ext>
            </a:extLst>
          </p:cNvPr>
          <p:cNvSpPr txBox="1"/>
          <p:nvPr/>
        </p:nvSpPr>
        <p:spPr>
          <a:xfrm>
            <a:off x="9260000" y="2451100"/>
            <a:ext cx="2387600" cy="2286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fr-FR" sz="800" b="1">
                <a:solidFill>
                  <a:srgbClr val="6B7BA8"/>
                </a:solidFill>
                <a:latin typeface="Montserrat"/>
              </a:rPr>
              <a:t>TERMINAL</a:t>
            </a:r>
          </a:p>
        </p:txBody>
      </p:sp>
    </p:spTree>
    <p:extLst>
      <p:ext uri="{BB962C8B-B14F-4D97-AF65-F5344CB8AC3E}">
        <p14:creationId xmlns:p14="http://schemas.microsoft.com/office/powerpoint/2010/main" val="35673706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5"/>
          </p:nvPr>
        </p:nvSpPr>
        <p:spPr>
          <a:xfrm>
            <a:off x="508000" y="0"/>
            <a:ext cx="11176000" cy="760021"/>
          </a:xfrm>
        </p:spPr>
        <p:txBody>
          <a:bodyPr/>
          <a:lstStyle/>
          <a:p>
            <a:pPr algn="ctr"/>
            <a:r>
              <a:rPr sz="2200" b="1" dirty="0">
                <a:solidFill>
                  <a:srgbClr val="160D3D"/>
                </a:solidFill>
                <a:latin typeface="Montserrat"/>
              </a:rPr>
              <a:t>Configuration </a:t>
            </a:r>
            <a:r>
              <a:rPr lang="en-GB" sz="2200" b="1" dirty="0">
                <a:solidFill>
                  <a:srgbClr val="160D3D"/>
                </a:solidFill>
                <a:latin typeface="Montserrat"/>
              </a:rPr>
              <a:t>DBT</a:t>
            </a:r>
            <a:endParaRPr sz="2200" b="1" dirty="0">
              <a:solidFill>
                <a:srgbClr val="160D3D"/>
              </a:solidFill>
              <a:latin typeface="Montserrat"/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6600000" y="1625600"/>
            <a:ext cx="5200000" cy="4114800"/>
          </a:xfrm>
          <a:prstGeom prst="rect">
            <a:avLst/>
          </a:prstGeom>
          <a:solidFill>
            <a:srgbClr val="0A1730"/>
          </a:solidFill>
          <a:ln w="12700" cap="flat" cmpd="sng" algn="ctr">
            <a:noFill/>
            <a:prstDash val="solid"/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 anchorCtr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 lang="fr-FR" sz="900" i="1" dirty="0">
              <a:solidFill>
                <a:srgbClr val="6B7BA8"/>
              </a:solidFill>
              <a:latin typeface="Courier New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lang="fr-FR" sz="900" i="1" dirty="0">
              <a:solidFill>
                <a:srgbClr val="6B7BA8"/>
              </a:solidFill>
              <a:latin typeface="Courier New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lang="fr-FR" sz="900" i="1" dirty="0">
              <a:solidFill>
                <a:srgbClr val="6B7BA8"/>
              </a:solidFill>
              <a:latin typeface="Courier New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i="1" dirty="0">
                <a:solidFill>
                  <a:srgbClr val="6B7BA8"/>
                </a:solidFill>
                <a:latin typeface="Courier New"/>
              </a:rPr>
              <a:t>#C:\Users\&lt;user_name&gt;\.dbt\prfiles.yml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i="1" dirty="0">
                <a:solidFill>
                  <a:srgbClr val="6B7BA8"/>
                </a:solidFill>
                <a:latin typeface="Courier New"/>
              </a:rPr>
              <a:t># ~/.dbt/profiles.yml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b="1" dirty="0">
                <a:solidFill>
                  <a:srgbClr val="9D88FF"/>
                </a:solidFill>
                <a:latin typeface="Courier New"/>
              </a:rPr>
              <a:t>tpch_analytics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target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 dev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outputs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dev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type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 snowflake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account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 </a:t>
            </a:r>
            <a:r>
              <a:rPr lang="fr-FR" sz="900" dirty="0">
                <a:solidFill>
                  <a:srgbClr val="FFA76B"/>
                </a:solidFill>
                <a:latin typeface="Courier New"/>
              </a:rPr>
              <a:t>"&lt;ACCOUNT&gt;"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user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 </a:t>
            </a:r>
            <a:r>
              <a:rPr lang="fr-FR" sz="900" dirty="0">
                <a:solidFill>
                  <a:srgbClr val="FFA76B"/>
                </a:solidFill>
                <a:latin typeface="Courier New"/>
              </a:rPr>
              <a:t>"&lt;USER&gt;"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authenticator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 externalbrowser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role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 ACCOUNTADMIN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database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 ANALYTICS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warehouse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 COMPUTE_WH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schema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 DEV_</a:t>
            </a:r>
            <a:r>
              <a:rPr lang="fr-FR" sz="900" b="1" dirty="0">
                <a:solidFill>
                  <a:srgbClr val="FFB873"/>
                </a:solidFill>
                <a:latin typeface="Courier New"/>
              </a:rPr>
              <a:t>{{ env_var('DBT_USER') }}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threads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 4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-- Dans Snowflake 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CREATE DATABASE IF NOT EXISTS ANALYTICS_XXX;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CREATE SCHEMA IF NOT EXISTS ANALYTICS_XXX.STAGING;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CREATE SCHEMA IF NOT EXISTS ANALYTICS_XXX.INTERMEDIATE;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CREATE SCHEMA IF NOT EXISTS ANALYTICS_XXX.MARTS;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CREATE SCHEMA IF NOT EXISTS ANALYTICS_XXX.SNAPSHOTS;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9D7828DB-E972-44A0-A722-15326059D3B3}"/>
              </a:ext>
            </a:extLst>
          </p:cNvPr>
          <p:cNvSpPr txBox="1"/>
          <p:nvPr/>
        </p:nvSpPr>
        <p:spPr>
          <a:xfrm>
            <a:off x="508000" y="1079500"/>
            <a:ext cx="584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500" b="1">
                <a:solidFill>
                  <a:srgbClr val="160D3D"/>
                </a:solidFill>
                <a:latin typeface="Montserrat"/>
              </a:rPr>
              <a:t>Initialisation du projet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B8EE9914-D87B-40AE-867E-80F9AA251B5E}"/>
              </a:ext>
            </a:extLst>
          </p:cNvPr>
          <p:cNvSpPr/>
          <p:nvPr/>
        </p:nvSpPr>
        <p:spPr>
          <a:xfrm>
            <a:off x="508000" y="1460500"/>
            <a:ext cx="5842000" cy="1397000"/>
          </a:xfrm>
          <a:prstGeom prst="roundRect">
            <a:avLst/>
          </a:prstGeom>
          <a:solidFill>
            <a:srgbClr val="F7F4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5142F633-29AE-4208-A77E-ED5B71E92E4E}"/>
              </a:ext>
            </a:extLst>
          </p:cNvPr>
          <p:cNvSpPr txBox="1"/>
          <p:nvPr/>
        </p:nvSpPr>
        <p:spPr>
          <a:xfrm>
            <a:off x="711200" y="1574800"/>
            <a:ext cx="5461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b="1">
                <a:solidFill>
                  <a:srgbClr val="160D3D"/>
                </a:solidFill>
                <a:latin typeface="Montserrat"/>
              </a:rPr>
              <a:t>Commande dbt init</a:t>
            </a: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C017DBD7-709E-46F7-92F7-BF66F37468B6}"/>
              </a:ext>
            </a:extLst>
          </p:cNvPr>
          <p:cNvSpPr/>
          <p:nvPr/>
        </p:nvSpPr>
        <p:spPr>
          <a:xfrm>
            <a:off x="711200" y="1879600"/>
            <a:ext cx="203200" cy="203200"/>
          </a:xfrm>
          <a:prstGeom prst="ellipse">
            <a:avLst/>
          </a:prstGeom>
          <a:solidFill>
            <a:srgbClr val="160D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1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151E3A21-6348-4968-A554-D42276F8DFAE}"/>
              </a:ext>
            </a:extLst>
          </p:cNvPr>
          <p:cNvSpPr txBox="1"/>
          <p:nvPr/>
        </p:nvSpPr>
        <p:spPr>
          <a:xfrm>
            <a:off x="990600" y="1892300"/>
            <a:ext cx="5207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160D3D"/>
                </a:solidFill>
                <a:latin typeface="Montserrat"/>
              </a:rPr>
              <a:t>Nom du projet · Database : 1 (snowflake)</a:t>
            </a: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D05BE5CF-BCC1-4886-9D07-84C04184D66E}"/>
              </a:ext>
            </a:extLst>
          </p:cNvPr>
          <p:cNvSpPr/>
          <p:nvPr/>
        </p:nvSpPr>
        <p:spPr>
          <a:xfrm>
            <a:off x="711200" y="2159000"/>
            <a:ext cx="203200" cy="203200"/>
          </a:xfrm>
          <a:prstGeom prst="ellipse">
            <a:avLst/>
          </a:prstGeom>
          <a:solidFill>
            <a:srgbClr val="160D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1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26AB0483-CAC5-4A35-B604-4EC71141EA43}"/>
              </a:ext>
            </a:extLst>
          </p:cNvPr>
          <p:cNvSpPr txBox="1"/>
          <p:nvPr/>
        </p:nvSpPr>
        <p:spPr>
          <a:xfrm>
            <a:off x="990600" y="2171700"/>
            <a:ext cx="5207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>
                <a:solidFill>
                  <a:srgbClr val="160D3D"/>
                </a:solidFill>
                <a:latin typeface="Montserrat"/>
              </a:rPr>
              <a:t>Account · User · Auth : 3 (sso) · externalbrowser</a:t>
            </a:r>
            <a:endParaRPr lang="fr-FR" sz="1100">
              <a:solidFill>
                <a:srgbClr val="160D3D"/>
              </a:solidFill>
              <a:latin typeface="Montserrat"/>
            </a:endParaRP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9167ACA9-1FD5-4D87-8572-D5257E8DC273}"/>
              </a:ext>
            </a:extLst>
          </p:cNvPr>
          <p:cNvSpPr/>
          <p:nvPr/>
        </p:nvSpPr>
        <p:spPr>
          <a:xfrm>
            <a:off x="711200" y="2438400"/>
            <a:ext cx="203200" cy="203200"/>
          </a:xfrm>
          <a:prstGeom prst="ellipse">
            <a:avLst/>
          </a:prstGeom>
          <a:solidFill>
            <a:srgbClr val="160D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1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DC7BEBE8-2E1C-4755-9B2D-141A85D3F091}"/>
              </a:ext>
            </a:extLst>
          </p:cNvPr>
          <p:cNvSpPr txBox="1"/>
          <p:nvPr/>
        </p:nvSpPr>
        <p:spPr>
          <a:xfrm>
            <a:off x="990600" y="2451100"/>
            <a:ext cx="5207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>
                <a:solidFill>
                  <a:srgbClr val="160D3D"/>
                </a:solidFill>
                <a:latin typeface="Montserrat"/>
              </a:rPr>
              <a:t>Role · Warehouse · Database · Schema · Threads = 3</a:t>
            </a:r>
            <a:endParaRPr lang="fr-FR" sz="1100">
              <a:solidFill>
                <a:srgbClr val="160D3D"/>
              </a:solidFill>
              <a:latin typeface="Montserrat"/>
            </a:endParaRP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A53B3E89-7F92-4186-8859-4BBA3B34444E}"/>
              </a:ext>
            </a:extLst>
          </p:cNvPr>
          <p:cNvSpPr/>
          <p:nvPr/>
        </p:nvSpPr>
        <p:spPr>
          <a:xfrm>
            <a:off x="508000" y="2984500"/>
            <a:ext cx="2819400" cy="1651000"/>
          </a:xfrm>
          <a:prstGeom prst="roundRect">
            <a:avLst/>
          </a:prstGeom>
          <a:solidFill>
            <a:srgbClr val="F7F4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C1AF27BE-0FEC-43DA-B317-4B6BBB11D04F}"/>
              </a:ext>
            </a:extLst>
          </p:cNvPr>
          <p:cNvSpPr txBox="1"/>
          <p:nvPr/>
        </p:nvSpPr>
        <p:spPr>
          <a:xfrm>
            <a:off x="711200" y="3098800"/>
            <a:ext cx="254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b="1">
                <a:solidFill>
                  <a:srgbClr val="160D3D"/>
                </a:solidFill>
                <a:latin typeface="Montserrat"/>
              </a:rPr>
              <a:t>profiles.yml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79C00A0D-68F1-4EF8-8CC3-05872DB2A1DF}"/>
              </a:ext>
            </a:extLst>
          </p:cNvPr>
          <p:cNvSpPr txBox="1"/>
          <p:nvPr/>
        </p:nvSpPr>
        <p:spPr>
          <a:xfrm>
            <a:off x="711200" y="3327400"/>
            <a:ext cx="2540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>
                <a:solidFill>
                  <a:srgbClr val="7A7290"/>
                </a:solidFill>
                <a:latin typeface="Montserrat"/>
              </a:rPr>
              <a:t>~/.dbt/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C071A865-9E96-4DC3-90B9-3C217056B4DC}"/>
              </a:ext>
            </a:extLst>
          </p:cNvPr>
          <p:cNvSpPr txBox="1"/>
          <p:nvPr/>
        </p:nvSpPr>
        <p:spPr>
          <a:xfrm>
            <a:off x="711200" y="3581400"/>
            <a:ext cx="2540000" cy="952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>
                <a:solidFill>
                  <a:srgbClr val="160D3D"/>
                </a:solidFill>
                <a:latin typeface="Montserrat"/>
              </a:rPr>
              <a:t>• Connexion SSO externalbrowser
• Schema dynamique par dev
• ⚠ Ne jamais commiter !</a:t>
            </a: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6952E282-4BCA-42A9-9AC8-3AB429685DAB}"/>
              </a:ext>
            </a:extLst>
          </p:cNvPr>
          <p:cNvSpPr/>
          <p:nvPr/>
        </p:nvSpPr>
        <p:spPr>
          <a:xfrm>
            <a:off x="3530600" y="2984500"/>
            <a:ext cx="2819400" cy="1651000"/>
          </a:xfrm>
          <a:prstGeom prst="roundRect">
            <a:avLst/>
          </a:prstGeom>
          <a:solidFill>
            <a:srgbClr val="F7F4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FB2EF17A-B49E-4332-A4D7-9CD20B8DEFFC}"/>
              </a:ext>
            </a:extLst>
          </p:cNvPr>
          <p:cNvSpPr txBox="1"/>
          <p:nvPr/>
        </p:nvSpPr>
        <p:spPr>
          <a:xfrm>
            <a:off x="3733800" y="3098800"/>
            <a:ext cx="254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b="1">
                <a:solidFill>
                  <a:srgbClr val="E8792F"/>
                </a:solidFill>
                <a:latin typeface="Montserrat"/>
              </a:rPr>
              <a:t>Préparer Snowflake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4C1B6640-AF15-45CC-907F-8734397B92DB}"/>
              </a:ext>
            </a:extLst>
          </p:cNvPr>
          <p:cNvSpPr txBox="1"/>
          <p:nvPr/>
        </p:nvSpPr>
        <p:spPr>
          <a:xfrm>
            <a:off x="3733800" y="3352800"/>
            <a:ext cx="2540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>
                <a:solidFill>
                  <a:srgbClr val="7A7290"/>
                </a:solidFill>
                <a:latin typeface="Montserrat"/>
              </a:rPr>
              <a:t>Base ANALYTICS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E4BFAE11-9EA4-4D21-B55A-0AECE5C43A23}"/>
              </a:ext>
            </a:extLst>
          </p:cNvPr>
          <p:cNvSpPr txBox="1"/>
          <p:nvPr/>
        </p:nvSpPr>
        <p:spPr>
          <a:xfrm>
            <a:off x="3733800" y="3581400"/>
            <a:ext cx="2540000" cy="990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>
                <a:solidFill>
                  <a:srgbClr val="160D3D"/>
                </a:solidFill>
                <a:latin typeface="Montserrat"/>
              </a:rPr>
              <a:t>• STAGING
• INTERMEDIATE
• MARTS
• SNAPSHOTS</a:t>
            </a:r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9444E804-24F1-40CA-A984-DB9F40F7FC04}"/>
              </a:ext>
            </a:extLst>
          </p:cNvPr>
          <p:cNvSpPr/>
          <p:nvPr/>
        </p:nvSpPr>
        <p:spPr>
          <a:xfrm>
            <a:off x="508000" y="4826000"/>
            <a:ext cx="5842000" cy="1143000"/>
          </a:xfrm>
          <a:prstGeom prst="roundRect">
            <a:avLst/>
          </a:prstGeom>
          <a:solidFill>
            <a:srgbClr val="FFF0E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550D69B1-ED78-41EB-855D-E3A5FA1A9296}"/>
              </a:ext>
            </a:extLst>
          </p:cNvPr>
          <p:cNvSpPr txBox="1"/>
          <p:nvPr/>
        </p:nvSpPr>
        <p:spPr>
          <a:xfrm>
            <a:off x="711200" y="4953000"/>
            <a:ext cx="5461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 b="1">
                <a:solidFill>
                  <a:srgbClr val="E8792F"/>
                </a:solidFill>
                <a:latin typeface="Montserrat"/>
              </a:rPr>
              <a:t>⚠  Sécurité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02667DC4-7919-47DA-AB8B-EBF6192BC4B4}"/>
              </a:ext>
            </a:extLst>
          </p:cNvPr>
          <p:cNvSpPr txBox="1"/>
          <p:nvPr/>
        </p:nvSpPr>
        <p:spPr>
          <a:xfrm>
            <a:off x="711200" y="5207000"/>
            <a:ext cx="5461000" cy="698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>
                <a:solidFill>
                  <a:srgbClr val="160D3D"/>
                </a:solidFill>
                <a:latin typeface="Montserrat"/>
              </a:rPr>
              <a:t>Ajouter profiles.yml au .gitignore — il contient les identifiants Snowflake et ne doit jamais être versionné.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FA2E64FE-F616-49C5-9920-EA2ED4FD49EC}"/>
              </a:ext>
            </a:extLst>
          </p:cNvPr>
          <p:cNvSpPr txBox="1"/>
          <p:nvPr/>
        </p:nvSpPr>
        <p:spPr>
          <a:xfrm>
            <a:off x="9260000" y="1752600"/>
            <a:ext cx="2387600" cy="2286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fr-FR" sz="800" b="1">
                <a:solidFill>
                  <a:srgbClr val="6B7BA8"/>
                </a:solidFill>
                <a:latin typeface="Montserrat"/>
              </a:rPr>
              <a:t>PROFILES.YML</a:t>
            </a:r>
          </a:p>
        </p:txBody>
      </p:sp>
    </p:spTree>
    <p:extLst>
      <p:ext uri="{BB962C8B-B14F-4D97-AF65-F5344CB8AC3E}">
        <p14:creationId xmlns:p14="http://schemas.microsoft.com/office/powerpoint/2010/main" val="10327113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5"/>
          </p:nvPr>
        </p:nvSpPr>
        <p:spPr>
          <a:xfrm>
            <a:off x="508000" y="0"/>
            <a:ext cx="11176000" cy="760021"/>
          </a:xfrm>
        </p:spPr>
        <p:txBody>
          <a:bodyPr/>
          <a:lstStyle/>
          <a:p>
            <a:pPr algn="ctr"/>
            <a:r>
              <a:rPr sz="2200" b="1" dirty="0" err="1">
                <a:solidFill>
                  <a:srgbClr val="160D3D"/>
                </a:solidFill>
                <a:latin typeface="Montserrat"/>
              </a:rPr>
              <a:t>dbt_project.yml</a:t>
            </a:r>
            <a:r>
              <a:rPr sz="2200" b="1" dirty="0">
                <a:solidFill>
                  <a:srgbClr val="160D3D"/>
                </a:solidFill>
                <a:latin typeface="Montserrat"/>
              </a:rPr>
              <a:t> et structure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00000" y="2082800"/>
            <a:ext cx="5200000" cy="3187700"/>
          </a:xfrm>
          <a:prstGeom prst="rect">
            <a:avLst/>
          </a:prstGeom>
          <a:solidFill>
            <a:srgbClr val="0A1730"/>
          </a:solidFill>
          <a:ln w="12700" cap="flat" cmpd="sng" algn="ctr">
            <a:noFill/>
            <a:prstDash val="solid"/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 anchorCtr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 lang="fr-FR" sz="900" i="1" dirty="0">
              <a:solidFill>
                <a:srgbClr val="6B7BA8"/>
              </a:solidFill>
              <a:latin typeface="Courier New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lang="fr-FR" sz="900" i="1" dirty="0">
              <a:solidFill>
                <a:srgbClr val="6B7BA8"/>
              </a:solidFill>
              <a:latin typeface="Courier New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lang="fr-FR" sz="900" i="1" dirty="0">
              <a:solidFill>
                <a:srgbClr val="6B7BA8"/>
              </a:solidFill>
              <a:latin typeface="Courier New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i="1" dirty="0">
                <a:solidFill>
                  <a:srgbClr val="6B7BA8"/>
                </a:solidFill>
                <a:latin typeface="Courier New"/>
              </a:rPr>
              <a:t># dbt_project.yml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b="1" dirty="0">
                <a:solidFill>
                  <a:srgbClr val="9D88FF"/>
                </a:solidFill>
                <a:latin typeface="Courier New"/>
              </a:rPr>
              <a:t>name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 </a:t>
            </a:r>
            <a:r>
              <a:rPr lang="fr-FR" sz="900" dirty="0">
                <a:solidFill>
                  <a:srgbClr val="FFA76B"/>
                </a:solidFill>
                <a:latin typeface="Courier New"/>
              </a:rPr>
              <a:t>'tpch_analytics'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b="1" dirty="0">
                <a:solidFill>
                  <a:srgbClr val="9D88FF"/>
                </a:solidFill>
                <a:latin typeface="Courier New"/>
              </a:rPr>
              <a:t>version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 </a:t>
            </a:r>
            <a:r>
              <a:rPr lang="fr-FR" sz="900" dirty="0">
                <a:solidFill>
                  <a:srgbClr val="FFA76B"/>
                </a:solidFill>
                <a:latin typeface="Courier New"/>
              </a:rPr>
              <a:t>'1.0.0'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b="1" dirty="0">
                <a:solidFill>
                  <a:srgbClr val="9D88FF"/>
                </a:solidFill>
                <a:latin typeface="Courier New"/>
              </a:rPr>
              <a:t>profile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 </a:t>
            </a:r>
            <a:r>
              <a:rPr lang="fr-FR" sz="900" dirty="0">
                <a:solidFill>
                  <a:srgbClr val="FFA76B"/>
                </a:solidFill>
                <a:latin typeface="Courier New"/>
              </a:rPr>
              <a:t>'tpch_analytics'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b="1" dirty="0">
                <a:solidFill>
                  <a:srgbClr val="9D88FF"/>
                </a:solidFill>
                <a:latin typeface="Courier New"/>
              </a:rPr>
              <a:t>models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tpch_analytics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staging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+materialized: view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+schema: staging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intermediate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+materialized: ephemeral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marts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+materialized: table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+schema: marts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+tags: [</a:t>
            </a:r>
            <a:r>
              <a:rPr lang="fr-FR" sz="900" dirty="0">
                <a:solidFill>
                  <a:srgbClr val="FFA76B"/>
                </a:solidFill>
                <a:latin typeface="Courier New"/>
              </a:rPr>
              <a:t>'daily'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]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D39875FA-03E5-404A-B331-44DAA2D5C216}"/>
              </a:ext>
            </a:extLst>
          </p:cNvPr>
          <p:cNvSpPr txBox="1"/>
          <p:nvPr/>
        </p:nvSpPr>
        <p:spPr>
          <a:xfrm>
            <a:off x="508000" y="1079500"/>
            <a:ext cx="584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500" b="1">
                <a:solidFill>
                  <a:srgbClr val="160D3D"/>
                </a:solidFill>
                <a:latin typeface="Montserrat"/>
              </a:rPr>
              <a:t>Configuration centrale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9F92DDBC-DBFD-474B-9C01-84C283E93E5A}"/>
              </a:ext>
            </a:extLst>
          </p:cNvPr>
          <p:cNvSpPr/>
          <p:nvPr/>
        </p:nvSpPr>
        <p:spPr>
          <a:xfrm>
            <a:off x="508000" y="1524000"/>
            <a:ext cx="5842000" cy="1397000"/>
          </a:xfrm>
          <a:prstGeom prst="roundRect">
            <a:avLst/>
          </a:prstGeom>
          <a:solidFill>
            <a:srgbClr val="F7F4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9A29C8A-7BD3-4288-92A6-4FB6029F7964}"/>
              </a:ext>
            </a:extLst>
          </p:cNvPr>
          <p:cNvSpPr txBox="1"/>
          <p:nvPr/>
        </p:nvSpPr>
        <p:spPr>
          <a:xfrm>
            <a:off x="711200" y="1651000"/>
            <a:ext cx="5461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b="1">
                <a:solidFill>
                  <a:srgbClr val="160D3D"/>
                </a:solidFill>
                <a:latin typeface="Montserrat"/>
              </a:rPr>
              <a:t>Architecture en couches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DBE63A25-5950-4206-B449-8816B9DF7A19}"/>
              </a:ext>
            </a:extLst>
          </p:cNvPr>
          <p:cNvSpPr/>
          <p:nvPr/>
        </p:nvSpPr>
        <p:spPr>
          <a:xfrm>
            <a:off x="711200" y="2006600"/>
            <a:ext cx="1752600" cy="698500"/>
          </a:xfrm>
          <a:prstGeom prst="roundRect">
            <a:avLst/>
          </a:prstGeom>
          <a:solidFill>
            <a:srgbClr val="E8E3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D6B03BFC-C881-4240-BC23-58A0451445B6}"/>
              </a:ext>
            </a:extLst>
          </p:cNvPr>
          <p:cNvSpPr txBox="1"/>
          <p:nvPr/>
        </p:nvSpPr>
        <p:spPr>
          <a:xfrm>
            <a:off x="711200" y="2095500"/>
            <a:ext cx="17526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b="1">
                <a:solidFill>
                  <a:srgbClr val="160D3D"/>
                </a:solidFill>
                <a:latin typeface="Montserrat"/>
              </a:rPr>
              <a:t>staging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F22D6CFF-57C5-40C4-AEEB-6CADDA4FDF86}"/>
              </a:ext>
            </a:extLst>
          </p:cNvPr>
          <p:cNvSpPr txBox="1"/>
          <p:nvPr/>
        </p:nvSpPr>
        <p:spPr>
          <a:xfrm>
            <a:off x="711200" y="2387600"/>
            <a:ext cx="17526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>
                <a:solidFill>
                  <a:srgbClr val="160D3D"/>
                </a:solidFill>
                <a:latin typeface="Montserrat"/>
              </a:rPr>
              <a:t>view</a:t>
            </a: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47EA4A58-F290-4876-83D1-CA87E1F5F24D}"/>
              </a:ext>
            </a:extLst>
          </p:cNvPr>
          <p:cNvSpPr/>
          <p:nvPr/>
        </p:nvSpPr>
        <p:spPr>
          <a:xfrm>
            <a:off x="2540000" y="2006600"/>
            <a:ext cx="1752600" cy="698500"/>
          </a:xfrm>
          <a:prstGeom prst="roundRect">
            <a:avLst/>
          </a:prstGeom>
          <a:solidFill>
            <a:srgbClr val="C9BDE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C51952E0-AE32-4043-8CE4-DD51FDB85D92}"/>
              </a:ext>
            </a:extLst>
          </p:cNvPr>
          <p:cNvSpPr txBox="1"/>
          <p:nvPr/>
        </p:nvSpPr>
        <p:spPr>
          <a:xfrm>
            <a:off x="2540000" y="2095500"/>
            <a:ext cx="17526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b="1">
                <a:solidFill>
                  <a:srgbClr val="160D3D"/>
                </a:solidFill>
                <a:latin typeface="Montserrat"/>
              </a:rPr>
              <a:t>intermediate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EDBBB284-E81A-4D01-8BCC-72126E830FBD}"/>
              </a:ext>
            </a:extLst>
          </p:cNvPr>
          <p:cNvSpPr txBox="1"/>
          <p:nvPr/>
        </p:nvSpPr>
        <p:spPr>
          <a:xfrm>
            <a:off x="2540000" y="2387600"/>
            <a:ext cx="17526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>
                <a:solidFill>
                  <a:srgbClr val="160D3D"/>
                </a:solidFill>
                <a:latin typeface="Montserrat"/>
              </a:rPr>
              <a:t>ephemeral</a:t>
            </a: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6C749DE1-E70B-45FA-A8F6-EB937A962498}"/>
              </a:ext>
            </a:extLst>
          </p:cNvPr>
          <p:cNvSpPr/>
          <p:nvPr/>
        </p:nvSpPr>
        <p:spPr>
          <a:xfrm>
            <a:off x="4368800" y="2006600"/>
            <a:ext cx="1752600" cy="698500"/>
          </a:xfrm>
          <a:prstGeom prst="roundRect">
            <a:avLst/>
          </a:prstGeom>
          <a:solidFill>
            <a:srgbClr val="160D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B0E8740A-3A22-4113-B20F-530BEC8CC104}"/>
              </a:ext>
            </a:extLst>
          </p:cNvPr>
          <p:cNvSpPr txBox="1"/>
          <p:nvPr/>
        </p:nvSpPr>
        <p:spPr>
          <a:xfrm>
            <a:off x="4368800" y="2095500"/>
            <a:ext cx="17526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b="1">
                <a:solidFill>
                  <a:srgbClr val="FFFFFF"/>
                </a:solidFill>
                <a:latin typeface="Montserrat"/>
              </a:rPr>
              <a:t>marts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747B3687-C71D-415E-BF97-85D446BA16EC}"/>
              </a:ext>
            </a:extLst>
          </p:cNvPr>
          <p:cNvSpPr txBox="1"/>
          <p:nvPr/>
        </p:nvSpPr>
        <p:spPr>
          <a:xfrm>
            <a:off x="4368800" y="2387600"/>
            <a:ext cx="17526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>
                <a:solidFill>
                  <a:srgbClr val="FFFFFF"/>
                </a:solidFill>
                <a:latin typeface="Montserrat"/>
              </a:rPr>
              <a:t>table</a:t>
            </a: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8C528DD9-990E-4293-B14A-91A5E90C34B4}"/>
              </a:ext>
            </a:extLst>
          </p:cNvPr>
          <p:cNvSpPr/>
          <p:nvPr/>
        </p:nvSpPr>
        <p:spPr>
          <a:xfrm>
            <a:off x="508000" y="3111500"/>
            <a:ext cx="5842000" cy="2794000"/>
          </a:xfrm>
          <a:prstGeom prst="roundRect">
            <a:avLst/>
          </a:prstGeom>
          <a:solidFill>
            <a:srgbClr val="F7F4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06C7E487-C6CD-4F96-886E-B72F53B22209}"/>
              </a:ext>
            </a:extLst>
          </p:cNvPr>
          <p:cNvSpPr txBox="1"/>
          <p:nvPr/>
        </p:nvSpPr>
        <p:spPr>
          <a:xfrm>
            <a:off x="711200" y="3225800"/>
            <a:ext cx="5461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b="1">
                <a:solidFill>
                  <a:srgbClr val="160D3D"/>
                </a:solidFill>
                <a:latin typeface="Montserrat"/>
              </a:rPr>
              <a:t>3 principes clés</a:t>
            </a: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54D8669B-D8B3-4A0E-8953-BF14E30BD948}"/>
              </a:ext>
            </a:extLst>
          </p:cNvPr>
          <p:cNvSpPr/>
          <p:nvPr/>
        </p:nvSpPr>
        <p:spPr>
          <a:xfrm>
            <a:off x="711200" y="3619500"/>
            <a:ext cx="355600" cy="355600"/>
          </a:xfrm>
          <a:prstGeom prst="ellipse">
            <a:avLst/>
          </a:prstGeom>
          <a:solidFill>
            <a:srgbClr val="160D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0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6893D36E-1015-418F-AA15-84B067BE71B5}"/>
              </a:ext>
            </a:extLst>
          </p:cNvPr>
          <p:cNvSpPr txBox="1"/>
          <p:nvPr/>
        </p:nvSpPr>
        <p:spPr>
          <a:xfrm>
            <a:off x="1193800" y="3619500"/>
            <a:ext cx="4953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b="1" dirty="0">
                <a:solidFill>
                  <a:srgbClr val="160D3D"/>
                </a:solidFill>
                <a:latin typeface="Montserrat"/>
              </a:rPr>
              <a:t>Matérialisation par couche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18896EE2-A2D1-45CD-96D1-C4B399FA6B6F}"/>
              </a:ext>
            </a:extLst>
          </p:cNvPr>
          <p:cNvSpPr txBox="1"/>
          <p:nvPr/>
        </p:nvSpPr>
        <p:spPr>
          <a:xfrm>
            <a:off x="1193800" y="3898900"/>
            <a:ext cx="4953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>
                <a:solidFill>
                  <a:srgbClr val="3D2E5C"/>
                </a:solidFill>
                <a:latin typeface="Montserrat"/>
              </a:rPr>
              <a:t>view (staging) → ephemeral (int) → table (marts)</a:t>
            </a:r>
            <a:endParaRPr lang="fr-FR" sz="1000">
              <a:solidFill>
                <a:srgbClr val="3D2E5C"/>
              </a:solidFill>
              <a:latin typeface="Montserrat"/>
            </a:endParaRPr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794D2C51-F359-4013-B793-9424D68D1588}"/>
              </a:ext>
            </a:extLst>
          </p:cNvPr>
          <p:cNvSpPr/>
          <p:nvPr/>
        </p:nvSpPr>
        <p:spPr>
          <a:xfrm>
            <a:off x="711200" y="4356100"/>
            <a:ext cx="355600" cy="355600"/>
          </a:xfrm>
          <a:prstGeom prst="ellipse">
            <a:avLst/>
          </a:prstGeom>
          <a:solidFill>
            <a:srgbClr val="160D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0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9E3AD9C1-55E3-45E2-80FA-7B6A385CB2D9}"/>
              </a:ext>
            </a:extLst>
          </p:cNvPr>
          <p:cNvSpPr txBox="1"/>
          <p:nvPr/>
        </p:nvSpPr>
        <p:spPr>
          <a:xfrm>
            <a:off x="1193800" y="4356100"/>
            <a:ext cx="4953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b="1">
                <a:solidFill>
                  <a:srgbClr val="160D3D"/>
                </a:solidFill>
                <a:latin typeface="Montserrat"/>
              </a:rPr>
              <a:t>Schemas personnalisés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7F9D7777-E776-4BE7-9C76-5D0A36758C74}"/>
              </a:ext>
            </a:extLst>
          </p:cNvPr>
          <p:cNvSpPr txBox="1"/>
          <p:nvPr/>
        </p:nvSpPr>
        <p:spPr>
          <a:xfrm>
            <a:off x="1193800" y="4635500"/>
            <a:ext cx="4953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>
                <a:solidFill>
                  <a:srgbClr val="3D2E5C"/>
                </a:solidFill>
                <a:latin typeface="Montserrat"/>
              </a:rPr>
              <a:t>Isolation logique : ANALYTICS_STAGING, ANALYTICS_MARTS</a:t>
            </a:r>
          </a:p>
        </p:txBody>
      </p:sp>
      <p:sp>
        <p:nvSpPr>
          <p:cNvPr id="25" name="Ellipse 24">
            <a:extLst>
              <a:ext uri="{FF2B5EF4-FFF2-40B4-BE49-F238E27FC236}">
                <a16:creationId xmlns:a16="http://schemas.microsoft.com/office/drawing/2014/main" id="{4905D1FA-BDD1-47B1-AADB-ED484A51B241}"/>
              </a:ext>
            </a:extLst>
          </p:cNvPr>
          <p:cNvSpPr/>
          <p:nvPr/>
        </p:nvSpPr>
        <p:spPr>
          <a:xfrm>
            <a:off x="711200" y="5092700"/>
            <a:ext cx="355600" cy="355600"/>
          </a:xfrm>
          <a:prstGeom prst="ellipse">
            <a:avLst/>
          </a:prstGeom>
          <a:solidFill>
            <a:srgbClr val="160D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0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82DF41EF-7EE5-4615-9D2A-0EB392F08255}"/>
              </a:ext>
            </a:extLst>
          </p:cNvPr>
          <p:cNvSpPr txBox="1"/>
          <p:nvPr/>
        </p:nvSpPr>
        <p:spPr>
          <a:xfrm>
            <a:off x="1193800" y="5092700"/>
            <a:ext cx="4953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b="1">
                <a:solidFill>
                  <a:srgbClr val="160D3D"/>
                </a:solidFill>
                <a:latin typeface="Montserrat"/>
              </a:rPr>
              <a:t>Variables et hooks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F3A12B6A-3C4E-4A51-8C46-7E886B7DFAA0}"/>
              </a:ext>
            </a:extLst>
          </p:cNvPr>
          <p:cNvSpPr txBox="1"/>
          <p:nvPr/>
        </p:nvSpPr>
        <p:spPr>
          <a:xfrm>
            <a:off x="1193800" y="5372100"/>
            <a:ext cx="4953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>
                <a:solidFill>
                  <a:srgbClr val="3D2E5C"/>
                </a:solidFill>
                <a:latin typeface="Montserrat"/>
              </a:rPr>
              <a:t>Variables réutilisables, post-hooks pour les GRANTs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AB7803E3-C7DF-4877-857F-CC8A20E8A7DA}"/>
              </a:ext>
            </a:extLst>
          </p:cNvPr>
          <p:cNvSpPr txBox="1"/>
          <p:nvPr/>
        </p:nvSpPr>
        <p:spPr>
          <a:xfrm>
            <a:off x="9260000" y="2209800"/>
            <a:ext cx="2387600" cy="2286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fr-FR" sz="800" b="1">
                <a:solidFill>
                  <a:srgbClr val="6B7BA8"/>
                </a:solidFill>
                <a:latin typeface="Montserrat"/>
              </a:rPr>
              <a:t>DBT_PROJECT.YML</a:t>
            </a:r>
          </a:p>
        </p:txBody>
      </p:sp>
    </p:spTree>
    <p:extLst>
      <p:ext uri="{BB962C8B-B14F-4D97-AF65-F5344CB8AC3E}">
        <p14:creationId xmlns:p14="http://schemas.microsoft.com/office/powerpoint/2010/main" val="9575025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5"/>
          </p:nvPr>
        </p:nvSpPr>
        <p:spPr>
          <a:xfrm>
            <a:off x="508000" y="0"/>
            <a:ext cx="11176000" cy="760021"/>
          </a:xfrm>
        </p:spPr>
        <p:txBody>
          <a:bodyPr/>
          <a:lstStyle/>
          <a:p>
            <a:pPr algn="ctr"/>
            <a:r>
              <a:rPr sz="2200" b="1">
                <a:solidFill>
                  <a:srgbClr val="160D3D"/>
                </a:solidFill>
                <a:latin typeface="Montserrat"/>
              </a:rPr>
              <a:t>Exercice 2A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00000" y="2476500"/>
            <a:ext cx="5200000" cy="2413000"/>
          </a:xfrm>
          <a:prstGeom prst="rect">
            <a:avLst/>
          </a:prstGeom>
          <a:solidFill>
            <a:srgbClr val="0A1730"/>
          </a:solidFill>
          <a:ln w="12700" cap="flat" cmpd="sng" algn="ctr">
            <a:noFill/>
            <a:prstDash val="solid"/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 anchorCtr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 lang="fr-FR" sz="900" b="1" dirty="0">
              <a:solidFill>
                <a:srgbClr val="6B7BA8"/>
              </a:solidFill>
              <a:latin typeface="Courier New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lang="fr-FR" sz="900" b="1" dirty="0">
              <a:solidFill>
                <a:srgbClr val="6B7BA8"/>
              </a:solidFill>
              <a:latin typeface="Courier New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lang="fr-FR" sz="900" b="1" dirty="0">
              <a:solidFill>
                <a:srgbClr val="6B7BA8"/>
              </a:solidFill>
              <a:latin typeface="Courier New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b="1" dirty="0">
                <a:solidFill>
                  <a:srgbClr val="6B7BA8"/>
                </a:solidFill>
                <a:latin typeface="Courier New"/>
              </a:rPr>
              <a:t>$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cd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tpch_analytics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b="1" dirty="0">
                <a:solidFill>
                  <a:srgbClr val="6B7BA8"/>
                </a:solidFill>
                <a:latin typeface="Courier New"/>
              </a:rPr>
              <a:t>$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source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venv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/bin/activate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b="1" dirty="0">
                <a:solidFill>
                  <a:srgbClr val="6B7BA8"/>
                </a:solidFill>
                <a:latin typeface="Courier New"/>
              </a:rPr>
              <a:t>$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dbt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debug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i="1" dirty="0">
                <a:solidFill>
                  <a:srgbClr val="6B7BA8"/>
                </a:solidFill>
                <a:latin typeface="Courier New"/>
              </a:rPr>
              <a:t># Resultat attendu 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i="1" dirty="0">
                <a:solidFill>
                  <a:srgbClr val="6B7BA8"/>
                </a:solidFill>
                <a:latin typeface="Courier New"/>
              </a:rPr>
              <a:t># Connection: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i="1" dirty="0">
                <a:solidFill>
                  <a:srgbClr val="6B7BA8"/>
                </a:solidFill>
                <a:latin typeface="Courier New"/>
              </a:rPr>
              <a:t>#   account: QRQOCXI-KD48953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i="1" dirty="0">
                <a:solidFill>
                  <a:srgbClr val="6B7BA8"/>
                </a:solidFill>
                <a:latin typeface="Courier New"/>
              </a:rPr>
              <a:t>#   database: ANALYTICS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i="1" dirty="0">
                <a:solidFill>
                  <a:srgbClr val="6B7BA8"/>
                </a:solidFill>
                <a:latin typeface="Courier New"/>
              </a:rPr>
              <a:t>#   schema: DEV_JULIEN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i="1" dirty="0">
                <a:solidFill>
                  <a:srgbClr val="6B7BA8"/>
                </a:solidFill>
                <a:latin typeface="Courier New"/>
              </a:rPr>
              <a:t>#   warehouse: COMPUTE_WH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i="1" dirty="0">
                <a:solidFill>
                  <a:srgbClr val="6B7BA8"/>
                </a:solidFill>
                <a:latin typeface="Courier New"/>
              </a:rPr>
              <a:t>#   All checks passed!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ADA997D9-EEC5-4EE2-9AE9-895718676366}"/>
              </a:ext>
            </a:extLst>
          </p:cNvPr>
          <p:cNvSpPr/>
          <p:nvPr/>
        </p:nvSpPr>
        <p:spPr>
          <a:xfrm>
            <a:off x="508000" y="1079500"/>
            <a:ext cx="5842000" cy="635000"/>
          </a:xfrm>
          <a:prstGeom prst="roundRect">
            <a:avLst/>
          </a:prstGeom>
          <a:solidFill>
            <a:srgbClr val="E879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220A820C-5992-42DE-9DF1-3B3AB752CCA5}"/>
              </a:ext>
            </a:extLst>
          </p:cNvPr>
          <p:cNvSpPr txBox="1"/>
          <p:nvPr/>
        </p:nvSpPr>
        <p:spPr>
          <a:xfrm>
            <a:off x="711200" y="1168400"/>
            <a:ext cx="5461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 b="1">
                <a:solidFill>
                  <a:srgbClr val="FFFFFF"/>
                </a:solidFill>
                <a:latin typeface="Montserrat"/>
              </a:rPr>
              <a:t>EXERCICE 2A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B56A4B9B-DAA5-41C3-9AF3-DBCB0B1F7E19}"/>
              </a:ext>
            </a:extLst>
          </p:cNvPr>
          <p:cNvSpPr txBox="1"/>
          <p:nvPr/>
        </p:nvSpPr>
        <p:spPr>
          <a:xfrm>
            <a:off x="711200" y="1397000"/>
            <a:ext cx="546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 b="1">
                <a:solidFill>
                  <a:srgbClr val="FFFFFF"/>
                </a:solidFill>
                <a:latin typeface="Montserrat"/>
              </a:rPr>
              <a:t>Vérifier la connexion Snowflake</a:t>
            </a: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220BFFCC-436B-4C56-A49F-44A39F381FF8}"/>
              </a:ext>
            </a:extLst>
          </p:cNvPr>
          <p:cNvSpPr/>
          <p:nvPr/>
        </p:nvSpPr>
        <p:spPr>
          <a:xfrm>
            <a:off x="508000" y="1905000"/>
            <a:ext cx="5842000" cy="4064000"/>
          </a:xfrm>
          <a:prstGeom prst="roundRect">
            <a:avLst/>
          </a:prstGeom>
          <a:solidFill>
            <a:srgbClr val="F7F4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AE83B290-804E-4FE8-BC44-EF0712F54610}"/>
              </a:ext>
            </a:extLst>
          </p:cNvPr>
          <p:cNvSpPr txBox="1"/>
          <p:nvPr/>
        </p:nvSpPr>
        <p:spPr>
          <a:xfrm>
            <a:off x="711200" y="2032000"/>
            <a:ext cx="5461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b="1">
                <a:solidFill>
                  <a:srgbClr val="E8792F"/>
                </a:solidFill>
                <a:latin typeface="Montserrat"/>
              </a:rPr>
              <a:t>Étapes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278B8196-6012-49DB-AB48-667BDB599FC0}"/>
              </a:ext>
            </a:extLst>
          </p:cNvPr>
          <p:cNvSpPr/>
          <p:nvPr/>
        </p:nvSpPr>
        <p:spPr>
          <a:xfrm>
            <a:off x="711200" y="2476500"/>
            <a:ext cx="355600" cy="355600"/>
          </a:xfrm>
          <a:prstGeom prst="ellipse">
            <a:avLst/>
          </a:prstGeom>
          <a:solidFill>
            <a:srgbClr val="E879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0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6EA1A8B9-38CF-4140-A3F7-E35A56BCC7E4}"/>
              </a:ext>
            </a:extLst>
          </p:cNvPr>
          <p:cNvSpPr txBox="1"/>
          <p:nvPr/>
        </p:nvSpPr>
        <p:spPr>
          <a:xfrm>
            <a:off x="1193800" y="2527300"/>
            <a:ext cx="4953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160D3D"/>
                </a:solidFill>
                <a:latin typeface="Montserrat"/>
              </a:rPr>
              <a:t>Ouvrir un terminal dans tpch_analytics/</a:t>
            </a: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BCB13167-4402-4642-8A14-075F32C68804}"/>
              </a:ext>
            </a:extLst>
          </p:cNvPr>
          <p:cNvSpPr/>
          <p:nvPr/>
        </p:nvSpPr>
        <p:spPr>
          <a:xfrm>
            <a:off x="711200" y="3009900"/>
            <a:ext cx="355600" cy="355600"/>
          </a:xfrm>
          <a:prstGeom prst="ellipse">
            <a:avLst/>
          </a:prstGeom>
          <a:solidFill>
            <a:srgbClr val="E879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0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EB3AB44A-2869-4111-B1B4-1AB7124EDA48}"/>
              </a:ext>
            </a:extLst>
          </p:cNvPr>
          <p:cNvSpPr txBox="1"/>
          <p:nvPr/>
        </p:nvSpPr>
        <p:spPr>
          <a:xfrm>
            <a:off x="1193800" y="3060700"/>
            <a:ext cx="4953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160D3D"/>
                </a:solidFill>
                <a:latin typeface="Montserrat"/>
              </a:rPr>
              <a:t>Activer l'environnement virtuel : source venv/bin/activate</a:t>
            </a:r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F56243A2-6FDC-4822-80EF-2A1667E8B97A}"/>
              </a:ext>
            </a:extLst>
          </p:cNvPr>
          <p:cNvSpPr/>
          <p:nvPr/>
        </p:nvSpPr>
        <p:spPr>
          <a:xfrm>
            <a:off x="711200" y="3543300"/>
            <a:ext cx="355600" cy="355600"/>
          </a:xfrm>
          <a:prstGeom prst="ellipse">
            <a:avLst/>
          </a:prstGeom>
          <a:solidFill>
            <a:srgbClr val="E879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0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73B608F8-912C-4261-95D1-2878C6F324B4}"/>
              </a:ext>
            </a:extLst>
          </p:cNvPr>
          <p:cNvSpPr txBox="1"/>
          <p:nvPr/>
        </p:nvSpPr>
        <p:spPr>
          <a:xfrm>
            <a:off x="1193800" y="3594100"/>
            <a:ext cx="4953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160D3D"/>
                </a:solidFill>
                <a:latin typeface="Montserrat"/>
              </a:rPr>
              <a:t>Lancer : dbt debug</a:t>
            </a: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C5561021-CB3F-4D03-8CE5-A359D178439E}"/>
              </a:ext>
            </a:extLst>
          </p:cNvPr>
          <p:cNvSpPr/>
          <p:nvPr/>
        </p:nvSpPr>
        <p:spPr>
          <a:xfrm>
            <a:off x="711200" y="4076700"/>
            <a:ext cx="355600" cy="355600"/>
          </a:xfrm>
          <a:prstGeom prst="ellipse">
            <a:avLst/>
          </a:prstGeom>
          <a:solidFill>
            <a:srgbClr val="E879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000" b="1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4750A09D-EB58-495C-874A-427B57FA1873}"/>
              </a:ext>
            </a:extLst>
          </p:cNvPr>
          <p:cNvSpPr txBox="1"/>
          <p:nvPr/>
        </p:nvSpPr>
        <p:spPr>
          <a:xfrm>
            <a:off x="1193800" y="4127500"/>
            <a:ext cx="4953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160D3D"/>
                </a:solidFill>
                <a:latin typeface="Montserrat"/>
              </a:rPr>
              <a:t>Vérifier que toutes les vérifications passent</a:t>
            </a:r>
          </a:p>
        </p:txBody>
      </p:sp>
      <p:sp>
        <p:nvSpPr>
          <p:cNvPr id="20" name="Ellipse 19">
            <a:extLst>
              <a:ext uri="{FF2B5EF4-FFF2-40B4-BE49-F238E27FC236}">
                <a16:creationId xmlns:a16="http://schemas.microsoft.com/office/drawing/2014/main" id="{0EDE2316-9422-426F-B18B-E9553536FC20}"/>
              </a:ext>
            </a:extLst>
          </p:cNvPr>
          <p:cNvSpPr/>
          <p:nvPr/>
        </p:nvSpPr>
        <p:spPr>
          <a:xfrm>
            <a:off x="711200" y="4610100"/>
            <a:ext cx="355600" cy="355600"/>
          </a:xfrm>
          <a:prstGeom prst="ellipse">
            <a:avLst/>
          </a:prstGeom>
          <a:solidFill>
            <a:srgbClr val="E879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000" b="1">
                <a:solidFill>
                  <a:srgbClr val="FFFFFF"/>
                </a:solidFill>
                <a:latin typeface="Montserrat"/>
              </a:rPr>
              <a:t>5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DA5ED171-2E06-49FF-AB82-4A3E2C874AA3}"/>
              </a:ext>
            </a:extLst>
          </p:cNvPr>
          <p:cNvSpPr txBox="1"/>
          <p:nvPr/>
        </p:nvSpPr>
        <p:spPr>
          <a:xfrm>
            <a:off x="1193800" y="4660900"/>
            <a:ext cx="4953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160D3D"/>
                </a:solidFill>
                <a:latin typeface="Montserrat"/>
              </a:rPr>
              <a:t>En cas d'erreur, contrôler profiles.yml (~/.dbt/)</a:t>
            </a:r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2E9F0168-4E25-4F47-97F0-0F8D231DA353}"/>
              </a:ext>
            </a:extLst>
          </p:cNvPr>
          <p:cNvSpPr/>
          <p:nvPr/>
        </p:nvSpPr>
        <p:spPr>
          <a:xfrm>
            <a:off x="711200" y="5143500"/>
            <a:ext cx="355600" cy="355600"/>
          </a:xfrm>
          <a:prstGeom prst="ellipse">
            <a:avLst/>
          </a:prstGeom>
          <a:solidFill>
            <a:srgbClr val="E879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000" b="1">
                <a:solidFill>
                  <a:srgbClr val="FFFFFF"/>
                </a:solidFill>
                <a:latin typeface="Montserrat"/>
              </a:rPr>
              <a:t>6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1038F8FF-60A8-40E6-8A84-BEF4DDB22BD6}"/>
              </a:ext>
            </a:extLst>
          </p:cNvPr>
          <p:cNvSpPr txBox="1"/>
          <p:nvPr/>
        </p:nvSpPr>
        <p:spPr>
          <a:xfrm>
            <a:off x="1193800" y="5194300"/>
            <a:ext cx="4953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160D3D"/>
                </a:solidFill>
                <a:latin typeface="Montserrat"/>
              </a:rPr>
              <a:t>Vérifier que le rôle a accès au warehouse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7077DF06-4619-400D-876A-97D14F6271C6}"/>
              </a:ext>
            </a:extLst>
          </p:cNvPr>
          <p:cNvSpPr txBox="1"/>
          <p:nvPr/>
        </p:nvSpPr>
        <p:spPr>
          <a:xfrm>
            <a:off x="9260000" y="2603500"/>
            <a:ext cx="2387600" cy="2286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fr-FR" sz="800" b="1">
                <a:solidFill>
                  <a:srgbClr val="6B7BA8"/>
                </a:solidFill>
                <a:latin typeface="Montserrat"/>
              </a:rPr>
              <a:t>TERMINAL</a:t>
            </a:r>
          </a:p>
        </p:txBody>
      </p:sp>
    </p:spTree>
    <p:extLst>
      <p:ext uri="{BB962C8B-B14F-4D97-AF65-F5344CB8AC3E}">
        <p14:creationId xmlns:p14="http://schemas.microsoft.com/office/powerpoint/2010/main" val="29772601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5"/>
          </p:nvPr>
        </p:nvSpPr>
        <p:spPr>
          <a:xfrm>
            <a:off x="508000" y="0"/>
            <a:ext cx="11176000" cy="760021"/>
          </a:xfrm>
        </p:spPr>
        <p:txBody>
          <a:bodyPr/>
          <a:lstStyle/>
          <a:p>
            <a:pPr algn="ctr"/>
            <a:r>
              <a:rPr sz="2200" b="1">
                <a:solidFill>
                  <a:srgbClr val="160D3D"/>
                </a:solidFill>
                <a:latin typeface="Montserrat"/>
              </a:rPr>
              <a:t>Exercice 2B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00000" y="2235200"/>
            <a:ext cx="5200000" cy="2882900"/>
          </a:xfrm>
          <a:prstGeom prst="rect">
            <a:avLst/>
          </a:prstGeom>
          <a:solidFill>
            <a:srgbClr val="0A1730"/>
          </a:solidFill>
          <a:ln w="12700" cap="flat" cmpd="sng" algn="ctr">
            <a:noFill/>
            <a:prstDash val="solid"/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 anchorCtr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 lang="fr-FR" sz="900" b="1" dirty="0">
              <a:solidFill>
                <a:srgbClr val="6B7BA8"/>
              </a:solidFill>
              <a:latin typeface="Courier New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lang="fr-FR" sz="900" b="1" dirty="0">
              <a:solidFill>
                <a:srgbClr val="6B7BA8"/>
              </a:solidFill>
              <a:latin typeface="Courier New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lang="fr-FR" sz="900" b="1" dirty="0">
              <a:solidFill>
                <a:srgbClr val="6B7BA8"/>
              </a:solidFill>
              <a:latin typeface="Courier New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b="1" dirty="0">
                <a:solidFill>
                  <a:srgbClr val="6B7BA8"/>
                </a:solidFill>
                <a:latin typeface="Courier New"/>
              </a:rPr>
              <a:t>$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git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init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i="1" dirty="0">
                <a:solidFill>
                  <a:srgbClr val="6B7BA8"/>
                </a:solidFill>
                <a:latin typeface="Courier New"/>
              </a:rPr>
              <a:t># .gitignore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target/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dbt_packages/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logs/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.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venv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/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profiles.yml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.env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b="1" dirty="0">
                <a:solidFill>
                  <a:srgbClr val="6B7BA8"/>
                </a:solidFill>
                <a:latin typeface="Courier New"/>
              </a:rPr>
              <a:t>$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git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add 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b="1" dirty="0">
                <a:solidFill>
                  <a:srgbClr val="6B7BA8"/>
                </a:solidFill>
                <a:latin typeface="Courier New"/>
              </a:rPr>
              <a:t>$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git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commit -m </a:t>
            </a:r>
            <a:r>
              <a:rPr lang="fr-FR" sz="900" dirty="0">
                <a:solidFill>
                  <a:srgbClr val="FFA76B"/>
                </a:solidFill>
                <a:latin typeface="Courier New"/>
              </a:rPr>
              <a:t>"feat: initial dbt project"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b="1" dirty="0">
                <a:solidFill>
                  <a:srgbClr val="6B7BA8"/>
                </a:solidFill>
                <a:latin typeface="Courier New"/>
              </a:rPr>
              <a:t>$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git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remote add origin &lt;URL&gt;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b="1" dirty="0">
                <a:solidFill>
                  <a:srgbClr val="6B7BA8"/>
                </a:solidFill>
                <a:latin typeface="Courier New"/>
              </a:rPr>
              <a:t>$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git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push -u origin main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AB4E50D6-24ED-481C-A67E-A885B615E54B}"/>
              </a:ext>
            </a:extLst>
          </p:cNvPr>
          <p:cNvSpPr/>
          <p:nvPr/>
        </p:nvSpPr>
        <p:spPr>
          <a:xfrm>
            <a:off x="508000" y="1079500"/>
            <a:ext cx="5842000" cy="635000"/>
          </a:xfrm>
          <a:prstGeom prst="roundRect">
            <a:avLst/>
          </a:prstGeom>
          <a:solidFill>
            <a:srgbClr val="E879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DE6082C4-E4BF-4874-A320-C4FC2F402BAE}"/>
              </a:ext>
            </a:extLst>
          </p:cNvPr>
          <p:cNvSpPr txBox="1"/>
          <p:nvPr/>
        </p:nvSpPr>
        <p:spPr>
          <a:xfrm>
            <a:off x="711200" y="1168400"/>
            <a:ext cx="5461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 b="1">
                <a:solidFill>
                  <a:srgbClr val="FFFFFF"/>
                </a:solidFill>
                <a:latin typeface="Montserrat"/>
              </a:rPr>
              <a:t>EXERCICE 2B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BEDD2EA9-5900-4E0B-A44A-026D59F99CEF}"/>
              </a:ext>
            </a:extLst>
          </p:cNvPr>
          <p:cNvSpPr txBox="1"/>
          <p:nvPr/>
        </p:nvSpPr>
        <p:spPr>
          <a:xfrm>
            <a:off x="711200" y="1397000"/>
            <a:ext cx="546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 b="1">
                <a:solidFill>
                  <a:srgbClr val="FFFFFF"/>
                </a:solidFill>
                <a:latin typeface="Montserrat"/>
              </a:rPr>
              <a:t>Initialiser le dépôt Git</a:t>
            </a: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8F97292E-A36C-4678-AE7B-9F79D3553173}"/>
              </a:ext>
            </a:extLst>
          </p:cNvPr>
          <p:cNvSpPr/>
          <p:nvPr/>
        </p:nvSpPr>
        <p:spPr>
          <a:xfrm>
            <a:off x="508000" y="1905000"/>
            <a:ext cx="5842000" cy="3429000"/>
          </a:xfrm>
          <a:prstGeom prst="roundRect">
            <a:avLst/>
          </a:prstGeom>
          <a:solidFill>
            <a:srgbClr val="F7F4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12BB916A-D3AF-4301-9628-27A790634C5E}"/>
              </a:ext>
            </a:extLst>
          </p:cNvPr>
          <p:cNvSpPr txBox="1"/>
          <p:nvPr/>
        </p:nvSpPr>
        <p:spPr>
          <a:xfrm>
            <a:off x="711200" y="2032000"/>
            <a:ext cx="5461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b="1">
                <a:solidFill>
                  <a:srgbClr val="E8792F"/>
                </a:solidFill>
                <a:latin typeface="Montserrat"/>
              </a:rPr>
              <a:t>Étapes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FE37AD13-375F-4F40-9902-8BED8B14E04D}"/>
              </a:ext>
            </a:extLst>
          </p:cNvPr>
          <p:cNvSpPr/>
          <p:nvPr/>
        </p:nvSpPr>
        <p:spPr>
          <a:xfrm>
            <a:off x="711200" y="2476500"/>
            <a:ext cx="355600" cy="355600"/>
          </a:xfrm>
          <a:prstGeom prst="ellipse">
            <a:avLst/>
          </a:prstGeom>
          <a:solidFill>
            <a:srgbClr val="E879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0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7821E6DE-D3C4-415A-B233-0BB3E3CEBE96}"/>
              </a:ext>
            </a:extLst>
          </p:cNvPr>
          <p:cNvSpPr txBox="1"/>
          <p:nvPr/>
        </p:nvSpPr>
        <p:spPr>
          <a:xfrm>
            <a:off x="1193800" y="2527300"/>
            <a:ext cx="4953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>
                <a:solidFill>
                  <a:srgbClr val="160D3D"/>
                </a:solidFill>
                <a:latin typeface="Montserrat"/>
              </a:rPr>
              <a:t>Créer le fichier .gitignore</a:t>
            </a: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8F4F8E04-92AA-44EA-87E8-D16099C2357B}"/>
              </a:ext>
            </a:extLst>
          </p:cNvPr>
          <p:cNvSpPr/>
          <p:nvPr/>
        </p:nvSpPr>
        <p:spPr>
          <a:xfrm>
            <a:off x="711200" y="3111500"/>
            <a:ext cx="355600" cy="355600"/>
          </a:xfrm>
          <a:prstGeom prst="ellipse">
            <a:avLst/>
          </a:prstGeom>
          <a:solidFill>
            <a:srgbClr val="E879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0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D6FCC453-CB32-4DF2-81F4-E8135D0BB4E0}"/>
              </a:ext>
            </a:extLst>
          </p:cNvPr>
          <p:cNvSpPr txBox="1"/>
          <p:nvPr/>
        </p:nvSpPr>
        <p:spPr>
          <a:xfrm>
            <a:off x="1193800" y="3162300"/>
            <a:ext cx="4953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>
                <a:solidFill>
                  <a:srgbClr val="160D3D"/>
                </a:solidFill>
                <a:latin typeface="Montserrat"/>
              </a:rPr>
              <a:t>Initialiser git dans le dossier projet</a:t>
            </a:r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2EFD8931-1CBC-4E3F-AF02-F34D67BBAA2C}"/>
              </a:ext>
            </a:extLst>
          </p:cNvPr>
          <p:cNvSpPr/>
          <p:nvPr/>
        </p:nvSpPr>
        <p:spPr>
          <a:xfrm>
            <a:off x="711200" y="3746500"/>
            <a:ext cx="355600" cy="355600"/>
          </a:xfrm>
          <a:prstGeom prst="ellipse">
            <a:avLst/>
          </a:prstGeom>
          <a:solidFill>
            <a:srgbClr val="E879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0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72D794D4-1219-42A7-8306-30AC601E6F2C}"/>
              </a:ext>
            </a:extLst>
          </p:cNvPr>
          <p:cNvSpPr txBox="1"/>
          <p:nvPr/>
        </p:nvSpPr>
        <p:spPr>
          <a:xfrm>
            <a:off x="1193800" y="3797300"/>
            <a:ext cx="4953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>
                <a:solidFill>
                  <a:srgbClr val="160D3D"/>
                </a:solidFill>
                <a:latin typeface="Montserrat"/>
              </a:rPr>
              <a:t>Premier commit : git add . puis git commit</a:t>
            </a: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0677F4E9-1A8E-447F-8796-72C58059CB35}"/>
              </a:ext>
            </a:extLst>
          </p:cNvPr>
          <p:cNvSpPr/>
          <p:nvPr/>
        </p:nvSpPr>
        <p:spPr>
          <a:xfrm>
            <a:off x="711200" y="4381500"/>
            <a:ext cx="355600" cy="355600"/>
          </a:xfrm>
          <a:prstGeom prst="ellipse">
            <a:avLst/>
          </a:prstGeom>
          <a:solidFill>
            <a:srgbClr val="E879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000" b="1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B2311E30-F1BA-47AE-BB84-EAA6773C9BE6}"/>
              </a:ext>
            </a:extLst>
          </p:cNvPr>
          <p:cNvSpPr txBox="1"/>
          <p:nvPr/>
        </p:nvSpPr>
        <p:spPr>
          <a:xfrm>
            <a:off x="1193800" y="4432300"/>
            <a:ext cx="4953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>
                <a:solidFill>
                  <a:srgbClr val="160D3D"/>
                </a:solidFill>
                <a:latin typeface="Montserrat"/>
              </a:rPr>
              <a:t>Créer le dépôt GitHub et le pousser</a:t>
            </a:r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589325E3-6A2B-4C2F-9D38-7EF77A4295BE}"/>
              </a:ext>
            </a:extLst>
          </p:cNvPr>
          <p:cNvSpPr/>
          <p:nvPr/>
        </p:nvSpPr>
        <p:spPr>
          <a:xfrm>
            <a:off x="508000" y="5524500"/>
            <a:ext cx="5842000" cy="508000"/>
          </a:xfrm>
          <a:prstGeom prst="roundRect">
            <a:avLst/>
          </a:prstGeom>
          <a:solidFill>
            <a:srgbClr val="FFF0E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C1774AE8-2624-42C3-AF4A-1A7FF5C649D0}"/>
              </a:ext>
            </a:extLst>
          </p:cNvPr>
          <p:cNvSpPr txBox="1"/>
          <p:nvPr/>
        </p:nvSpPr>
        <p:spPr>
          <a:xfrm>
            <a:off x="711200" y="5664200"/>
            <a:ext cx="5461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 b="1">
                <a:solidFill>
                  <a:srgbClr val="E8792F"/>
                </a:solidFill>
                <a:latin typeface="Montserrat"/>
              </a:rPr>
              <a:t>💡 Ne jamais commiter profiles.yml ni le dossier target/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36CE9482-5322-4ADF-8B40-397F5F37E732}"/>
              </a:ext>
            </a:extLst>
          </p:cNvPr>
          <p:cNvSpPr txBox="1"/>
          <p:nvPr/>
        </p:nvSpPr>
        <p:spPr>
          <a:xfrm>
            <a:off x="9260000" y="2362200"/>
            <a:ext cx="2387600" cy="2286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fr-FR" sz="800" b="1">
                <a:solidFill>
                  <a:srgbClr val="6B7BA8"/>
                </a:solidFill>
                <a:latin typeface="Montserrat"/>
              </a:rPr>
              <a:t>TERMINAL</a:t>
            </a:r>
          </a:p>
        </p:txBody>
      </p:sp>
    </p:spTree>
    <p:extLst>
      <p:ext uri="{BB962C8B-B14F-4D97-AF65-F5344CB8AC3E}">
        <p14:creationId xmlns:p14="http://schemas.microsoft.com/office/powerpoint/2010/main" val="14540422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7E8FC1-CBF8-2B3D-88F3-6FB6A911C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C77A54F1-9A7F-4410-A166-2FF306780F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7700"/>
            <a:ext cx="12192000" cy="5562600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ECB226-9C4F-8D22-AA68-9E358E74273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8000" y="0"/>
            <a:ext cx="11176000" cy="760021"/>
          </a:xfrm>
        </p:spPr>
        <p:txBody>
          <a:bodyPr/>
          <a:lstStyle/>
          <a:p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CCAC97-EE2B-626F-4F3A-38840188ED4A}"/>
              </a:ext>
            </a:extLst>
          </p:cNvPr>
          <p:cNvSpPr txBox="1"/>
          <p:nvPr/>
        </p:nvSpPr>
        <p:spPr>
          <a:xfrm>
            <a:off x="1143753" y="2203730"/>
            <a:ext cx="3000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0" b="1" dirty="0">
                <a:solidFill>
                  <a:schemeClr val="bg1"/>
                </a:solidFill>
                <a:latin typeface="Montserrat"/>
              </a:rPr>
              <a:t>0</a:t>
            </a:r>
            <a:r>
              <a:rPr lang="fr-FR" sz="12000" b="1" dirty="0">
                <a:solidFill>
                  <a:schemeClr val="bg1"/>
                </a:solidFill>
                <a:latin typeface="Montserrat"/>
              </a:rPr>
              <a:t>3</a:t>
            </a:r>
            <a:endParaRPr sz="12000" b="1" dirty="0">
              <a:solidFill>
                <a:schemeClr val="bg1"/>
              </a:solidFill>
              <a:latin typeface="Montserra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F4B78F-F892-227B-954A-06872CA57DB5}"/>
              </a:ext>
            </a:extLst>
          </p:cNvPr>
          <p:cNvSpPr txBox="1"/>
          <p:nvPr/>
        </p:nvSpPr>
        <p:spPr>
          <a:xfrm>
            <a:off x="3746211" y="2454807"/>
            <a:ext cx="7800000" cy="14978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fr-FR" sz="4400" b="1" dirty="0">
                <a:solidFill>
                  <a:schemeClr val="bg1"/>
                </a:solidFill>
              </a:rPr>
              <a:t>Construction du
projet </a:t>
            </a:r>
            <a:r>
              <a:rPr lang="fr-FR" sz="4400" b="1" dirty="0" err="1">
                <a:solidFill>
                  <a:schemeClr val="bg1"/>
                </a:solidFill>
              </a:rPr>
              <a:t>dbt</a:t>
            </a:r>
            <a:endParaRPr lang="fr-FR" sz="4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20243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5"/>
          </p:nvPr>
        </p:nvSpPr>
        <p:spPr>
          <a:xfrm>
            <a:off x="508000" y="0"/>
            <a:ext cx="11176000" cy="760021"/>
          </a:xfrm>
        </p:spPr>
        <p:txBody>
          <a:bodyPr/>
          <a:lstStyle/>
          <a:p>
            <a:pPr algn="ctr"/>
            <a:r>
              <a:rPr sz="2200" b="1">
                <a:solidFill>
                  <a:srgbClr val="160D3D"/>
                </a:solidFill>
                <a:latin typeface="Montserrat"/>
              </a:rPr>
              <a:t>Declaration des sources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00000" y="1778000"/>
            <a:ext cx="5200000" cy="3797300"/>
          </a:xfrm>
          <a:prstGeom prst="rect">
            <a:avLst/>
          </a:prstGeom>
          <a:solidFill>
            <a:srgbClr val="0A1730"/>
          </a:solidFill>
          <a:ln w="12700" cap="flat" cmpd="sng" algn="ctr">
            <a:noFill/>
            <a:prstDash val="solid"/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 anchorCtr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 lang="fr-FR" sz="900" i="1" dirty="0">
              <a:solidFill>
                <a:srgbClr val="6B7BA8"/>
              </a:solidFill>
              <a:latin typeface="Courier New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lang="fr-FR" sz="900" i="1" dirty="0">
              <a:solidFill>
                <a:srgbClr val="6B7BA8"/>
              </a:solidFill>
              <a:latin typeface="Courier New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lang="fr-FR" sz="900" i="1" dirty="0">
              <a:solidFill>
                <a:srgbClr val="6B7BA8"/>
              </a:solidFill>
              <a:latin typeface="Courier New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i="1" dirty="0">
                <a:solidFill>
                  <a:srgbClr val="6B7BA8"/>
                </a:solidFill>
                <a:latin typeface="Courier New"/>
              </a:rPr>
              <a:t># models/sources.yml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b="1" dirty="0">
                <a:solidFill>
                  <a:srgbClr val="9D88FF"/>
                </a:solidFill>
                <a:latin typeface="Courier New"/>
              </a:rPr>
              <a:t>version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 2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b="1" dirty="0">
                <a:solidFill>
                  <a:srgbClr val="9D88FF"/>
                </a:solidFill>
                <a:latin typeface="Courier New"/>
              </a:rPr>
              <a:t>sources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-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name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 tpch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database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 SNOWFLAKE_SAMPLE_DATA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schema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 TPCH_SF1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tables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-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name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 ORDERS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 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columns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    -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name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 O_ORDERKEY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     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tests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        - unique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        - not_null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-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name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 CUSTOMER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-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name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 LINEITEM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-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name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 PART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-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name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 SUPPLIER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-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name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 PARTSUPP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-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name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 NATION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-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name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 REGION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4166D7F-5C63-4181-8A43-3EFEBBC13E35}"/>
              </a:ext>
            </a:extLst>
          </p:cNvPr>
          <p:cNvSpPr txBox="1"/>
          <p:nvPr/>
        </p:nvSpPr>
        <p:spPr>
          <a:xfrm>
            <a:off x="508000" y="1079500"/>
            <a:ext cx="584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500" b="1">
                <a:solidFill>
                  <a:srgbClr val="160D3D"/>
                </a:solidFill>
                <a:latin typeface="Montserrat"/>
              </a:rPr>
              <a:t>Déclaration des sources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2B9790A3-2897-40E2-8FAE-A9F20689403A}"/>
              </a:ext>
            </a:extLst>
          </p:cNvPr>
          <p:cNvSpPr/>
          <p:nvPr/>
        </p:nvSpPr>
        <p:spPr>
          <a:xfrm>
            <a:off x="508000" y="1524000"/>
            <a:ext cx="5842000" cy="1397000"/>
          </a:xfrm>
          <a:prstGeom prst="roundRect">
            <a:avLst/>
          </a:prstGeom>
          <a:solidFill>
            <a:srgbClr val="F7F4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670164D5-978B-4A79-83EE-CDB121521609}"/>
              </a:ext>
            </a:extLst>
          </p:cNvPr>
          <p:cNvSpPr txBox="1"/>
          <p:nvPr/>
        </p:nvSpPr>
        <p:spPr>
          <a:xfrm>
            <a:off x="711200" y="1651000"/>
            <a:ext cx="5461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b="1">
                <a:solidFill>
                  <a:srgbClr val="160D3D"/>
                </a:solidFill>
                <a:latin typeface="Montserrat"/>
              </a:rPr>
              <a:t>📄  models/sources.yml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983151C7-3EAE-46C8-9E1E-D1EDBE827466}"/>
              </a:ext>
            </a:extLst>
          </p:cNvPr>
          <p:cNvSpPr txBox="1"/>
          <p:nvPr/>
        </p:nvSpPr>
        <p:spPr>
          <a:xfrm>
            <a:off x="711200" y="1955800"/>
            <a:ext cx="5461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160D3D"/>
                </a:solidFill>
                <a:latin typeface="Montserrat"/>
              </a:rPr>
              <a:t>Déclare les tables TPCH_SF1 comme sources dbt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10259ECB-E720-4FB9-A416-C265A4373064}"/>
              </a:ext>
            </a:extLst>
          </p:cNvPr>
          <p:cNvSpPr txBox="1"/>
          <p:nvPr/>
        </p:nvSpPr>
        <p:spPr>
          <a:xfrm>
            <a:off x="711200" y="2222500"/>
            <a:ext cx="5461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160D3D"/>
                </a:solidFill>
                <a:latin typeface="Montserrat"/>
              </a:rPr>
              <a:t>Pointe vers SNOWFLAKE_SAMPLE_DATA.TPCH_SF1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28E81B2C-507E-46AF-842D-F71BEE78698B}"/>
              </a:ext>
            </a:extLst>
          </p:cNvPr>
          <p:cNvSpPr/>
          <p:nvPr/>
        </p:nvSpPr>
        <p:spPr>
          <a:xfrm>
            <a:off x="508000" y="3111500"/>
            <a:ext cx="5842000" cy="1397000"/>
          </a:xfrm>
          <a:prstGeom prst="roundRect">
            <a:avLst/>
          </a:prstGeom>
          <a:solidFill>
            <a:srgbClr val="F7F4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7F9B1E4A-273D-411E-B1B4-9D83B3DB3FE6}"/>
              </a:ext>
            </a:extLst>
          </p:cNvPr>
          <p:cNvSpPr txBox="1"/>
          <p:nvPr/>
        </p:nvSpPr>
        <p:spPr>
          <a:xfrm>
            <a:off x="711200" y="3238500"/>
            <a:ext cx="5461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b="1">
                <a:solidFill>
                  <a:srgbClr val="160D3D"/>
                </a:solidFill>
                <a:latin typeface="Montserrat"/>
              </a:rPr>
              <a:t>Principe clé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FB8D04A1-0932-437C-80B0-49C4A2EBA4CC}"/>
              </a:ext>
            </a:extLst>
          </p:cNvPr>
          <p:cNvSpPr txBox="1"/>
          <p:nvPr/>
        </p:nvSpPr>
        <p:spPr>
          <a:xfrm>
            <a:off x="711200" y="3530600"/>
            <a:ext cx="5461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 b="1">
                <a:solidFill>
                  <a:srgbClr val="E8792F"/>
                </a:solidFill>
                <a:latin typeface="Montserrat"/>
              </a:rPr>
              <a:t>Ne JAMAIS référencer une table source directement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541A945F-D5F3-4214-8358-7B76F91BBDC3}"/>
              </a:ext>
            </a:extLst>
          </p:cNvPr>
          <p:cNvSpPr txBox="1"/>
          <p:nvPr/>
        </p:nvSpPr>
        <p:spPr>
          <a:xfrm>
            <a:off x="711200" y="3784600"/>
            <a:ext cx="5461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160D3D"/>
                </a:solidFill>
                <a:latin typeface="Montserrat"/>
              </a:rPr>
              <a:t>Toujours via {{ source('schema', 'table') }} pour la traçabilité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C912BDD2-C1F6-4925-ADD0-3CE7E8F08EE7}"/>
              </a:ext>
            </a:extLst>
          </p:cNvPr>
          <p:cNvSpPr txBox="1"/>
          <p:nvPr/>
        </p:nvSpPr>
        <p:spPr>
          <a:xfrm>
            <a:off x="711200" y="4038600"/>
            <a:ext cx="5461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160D3D"/>
                </a:solidFill>
                <a:latin typeface="Montserrat"/>
              </a:rPr>
              <a:t>dbt génère automatiquement le DAG de dépendances</a:t>
            </a: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B2DE11C7-5F78-42D8-A8D6-A9C37F63B39C}"/>
              </a:ext>
            </a:extLst>
          </p:cNvPr>
          <p:cNvSpPr/>
          <p:nvPr/>
        </p:nvSpPr>
        <p:spPr>
          <a:xfrm>
            <a:off x="508000" y="4699000"/>
            <a:ext cx="5842000" cy="1270000"/>
          </a:xfrm>
          <a:prstGeom prst="roundRect">
            <a:avLst/>
          </a:prstGeom>
          <a:solidFill>
            <a:srgbClr val="FFF0E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4CB2F8B2-7F62-4A21-B3CE-29EBD13F4284}"/>
              </a:ext>
            </a:extLst>
          </p:cNvPr>
          <p:cNvSpPr txBox="1"/>
          <p:nvPr/>
        </p:nvSpPr>
        <p:spPr>
          <a:xfrm>
            <a:off x="711200" y="4826000"/>
            <a:ext cx="5461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b="1">
                <a:solidFill>
                  <a:srgbClr val="E8792F"/>
                </a:solidFill>
                <a:latin typeface="Montserrat"/>
              </a:rPr>
              <a:t>✅  Tests de fraîcheur (freshness)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371BBB6E-6D32-4EA4-8BA1-86C2D75DA0AE}"/>
              </a:ext>
            </a:extLst>
          </p:cNvPr>
          <p:cNvSpPr txBox="1"/>
          <p:nvPr/>
        </p:nvSpPr>
        <p:spPr>
          <a:xfrm>
            <a:off x="711200" y="5105400"/>
            <a:ext cx="5461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160D3D"/>
                </a:solidFill>
                <a:latin typeface="Montserrat"/>
              </a:rPr>
              <a:t>warn_after / error_after : alerte si la source n'est plus à jour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A712CFED-C404-48DB-812B-9F96BC72591C}"/>
              </a:ext>
            </a:extLst>
          </p:cNvPr>
          <p:cNvSpPr txBox="1"/>
          <p:nvPr/>
        </p:nvSpPr>
        <p:spPr>
          <a:xfrm>
            <a:off x="711200" y="5359400"/>
            <a:ext cx="5461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160D3D"/>
                </a:solidFill>
                <a:latin typeface="Montserrat"/>
              </a:rPr>
              <a:t>Vérification automatique via dbt source freshness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8A717A05-B15B-4009-AE65-45B9C6251A48}"/>
              </a:ext>
            </a:extLst>
          </p:cNvPr>
          <p:cNvSpPr txBox="1"/>
          <p:nvPr/>
        </p:nvSpPr>
        <p:spPr>
          <a:xfrm>
            <a:off x="9260000" y="1905000"/>
            <a:ext cx="2387600" cy="2286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fr-FR" sz="800" b="1">
                <a:solidFill>
                  <a:srgbClr val="6B7BA8"/>
                </a:solidFill>
                <a:latin typeface="Montserrat"/>
              </a:rPr>
              <a:t>SOURCES.YML</a:t>
            </a:r>
          </a:p>
        </p:txBody>
      </p:sp>
    </p:spTree>
    <p:extLst>
      <p:ext uri="{BB962C8B-B14F-4D97-AF65-F5344CB8AC3E}">
        <p14:creationId xmlns:p14="http://schemas.microsoft.com/office/powerpoint/2010/main" val="30387416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5"/>
          </p:nvPr>
        </p:nvSpPr>
        <p:spPr>
          <a:xfrm>
            <a:off x="508000" y="0"/>
            <a:ext cx="11176000" cy="760021"/>
          </a:xfrm>
        </p:spPr>
        <p:txBody>
          <a:bodyPr/>
          <a:lstStyle/>
          <a:p>
            <a:pPr algn="ctr"/>
            <a:r>
              <a:rPr sz="2200" b="1">
                <a:solidFill>
                  <a:srgbClr val="160D3D"/>
                </a:solidFill>
                <a:latin typeface="Montserrat"/>
              </a:rPr>
              <a:t>Modeles staging — Exemple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00000" y="2006600"/>
            <a:ext cx="5200000" cy="3340100"/>
          </a:xfrm>
          <a:prstGeom prst="rect">
            <a:avLst/>
          </a:prstGeom>
          <a:solidFill>
            <a:srgbClr val="0A1730"/>
          </a:solidFill>
          <a:ln w="12700" cap="flat" cmpd="sng" algn="ctr">
            <a:noFill/>
            <a:prstDash val="solid"/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 anchorCtr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 lang="fr-FR" sz="900" i="1" dirty="0">
              <a:solidFill>
                <a:srgbClr val="6B7BA8"/>
              </a:solidFill>
              <a:latin typeface="Courier New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lang="fr-FR" sz="900" i="1" dirty="0">
              <a:solidFill>
                <a:srgbClr val="6B7BA8"/>
              </a:solidFill>
              <a:latin typeface="Courier New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lang="fr-FR" sz="900" i="1" dirty="0">
              <a:solidFill>
                <a:srgbClr val="6B7BA8"/>
              </a:solidFill>
              <a:latin typeface="Courier New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i="1" dirty="0">
                <a:solidFill>
                  <a:srgbClr val="6B7BA8"/>
                </a:solidFill>
                <a:latin typeface="Courier New"/>
              </a:rPr>
              <a:t>-- stg_tpch__orders.sql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b="1" dirty="0">
                <a:solidFill>
                  <a:srgbClr val="9D88FF"/>
                </a:solidFill>
                <a:latin typeface="Courier New"/>
              </a:rPr>
              <a:t>with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source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as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(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select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*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from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</a:t>
            </a:r>
            <a:r>
              <a:rPr lang="fr-FR" sz="900" b="1" dirty="0">
                <a:solidFill>
                  <a:srgbClr val="FFB873"/>
                </a:solidFill>
                <a:latin typeface="Courier New"/>
              </a:rPr>
              <a:t>{{ source('tpch', 'ORDERS') }}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),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renamed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as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(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select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  o_orderkey   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as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order_key,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  o_custkey    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as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customer_key,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  o_orderstatus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as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order_status,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  o_totalprice 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as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total_price,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  o_orderdate  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as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order_date,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  o_orderpriority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               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as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order_priority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from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source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b="1" dirty="0">
                <a:solidFill>
                  <a:srgbClr val="9D88FF"/>
                </a:solidFill>
                <a:latin typeface="Courier New"/>
              </a:rPr>
              <a:t>select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*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from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renamed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3EE7A2CD-C6C3-4F2B-9A9A-7458F6D6403F}"/>
              </a:ext>
            </a:extLst>
          </p:cNvPr>
          <p:cNvSpPr txBox="1"/>
          <p:nvPr/>
        </p:nvSpPr>
        <p:spPr>
          <a:xfrm>
            <a:off x="508000" y="1079500"/>
            <a:ext cx="584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500" b="1">
                <a:solidFill>
                  <a:srgbClr val="160D3D"/>
                </a:solidFill>
                <a:latin typeface="Montserrat"/>
              </a:rPr>
              <a:t>Convention staging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AD5917C6-D52E-428A-B534-DA1EEABF0BC8}"/>
              </a:ext>
            </a:extLst>
          </p:cNvPr>
          <p:cNvSpPr/>
          <p:nvPr/>
        </p:nvSpPr>
        <p:spPr>
          <a:xfrm>
            <a:off x="508000" y="1524000"/>
            <a:ext cx="5842000" cy="1651000"/>
          </a:xfrm>
          <a:prstGeom prst="roundRect">
            <a:avLst/>
          </a:prstGeom>
          <a:solidFill>
            <a:srgbClr val="F7F4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567F984F-F73F-429F-8325-C6555B085D49}"/>
              </a:ext>
            </a:extLst>
          </p:cNvPr>
          <p:cNvSpPr txBox="1"/>
          <p:nvPr/>
        </p:nvSpPr>
        <p:spPr>
          <a:xfrm>
            <a:off x="711200" y="1651000"/>
            <a:ext cx="5461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b="1">
                <a:solidFill>
                  <a:srgbClr val="160D3D"/>
                </a:solidFill>
                <a:latin typeface="Montserrat"/>
              </a:rPr>
              <a:t>Structure d'un modèle staging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D0616CEF-82D8-4825-90BD-183C5537AF31}"/>
              </a:ext>
            </a:extLst>
          </p:cNvPr>
          <p:cNvSpPr/>
          <p:nvPr/>
        </p:nvSpPr>
        <p:spPr>
          <a:xfrm>
            <a:off x="762000" y="2095500"/>
            <a:ext cx="1524000" cy="482600"/>
          </a:xfrm>
          <a:prstGeom prst="roundRect">
            <a:avLst/>
          </a:prstGeom>
          <a:solidFill>
            <a:srgbClr val="E8E3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B9A78064-5393-433C-A226-84D3698AFCF7}"/>
              </a:ext>
            </a:extLst>
          </p:cNvPr>
          <p:cNvSpPr txBox="1"/>
          <p:nvPr/>
        </p:nvSpPr>
        <p:spPr>
          <a:xfrm>
            <a:off x="762000" y="2222500"/>
            <a:ext cx="1524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 b="1">
                <a:solidFill>
                  <a:srgbClr val="160D3D"/>
                </a:solidFill>
                <a:latin typeface="Montserrat"/>
              </a:rPr>
              <a:t>source</a:t>
            </a:r>
          </a:p>
        </p:txBody>
      </p:sp>
      <p:sp>
        <p:nvSpPr>
          <p:cNvPr id="10" name="Flèche : droite 9">
            <a:extLst>
              <a:ext uri="{FF2B5EF4-FFF2-40B4-BE49-F238E27FC236}">
                <a16:creationId xmlns:a16="http://schemas.microsoft.com/office/drawing/2014/main" id="{671FC148-944E-4B38-8BCF-CB5B1E672F49}"/>
              </a:ext>
            </a:extLst>
          </p:cNvPr>
          <p:cNvSpPr/>
          <p:nvPr/>
        </p:nvSpPr>
        <p:spPr>
          <a:xfrm>
            <a:off x="2349500" y="2235200"/>
            <a:ext cx="228600" cy="203200"/>
          </a:xfrm>
          <a:prstGeom prst="rightArrow">
            <a:avLst/>
          </a:prstGeom>
          <a:solidFill>
            <a:srgbClr val="C9BDE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0632E807-8348-4B78-9BEB-A835A2BB30A1}"/>
              </a:ext>
            </a:extLst>
          </p:cNvPr>
          <p:cNvSpPr/>
          <p:nvPr/>
        </p:nvSpPr>
        <p:spPr>
          <a:xfrm>
            <a:off x="2578100" y="2095500"/>
            <a:ext cx="1524000" cy="482600"/>
          </a:xfrm>
          <a:prstGeom prst="roundRect">
            <a:avLst/>
          </a:prstGeom>
          <a:solidFill>
            <a:srgbClr val="E8E3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12E8C159-A045-4736-B25E-93D1AB849E46}"/>
              </a:ext>
            </a:extLst>
          </p:cNvPr>
          <p:cNvSpPr txBox="1"/>
          <p:nvPr/>
        </p:nvSpPr>
        <p:spPr>
          <a:xfrm>
            <a:off x="2578100" y="2222500"/>
            <a:ext cx="1524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 b="1">
                <a:solidFill>
                  <a:srgbClr val="160D3D"/>
                </a:solidFill>
                <a:latin typeface="Montserrat"/>
              </a:rPr>
              <a:t>renamed</a:t>
            </a:r>
          </a:p>
        </p:txBody>
      </p:sp>
      <p:sp>
        <p:nvSpPr>
          <p:cNvPr id="13" name="Flèche : droite 12">
            <a:extLst>
              <a:ext uri="{FF2B5EF4-FFF2-40B4-BE49-F238E27FC236}">
                <a16:creationId xmlns:a16="http://schemas.microsoft.com/office/drawing/2014/main" id="{3BBFF9AF-A9A7-4DC0-B2E5-F30BE720805D}"/>
              </a:ext>
            </a:extLst>
          </p:cNvPr>
          <p:cNvSpPr/>
          <p:nvPr/>
        </p:nvSpPr>
        <p:spPr>
          <a:xfrm>
            <a:off x="4165600" y="2235200"/>
            <a:ext cx="228600" cy="203200"/>
          </a:xfrm>
          <a:prstGeom prst="rightArrow">
            <a:avLst/>
          </a:prstGeom>
          <a:solidFill>
            <a:srgbClr val="C9BDE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CE2CB6BC-7B4B-427F-A2F8-2B9D78BCCFA5}"/>
              </a:ext>
            </a:extLst>
          </p:cNvPr>
          <p:cNvSpPr/>
          <p:nvPr/>
        </p:nvSpPr>
        <p:spPr>
          <a:xfrm>
            <a:off x="4394200" y="2095500"/>
            <a:ext cx="1524000" cy="482600"/>
          </a:xfrm>
          <a:prstGeom prst="roundRect">
            <a:avLst/>
          </a:prstGeom>
          <a:solidFill>
            <a:srgbClr val="160D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8DEF0AE5-5F23-4E65-8B4B-4CADEA10857A}"/>
              </a:ext>
            </a:extLst>
          </p:cNvPr>
          <p:cNvSpPr txBox="1"/>
          <p:nvPr/>
        </p:nvSpPr>
        <p:spPr>
          <a:xfrm>
            <a:off x="4394200" y="2222500"/>
            <a:ext cx="1524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 b="1">
                <a:solidFill>
                  <a:srgbClr val="FFFFFF"/>
                </a:solidFill>
                <a:latin typeface="Montserrat"/>
              </a:rPr>
              <a:t>select *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947F8E77-075A-4DCC-AE2D-CB662FF5666B}"/>
              </a:ext>
            </a:extLst>
          </p:cNvPr>
          <p:cNvSpPr txBox="1"/>
          <p:nvPr/>
        </p:nvSpPr>
        <p:spPr>
          <a:xfrm>
            <a:off x="711200" y="2730500"/>
            <a:ext cx="546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>
                <a:solidFill>
                  <a:srgbClr val="3D2E5C"/>
                </a:solidFill>
                <a:latin typeface="Montserrat"/>
              </a:rPr>
              <a:t>1 modèle = 1 table source · 1 CTE source + 1 CTE renommé</a:t>
            </a: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7D9A6B3E-B9E9-49C8-9417-73AFF42589D9}"/>
              </a:ext>
            </a:extLst>
          </p:cNvPr>
          <p:cNvSpPr/>
          <p:nvPr/>
        </p:nvSpPr>
        <p:spPr>
          <a:xfrm>
            <a:off x="508000" y="3365500"/>
            <a:ext cx="5842000" cy="2603500"/>
          </a:xfrm>
          <a:prstGeom prst="roundRect">
            <a:avLst/>
          </a:prstGeom>
          <a:solidFill>
            <a:srgbClr val="F7F4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4C3A41C0-61C7-4002-84D4-C2C9F65097EB}"/>
              </a:ext>
            </a:extLst>
          </p:cNvPr>
          <p:cNvSpPr txBox="1"/>
          <p:nvPr/>
        </p:nvSpPr>
        <p:spPr>
          <a:xfrm>
            <a:off x="711200" y="3492500"/>
            <a:ext cx="5461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b="1">
                <a:solidFill>
                  <a:srgbClr val="160D3D"/>
                </a:solidFill>
                <a:latin typeface="Montserrat"/>
              </a:rPr>
              <a:t>Règles de nommage</a:t>
            </a:r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12ECB3F1-9A1A-4DDB-B1BE-EAC423E96726}"/>
              </a:ext>
            </a:extLst>
          </p:cNvPr>
          <p:cNvSpPr/>
          <p:nvPr/>
        </p:nvSpPr>
        <p:spPr>
          <a:xfrm>
            <a:off x="711200" y="3911600"/>
            <a:ext cx="1270000" cy="330200"/>
          </a:xfrm>
          <a:prstGeom prst="roundRect">
            <a:avLst/>
          </a:prstGeom>
          <a:solidFill>
            <a:srgbClr val="160D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FC96F141-C383-4FDA-8E3C-9A7E5C150F82}"/>
              </a:ext>
            </a:extLst>
          </p:cNvPr>
          <p:cNvSpPr txBox="1"/>
          <p:nvPr/>
        </p:nvSpPr>
        <p:spPr>
          <a:xfrm>
            <a:off x="711200" y="3975100"/>
            <a:ext cx="127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 b="1">
                <a:solidFill>
                  <a:srgbClr val="FFFFFF"/>
                </a:solidFill>
                <a:latin typeface="Montserrat"/>
              </a:rPr>
              <a:t>snake_case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BE2BBF30-DF18-47C9-8177-501078C08497}"/>
              </a:ext>
            </a:extLst>
          </p:cNvPr>
          <p:cNvSpPr txBox="1"/>
          <p:nvPr/>
        </p:nvSpPr>
        <p:spPr>
          <a:xfrm>
            <a:off x="2133600" y="3987800"/>
            <a:ext cx="406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>
                <a:solidFill>
                  <a:srgbClr val="160D3D"/>
                </a:solidFill>
                <a:latin typeface="Montserrat"/>
              </a:rPr>
              <a:t>noms métier explicites (customer_name, not c_name)</a:t>
            </a:r>
            <a:endParaRPr lang="fr-FR" sz="1100">
              <a:solidFill>
                <a:srgbClr val="160D3D"/>
              </a:solidFill>
              <a:latin typeface="Montserrat"/>
            </a:endParaRPr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2498F4AA-39C2-44FF-A3CE-DBCA2AFA64ED}"/>
              </a:ext>
            </a:extLst>
          </p:cNvPr>
          <p:cNvSpPr/>
          <p:nvPr/>
        </p:nvSpPr>
        <p:spPr>
          <a:xfrm>
            <a:off x="711200" y="4394200"/>
            <a:ext cx="1270000" cy="330200"/>
          </a:xfrm>
          <a:prstGeom prst="roundRect">
            <a:avLst/>
          </a:prstGeom>
          <a:solidFill>
            <a:srgbClr val="160D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6FD5D1DF-2B4C-4077-B34A-75AE11BB14B4}"/>
              </a:ext>
            </a:extLst>
          </p:cNvPr>
          <p:cNvSpPr txBox="1"/>
          <p:nvPr/>
        </p:nvSpPr>
        <p:spPr>
          <a:xfrm>
            <a:off x="711200" y="4457700"/>
            <a:ext cx="127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 b="1">
                <a:solidFill>
                  <a:srgbClr val="FFFFFF"/>
                </a:solidFill>
                <a:latin typeface="Montserrat"/>
              </a:rPr>
              <a:t>Préfixes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D2B3DA36-0930-417C-B9CB-38AAB3390278}"/>
              </a:ext>
            </a:extLst>
          </p:cNvPr>
          <p:cNvSpPr txBox="1"/>
          <p:nvPr/>
        </p:nvSpPr>
        <p:spPr>
          <a:xfrm>
            <a:off x="2133600" y="4470400"/>
            <a:ext cx="406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160D3D"/>
                </a:solidFill>
                <a:latin typeface="Montserrat"/>
              </a:rPr>
              <a:t>stg_&lt;source&gt;__&lt;table&gt; (ex: stg_tpch__orders)</a:t>
            </a:r>
          </a:p>
        </p:txBody>
      </p: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6F7A3CF9-E5FE-48FD-8848-C4F3DB7C54E0}"/>
              </a:ext>
            </a:extLst>
          </p:cNvPr>
          <p:cNvSpPr/>
          <p:nvPr/>
        </p:nvSpPr>
        <p:spPr>
          <a:xfrm>
            <a:off x="711200" y="4876800"/>
            <a:ext cx="1270000" cy="330200"/>
          </a:xfrm>
          <a:prstGeom prst="roundRect">
            <a:avLst/>
          </a:prstGeom>
          <a:solidFill>
            <a:srgbClr val="160D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0116313C-6ED5-49D0-A27F-FA9AB438455F}"/>
              </a:ext>
            </a:extLst>
          </p:cNvPr>
          <p:cNvSpPr txBox="1"/>
          <p:nvPr/>
        </p:nvSpPr>
        <p:spPr>
          <a:xfrm>
            <a:off x="711200" y="4940300"/>
            <a:ext cx="127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 b="1">
                <a:solidFill>
                  <a:srgbClr val="FFFFFF"/>
                </a:solidFill>
                <a:latin typeface="Montserrat"/>
              </a:rPr>
              <a:t>Renommage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DF4A1FA2-177F-4D3F-91B9-987E44956F20}"/>
              </a:ext>
            </a:extLst>
          </p:cNvPr>
          <p:cNvSpPr txBox="1"/>
          <p:nvPr/>
        </p:nvSpPr>
        <p:spPr>
          <a:xfrm>
            <a:off x="2133600" y="4953000"/>
            <a:ext cx="406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160D3D"/>
                </a:solidFill>
                <a:latin typeface="Montserrat"/>
              </a:rPr>
              <a:t>Aligner sur le vocabulaire métier de l'entreprise</a:t>
            </a:r>
          </a:p>
        </p:txBody>
      </p:sp>
      <p:sp>
        <p:nvSpPr>
          <p:cNvPr id="28" name="Rectangle : coins arrondis 27">
            <a:extLst>
              <a:ext uri="{FF2B5EF4-FFF2-40B4-BE49-F238E27FC236}">
                <a16:creationId xmlns:a16="http://schemas.microsoft.com/office/drawing/2014/main" id="{94ADA357-C437-470B-9E24-99ADAF97CCB5}"/>
              </a:ext>
            </a:extLst>
          </p:cNvPr>
          <p:cNvSpPr/>
          <p:nvPr/>
        </p:nvSpPr>
        <p:spPr>
          <a:xfrm>
            <a:off x="711200" y="5359400"/>
            <a:ext cx="1270000" cy="330200"/>
          </a:xfrm>
          <a:prstGeom prst="roundRect">
            <a:avLst/>
          </a:prstGeom>
          <a:solidFill>
            <a:srgbClr val="160D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6B3B686D-4331-4E5C-82BF-3707D184E4DE}"/>
              </a:ext>
            </a:extLst>
          </p:cNvPr>
          <p:cNvSpPr txBox="1"/>
          <p:nvPr/>
        </p:nvSpPr>
        <p:spPr>
          <a:xfrm>
            <a:off x="711200" y="5422900"/>
            <a:ext cx="127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 b="1">
                <a:solidFill>
                  <a:srgbClr val="FFFFFF"/>
                </a:solidFill>
                <a:latin typeface="Montserrat"/>
              </a:rPr>
              <a:t>Casts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137B1FC3-4819-4688-B679-9C24D3329ACA}"/>
              </a:ext>
            </a:extLst>
          </p:cNvPr>
          <p:cNvSpPr txBox="1"/>
          <p:nvPr/>
        </p:nvSpPr>
        <p:spPr>
          <a:xfrm>
            <a:off x="2133600" y="5435600"/>
            <a:ext cx="4064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160D3D"/>
                </a:solidFill>
                <a:latin typeface="Montserrat"/>
              </a:rPr>
              <a:t>Forcer les types : dates, montants, identifiants</a:t>
            </a: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F3E6C820-71C0-49A9-A377-FB48EDA9ED34}"/>
              </a:ext>
            </a:extLst>
          </p:cNvPr>
          <p:cNvSpPr txBox="1"/>
          <p:nvPr/>
        </p:nvSpPr>
        <p:spPr>
          <a:xfrm>
            <a:off x="9260000" y="2133600"/>
            <a:ext cx="2387600" cy="2286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fr-FR" sz="800" b="1">
                <a:solidFill>
                  <a:srgbClr val="6B7BA8"/>
                </a:solidFill>
                <a:latin typeface="Montserrat"/>
              </a:rPr>
              <a:t>STG_TPCH__ORDERS.SQL</a:t>
            </a:r>
          </a:p>
        </p:txBody>
      </p:sp>
    </p:spTree>
    <p:extLst>
      <p:ext uri="{BB962C8B-B14F-4D97-AF65-F5344CB8AC3E}">
        <p14:creationId xmlns:p14="http://schemas.microsoft.com/office/powerpoint/2010/main" val="31370841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5"/>
          </p:nvPr>
        </p:nvSpPr>
        <p:spPr>
          <a:xfrm>
            <a:off x="508000" y="0"/>
            <a:ext cx="11176000" cy="760021"/>
          </a:xfrm>
        </p:spPr>
        <p:txBody>
          <a:bodyPr/>
          <a:lstStyle/>
          <a:p>
            <a:pPr algn="ctr"/>
            <a:r>
              <a:rPr sz="2200" b="1">
                <a:solidFill>
                  <a:srgbClr val="160D3D"/>
                </a:solidFill>
                <a:latin typeface="Montserrat"/>
              </a:rPr>
              <a:t>Tests et documentation staging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00000" y="1854200"/>
            <a:ext cx="5200000" cy="3644900"/>
          </a:xfrm>
          <a:prstGeom prst="rect">
            <a:avLst/>
          </a:prstGeom>
          <a:solidFill>
            <a:srgbClr val="0A1730"/>
          </a:solidFill>
          <a:ln w="12700" cap="flat" cmpd="sng" algn="ctr">
            <a:noFill/>
            <a:prstDash val="solid"/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 anchorCtr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 lang="fr-FR" sz="900" i="1" dirty="0">
              <a:solidFill>
                <a:srgbClr val="6B7BA8"/>
              </a:solidFill>
              <a:latin typeface="Courier New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lang="fr-FR" sz="900" i="1" dirty="0">
              <a:solidFill>
                <a:srgbClr val="6B7BA8"/>
              </a:solidFill>
              <a:latin typeface="Courier New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lang="fr-FR" sz="900" i="1" dirty="0">
              <a:solidFill>
                <a:srgbClr val="6B7BA8"/>
              </a:solidFill>
              <a:latin typeface="Courier New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i="1" dirty="0">
                <a:solidFill>
                  <a:srgbClr val="6B7BA8"/>
                </a:solidFill>
                <a:latin typeface="Courier New"/>
              </a:rPr>
              <a:t># _stg__models.yml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b="1" dirty="0">
                <a:solidFill>
                  <a:srgbClr val="9D88FF"/>
                </a:solidFill>
                <a:latin typeface="Courier New"/>
              </a:rPr>
              <a:t>version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 2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b="1" dirty="0">
                <a:solidFill>
                  <a:srgbClr val="9D88FF"/>
                </a:solidFill>
                <a:latin typeface="Courier New"/>
              </a:rPr>
              <a:t>models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-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name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 stg_tpch__orders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columns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-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name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 order_key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 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tests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    - unique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    - not_null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-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name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 customer_key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 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tests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    - not_null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    -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relationships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       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to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 ref(</a:t>
            </a:r>
            <a:r>
              <a:rPr lang="fr-FR" sz="900" dirty="0">
                <a:solidFill>
                  <a:srgbClr val="FFA76B"/>
                </a:solidFill>
                <a:latin typeface="Courier New"/>
              </a:rPr>
              <a:t>'stg_tpch__customers'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       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field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 customer_key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-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name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 order_status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 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tests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    -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accepted_values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       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values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 [</a:t>
            </a:r>
            <a:r>
              <a:rPr lang="fr-FR" sz="900" dirty="0">
                <a:solidFill>
                  <a:srgbClr val="FFA76B"/>
                </a:solidFill>
                <a:latin typeface="Courier New"/>
              </a:rPr>
              <a:t>'F'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, </a:t>
            </a:r>
            <a:r>
              <a:rPr lang="fr-FR" sz="900" dirty="0">
                <a:solidFill>
                  <a:srgbClr val="FFA76B"/>
                </a:solidFill>
                <a:latin typeface="Courier New"/>
              </a:rPr>
              <a:t>'O'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, </a:t>
            </a:r>
            <a:r>
              <a:rPr lang="fr-FR" sz="900" dirty="0">
                <a:solidFill>
                  <a:srgbClr val="FFA76B"/>
                </a:solidFill>
                <a:latin typeface="Courier New"/>
              </a:rPr>
              <a:t>'P'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]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18CB0B1E-B6BC-41BD-A27C-A3A9051B7585}"/>
              </a:ext>
            </a:extLst>
          </p:cNvPr>
          <p:cNvSpPr txBox="1"/>
          <p:nvPr/>
        </p:nvSpPr>
        <p:spPr>
          <a:xfrm>
            <a:off x="508000" y="1079500"/>
            <a:ext cx="584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500" b="1">
                <a:solidFill>
                  <a:srgbClr val="160D3D"/>
                </a:solidFill>
                <a:latin typeface="Montserrat"/>
              </a:rPr>
              <a:t>Tests et documentation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96DBDE2B-E403-41EF-A366-C1DEF903C1AF}"/>
              </a:ext>
            </a:extLst>
          </p:cNvPr>
          <p:cNvSpPr/>
          <p:nvPr/>
        </p:nvSpPr>
        <p:spPr>
          <a:xfrm>
            <a:off x="508000" y="1524000"/>
            <a:ext cx="5842000" cy="2540000"/>
          </a:xfrm>
          <a:prstGeom prst="roundRect">
            <a:avLst/>
          </a:prstGeom>
          <a:solidFill>
            <a:srgbClr val="F7F4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39629BC-B10C-46A7-9C34-71A4D4466D66}"/>
              </a:ext>
            </a:extLst>
          </p:cNvPr>
          <p:cNvSpPr txBox="1"/>
          <p:nvPr/>
        </p:nvSpPr>
        <p:spPr>
          <a:xfrm>
            <a:off x="711200" y="1651000"/>
            <a:ext cx="5461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b="1">
                <a:solidFill>
                  <a:srgbClr val="160D3D"/>
                </a:solidFill>
                <a:latin typeface="Montserrat"/>
              </a:rPr>
              <a:t>4 tests génériques dbt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A97FE4D4-3FD0-41E6-A688-F4E94FAE7FCE}"/>
              </a:ext>
            </a:extLst>
          </p:cNvPr>
          <p:cNvSpPr/>
          <p:nvPr/>
        </p:nvSpPr>
        <p:spPr>
          <a:xfrm>
            <a:off x="711200" y="2032000"/>
            <a:ext cx="2616200" cy="8255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091AD8D2-30C6-4A8D-B39A-A619D9D4F91D}"/>
              </a:ext>
            </a:extLst>
          </p:cNvPr>
          <p:cNvSpPr txBox="1"/>
          <p:nvPr/>
        </p:nvSpPr>
        <p:spPr>
          <a:xfrm>
            <a:off x="863600" y="2159000"/>
            <a:ext cx="23368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 b="1">
                <a:solidFill>
                  <a:srgbClr val="160D3D"/>
                </a:solidFill>
                <a:latin typeface="Montserrat"/>
              </a:rPr>
              <a:t>unique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5BD71B5F-8C00-4A9A-BDE9-FA6595905B70}"/>
              </a:ext>
            </a:extLst>
          </p:cNvPr>
          <p:cNvSpPr txBox="1"/>
          <p:nvPr/>
        </p:nvSpPr>
        <p:spPr>
          <a:xfrm>
            <a:off x="863600" y="2438400"/>
            <a:ext cx="23368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>
                <a:solidFill>
                  <a:srgbClr val="160D3D"/>
                </a:solidFill>
                <a:latin typeface="Montserrat"/>
              </a:rPr>
              <a:t>Aucun doublon dans la colonne</a:t>
            </a: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8173A57E-F49A-4F2D-B2EB-AA64E3B54A59}"/>
              </a:ext>
            </a:extLst>
          </p:cNvPr>
          <p:cNvSpPr/>
          <p:nvPr/>
        </p:nvSpPr>
        <p:spPr>
          <a:xfrm>
            <a:off x="3479800" y="2032000"/>
            <a:ext cx="2616200" cy="8255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B2839E1E-0E97-4CA2-B4CE-C283DDAF91FD}"/>
              </a:ext>
            </a:extLst>
          </p:cNvPr>
          <p:cNvSpPr txBox="1"/>
          <p:nvPr/>
        </p:nvSpPr>
        <p:spPr>
          <a:xfrm>
            <a:off x="3632200" y="2159000"/>
            <a:ext cx="23368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 b="1">
                <a:solidFill>
                  <a:srgbClr val="160D3D"/>
                </a:solidFill>
                <a:latin typeface="Montserrat"/>
              </a:rPr>
              <a:t>not_null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955CA811-8B58-46C3-801F-83B78C2099E4}"/>
              </a:ext>
            </a:extLst>
          </p:cNvPr>
          <p:cNvSpPr txBox="1"/>
          <p:nvPr/>
        </p:nvSpPr>
        <p:spPr>
          <a:xfrm>
            <a:off x="3632200" y="2438400"/>
            <a:ext cx="23368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>
                <a:solidFill>
                  <a:srgbClr val="160D3D"/>
                </a:solidFill>
                <a:latin typeface="Montserrat"/>
              </a:rPr>
              <a:t>Aucune valeur NULL</a:t>
            </a: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F9CE9B53-6A3D-4C51-948B-50971F36F47E}"/>
              </a:ext>
            </a:extLst>
          </p:cNvPr>
          <p:cNvSpPr/>
          <p:nvPr/>
        </p:nvSpPr>
        <p:spPr>
          <a:xfrm>
            <a:off x="711200" y="2984500"/>
            <a:ext cx="2616200" cy="8255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9AE01D08-09CC-48C2-9CA7-C431F248D8D3}"/>
              </a:ext>
            </a:extLst>
          </p:cNvPr>
          <p:cNvSpPr txBox="1"/>
          <p:nvPr/>
        </p:nvSpPr>
        <p:spPr>
          <a:xfrm>
            <a:off x="863600" y="3111500"/>
            <a:ext cx="23368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 b="1">
                <a:solidFill>
                  <a:srgbClr val="160D3D"/>
                </a:solidFill>
                <a:latin typeface="Montserrat"/>
              </a:rPr>
              <a:t>accepted_values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B32801F3-D69C-4BFB-BEE2-19090C5DA108}"/>
              </a:ext>
            </a:extLst>
          </p:cNvPr>
          <p:cNvSpPr txBox="1"/>
          <p:nvPr/>
        </p:nvSpPr>
        <p:spPr>
          <a:xfrm>
            <a:off x="863600" y="3390900"/>
            <a:ext cx="23368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>
                <a:solidFill>
                  <a:srgbClr val="160D3D"/>
                </a:solidFill>
                <a:latin typeface="Montserrat"/>
              </a:rPr>
              <a:t>Valeurs dans une liste prédéfinie</a:t>
            </a: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6A16CB45-407F-499A-A69C-59288D1F89DF}"/>
              </a:ext>
            </a:extLst>
          </p:cNvPr>
          <p:cNvSpPr/>
          <p:nvPr/>
        </p:nvSpPr>
        <p:spPr>
          <a:xfrm>
            <a:off x="3479800" y="2984500"/>
            <a:ext cx="2616200" cy="8255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712AB942-F5D1-4D7E-8025-DFCE57B28BBA}"/>
              </a:ext>
            </a:extLst>
          </p:cNvPr>
          <p:cNvSpPr txBox="1"/>
          <p:nvPr/>
        </p:nvSpPr>
        <p:spPr>
          <a:xfrm>
            <a:off x="3632200" y="3111500"/>
            <a:ext cx="23368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 b="1">
                <a:solidFill>
                  <a:srgbClr val="160D3D"/>
                </a:solidFill>
                <a:latin typeface="Montserrat"/>
              </a:rPr>
              <a:t>relationships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24A0047B-A26D-4E13-B9DA-470424D44811}"/>
              </a:ext>
            </a:extLst>
          </p:cNvPr>
          <p:cNvSpPr txBox="1"/>
          <p:nvPr/>
        </p:nvSpPr>
        <p:spPr>
          <a:xfrm>
            <a:off x="3632200" y="3390900"/>
            <a:ext cx="23368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>
                <a:solidFill>
                  <a:srgbClr val="160D3D"/>
                </a:solidFill>
                <a:latin typeface="Montserrat"/>
              </a:rPr>
              <a:t>Intégrité référentielle (FK)</a:t>
            </a:r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2F166759-E03C-4AC3-9B60-E4B3736D3368}"/>
              </a:ext>
            </a:extLst>
          </p:cNvPr>
          <p:cNvSpPr/>
          <p:nvPr/>
        </p:nvSpPr>
        <p:spPr>
          <a:xfrm>
            <a:off x="508000" y="4254500"/>
            <a:ext cx="5842000" cy="1714500"/>
          </a:xfrm>
          <a:prstGeom prst="roundRect">
            <a:avLst/>
          </a:prstGeom>
          <a:solidFill>
            <a:srgbClr val="FFF0E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DAE5ED08-BDEB-4B5C-8068-A58EA54C1282}"/>
              </a:ext>
            </a:extLst>
          </p:cNvPr>
          <p:cNvSpPr txBox="1"/>
          <p:nvPr/>
        </p:nvSpPr>
        <p:spPr>
          <a:xfrm>
            <a:off x="711200" y="4381500"/>
            <a:ext cx="5461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b="1">
                <a:solidFill>
                  <a:srgbClr val="E8792F"/>
                </a:solidFill>
                <a:latin typeface="Montserrat"/>
              </a:rPr>
              <a:t>📚  Documentation inline (YAML)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EF46E58A-93ED-45CD-8033-6F233B4CC363}"/>
              </a:ext>
            </a:extLst>
          </p:cNvPr>
          <p:cNvSpPr txBox="1"/>
          <p:nvPr/>
        </p:nvSpPr>
        <p:spPr>
          <a:xfrm>
            <a:off x="711200" y="4699000"/>
            <a:ext cx="5461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160D3D"/>
                </a:solidFill>
                <a:latin typeface="Montserrat"/>
              </a:rPr>
              <a:t>description : par modèle et par colonne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3D53FCBB-D77E-4B48-BB20-64CE8AA7572C}"/>
              </a:ext>
            </a:extLst>
          </p:cNvPr>
          <p:cNvSpPr txBox="1"/>
          <p:nvPr/>
        </p:nvSpPr>
        <p:spPr>
          <a:xfrm>
            <a:off x="711200" y="4978400"/>
            <a:ext cx="5461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160D3D"/>
                </a:solidFill>
                <a:latin typeface="Montserrat"/>
              </a:rPr>
              <a:t>Génère un site statique avec dbt docs generate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6CE4FA46-5624-4600-861A-4B6608D8F8D6}"/>
              </a:ext>
            </a:extLst>
          </p:cNvPr>
          <p:cNvSpPr txBox="1"/>
          <p:nvPr/>
        </p:nvSpPr>
        <p:spPr>
          <a:xfrm>
            <a:off x="711200" y="5257800"/>
            <a:ext cx="5461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160D3D"/>
                </a:solidFill>
                <a:latin typeface="Montserrat"/>
              </a:rPr>
              <a:t>Visualisation du DAG complet du projet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E9C35B73-085F-4899-ADF3-B9019E868082}"/>
              </a:ext>
            </a:extLst>
          </p:cNvPr>
          <p:cNvSpPr txBox="1"/>
          <p:nvPr/>
        </p:nvSpPr>
        <p:spPr>
          <a:xfrm>
            <a:off x="711200" y="5537200"/>
            <a:ext cx="5461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160D3D"/>
                </a:solidFill>
                <a:latin typeface="Montserrat"/>
              </a:rPr>
              <a:t>Servi en local avec dbt docs serve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D2DD10BB-ABCA-4443-A979-5A81C81CC538}"/>
              </a:ext>
            </a:extLst>
          </p:cNvPr>
          <p:cNvSpPr txBox="1"/>
          <p:nvPr/>
        </p:nvSpPr>
        <p:spPr>
          <a:xfrm>
            <a:off x="9260000" y="1981200"/>
            <a:ext cx="2387600" cy="2286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fr-FR" sz="800" b="1">
                <a:solidFill>
                  <a:srgbClr val="6B7BA8"/>
                </a:solidFill>
                <a:latin typeface="Montserrat"/>
              </a:rPr>
              <a:t>_STG__MODELS.YML</a:t>
            </a:r>
          </a:p>
        </p:txBody>
      </p:sp>
    </p:spTree>
    <p:extLst>
      <p:ext uri="{BB962C8B-B14F-4D97-AF65-F5344CB8AC3E}">
        <p14:creationId xmlns:p14="http://schemas.microsoft.com/office/powerpoint/2010/main" val="210175607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5"/>
          </p:nvPr>
        </p:nvSpPr>
        <p:spPr>
          <a:xfrm>
            <a:off x="508000" y="0"/>
            <a:ext cx="11176000" cy="760021"/>
          </a:xfrm>
        </p:spPr>
        <p:txBody>
          <a:bodyPr/>
          <a:lstStyle/>
          <a:p>
            <a:pPr algn="ctr"/>
            <a:r>
              <a:rPr sz="2200" b="1">
                <a:solidFill>
                  <a:srgbClr val="160D3D"/>
                </a:solidFill>
                <a:latin typeface="Montserrat"/>
              </a:rPr>
              <a:t>Exercice 3A</a:t>
            </a:r>
          </a:p>
        </p:txBody>
      </p:sp>
      <p:sp>
        <p:nvSpPr>
          <p:cNvPr id="62" name="Rectangle : coins arrondis 61">
            <a:extLst>
              <a:ext uri="{FF2B5EF4-FFF2-40B4-BE49-F238E27FC236}">
                <a16:creationId xmlns:a16="http://schemas.microsoft.com/office/drawing/2014/main" id="{FD44A6A6-3585-4431-855A-22FF73E413AE}"/>
              </a:ext>
            </a:extLst>
          </p:cNvPr>
          <p:cNvSpPr/>
          <p:nvPr/>
        </p:nvSpPr>
        <p:spPr>
          <a:xfrm>
            <a:off x="508000" y="990600"/>
            <a:ext cx="11176000" cy="558800"/>
          </a:xfrm>
          <a:prstGeom prst="roundRect">
            <a:avLst/>
          </a:prstGeom>
          <a:solidFill>
            <a:srgbClr val="E879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63" name="ZoneTexte 62">
            <a:extLst>
              <a:ext uri="{FF2B5EF4-FFF2-40B4-BE49-F238E27FC236}">
                <a16:creationId xmlns:a16="http://schemas.microsoft.com/office/drawing/2014/main" id="{6E112D6B-4A16-4335-85F7-2347E7E7F770}"/>
              </a:ext>
            </a:extLst>
          </p:cNvPr>
          <p:cNvSpPr txBox="1"/>
          <p:nvPr/>
        </p:nvSpPr>
        <p:spPr>
          <a:xfrm>
            <a:off x="711200" y="1066800"/>
            <a:ext cx="10922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 b="1">
                <a:solidFill>
                  <a:srgbClr val="FFFFFF"/>
                </a:solidFill>
                <a:latin typeface="Montserrat"/>
              </a:rPr>
              <a:t>EXERCICE 3A</a:t>
            </a:r>
          </a:p>
        </p:txBody>
      </p:sp>
      <p:sp>
        <p:nvSpPr>
          <p:cNvPr id="64" name="ZoneTexte 63">
            <a:extLst>
              <a:ext uri="{FF2B5EF4-FFF2-40B4-BE49-F238E27FC236}">
                <a16:creationId xmlns:a16="http://schemas.microsoft.com/office/drawing/2014/main" id="{8ED6C3DF-E6E3-4108-8A29-363C9EEB6DE0}"/>
              </a:ext>
            </a:extLst>
          </p:cNvPr>
          <p:cNvSpPr txBox="1"/>
          <p:nvPr/>
        </p:nvSpPr>
        <p:spPr>
          <a:xfrm>
            <a:off x="711200" y="1270000"/>
            <a:ext cx="10922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300" b="1">
                <a:solidFill>
                  <a:srgbClr val="FFFFFF"/>
                </a:solidFill>
                <a:latin typeface="Montserrat"/>
              </a:rPr>
              <a:t>Creer les modeles staging manquants</a:t>
            </a:r>
          </a:p>
        </p:txBody>
      </p:sp>
      <p:sp>
        <p:nvSpPr>
          <p:cNvPr id="65" name="Rectangle : coins arrondis 64">
            <a:extLst>
              <a:ext uri="{FF2B5EF4-FFF2-40B4-BE49-F238E27FC236}">
                <a16:creationId xmlns:a16="http://schemas.microsoft.com/office/drawing/2014/main" id="{55E94A2B-DCCA-4E04-B8F5-5F5036636890}"/>
              </a:ext>
            </a:extLst>
          </p:cNvPr>
          <p:cNvSpPr/>
          <p:nvPr/>
        </p:nvSpPr>
        <p:spPr>
          <a:xfrm>
            <a:off x="508000" y="1676400"/>
            <a:ext cx="11176000" cy="3251200"/>
          </a:xfrm>
          <a:prstGeom prst="roundRect">
            <a:avLst/>
          </a:prstGeom>
          <a:solidFill>
            <a:srgbClr val="F7F4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66" name="ZoneTexte 65">
            <a:extLst>
              <a:ext uri="{FF2B5EF4-FFF2-40B4-BE49-F238E27FC236}">
                <a16:creationId xmlns:a16="http://schemas.microsoft.com/office/drawing/2014/main" id="{A22CFC2A-FE6E-493E-8A40-54E8D8BB0539}"/>
              </a:ext>
            </a:extLst>
          </p:cNvPr>
          <p:cNvSpPr txBox="1"/>
          <p:nvPr/>
        </p:nvSpPr>
        <p:spPr>
          <a:xfrm>
            <a:off x="711200" y="1803400"/>
            <a:ext cx="10922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b="1">
                <a:solidFill>
                  <a:srgbClr val="160D3D"/>
                </a:solidFill>
                <a:latin typeface="Montserrat"/>
              </a:rPr>
              <a:t>Étapes</a:t>
            </a:r>
          </a:p>
        </p:txBody>
      </p:sp>
      <p:sp>
        <p:nvSpPr>
          <p:cNvPr id="67" name="Ellipse 66">
            <a:extLst>
              <a:ext uri="{FF2B5EF4-FFF2-40B4-BE49-F238E27FC236}">
                <a16:creationId xmlns:a16="http://schemas.microsoft.com/office/drawing/2014/main" id="{744692FD-7C95-4072-98E3-ADDCF4145F7C}"/>
              </a:ext>
            </a:extLst>
          </p:cNvPr>
          <p:cNvSpPr/>
          <p:nvPr/>
        </p:nvSpPr>
        <p:spPr>
          <a:xfrm>
            <a:off x="711200" y="2159000"/>
            <a:ext cx="279400" cy="279400"/>
          </a:xfrm>
          <a:prstGeom prst="ellipse">
            <a:avLst/>
          </a:prstGeom>
          <a:solidFill>
            <a:srgbClr val="E879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fr-FR" sz="10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68" name="ZoneTexte 67">
            <a:extLst>
              <a:ext uri="{FF2B5EF4-FFF2-40B4-BE49-F238E27FC236}">
                <a16:creationId xmlns:a16="http://schemas.microsoft.com/office/drawing/2014/main" id="{B658A853-008A-4380-8A16-F17980BEF01F}"/>
              </a:ext>
            </a:extLst>
          </p:cNvPr>
          <p:cNvSpPr txBox="1"/>
          <p:nvPr/>
        </p:nvSpPr>
        <p:spPr>
          <a:xfrm>
            <a:off x="1117600" y="2184400"/>
            <a:ext cx="1016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>
                <a:solidFill>
                  <a:srgbClr val="160D3D"/>
                </a:solidFill>
                <a:latin typeface="Montserrat"/>
              </a:rPr>
              <a:t>Creer stg_tpch__parts.sql (part_key, part_name, brand...)</a:t>
            </a:r>
            <a:endParaRPr lang="fr-FR" sz="1100">
              <a:solidFill>
                <a:srgbClr val="160D3D"/>
              </a:solidFill>
              <a:latin typeface="Montserrat"/>
            </a:endParaRPr>
          </a:p>
        </p:txBody>
      </p:sp>
      <p:sp>
        <p:nvSpPr>
          <p:cNvPr id="69" name="Ellipse 68">
            <a:extLst>
              <a:ext uri="{FF2B5EF4-FFF2-40B4-BE49-F238E27FC236}">
                <a16:creationId xmlns:a16="http://schemas.microsoft.com/office/drawing/2014/main" id="{317C6E14-77AB-4926-A580-A0EE66916C5B}"/>
              </a:ext>
            </a:extLst>
          </p:cNvPr>
          <p:cNvSpPr/>
          <p:nvPr/>
        </p:nvSpPr>
        <p:spPr>
          <a:xfrm>
            <a:off x="711200" y="2540000"/>
            <a:ext cx="279400" cy="279400"/>
          </a:xfrm>
          <a:prstGeom prst="ellipse">
            <a:avLst/>
          </a:prstGeom>
          <a:solidFill>
            <a:srgbClr val="E879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fr-FR" sz="10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70" name="ZoneTexte 69">
            <a:extLst>
              <a:ext uri="{FF2B5EF4-FFF2-40B4-BE49-F238E27FC236}">
                <a16:creationId xmlns:a16="http://schemas.microsoft.com/office/drawing/2014/main" id="{A56F4AEB-66D2-41D1-B2C1-7DA02D52695B}"/>
              </a:ext>
            </a:extLst>
          </p:cNvPr>
          <p:cNvSpPr txBox="1"/>
          <p:nvPr/>
        </p:nvSpPr>
        <p:spPr>
          <a:xfrm>
            <a:off x="1117600" y="2565400"/>
            <a:ext cx="1016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>
                <a:solidFill>
                  <a:srgbClr val="160D3D"/>
                </a:solidFill>
                <a:latin typeface="Montserrat"/>
              </a:rPr>
              <a:t>Creer stg_tpch__suppliers.sql (supplier_key, supplier_name...)</a:t>
            </a:r>
            <a:endParaRPr lang="fr-FR" sz="1100">
              <a:solidFill>
                <a:srgbClr val="160D3D"/>
              </a:solidFill>
              <a:latin typeface="Montserrat"/>
            </a:endParaRPr>
          </a:p>
        </p:txBody>
      </p:sp>
      <p:sp>
        <p:nvSpPr>
          <p:cNvPr id="71" name="Ellipse 70">
            <a:extLst>
              <a:ext uri="{FF2B5EF4-FFF2-40B4-BE49-F238E27FC236}">
                <a16:creationId xmlns:a16="http://schemas.microsoft.com/office/drawing/2014/main" id="{472BDED7-99DB-450B-8FCE-D9D47CCF64B0}"/>
              </a:ext>
            </a:extLst>
          </p:cNvPr>
          <p:cNvSpPr/>
          <p:nvPr/>
        </p:nvSpPr>
        <p:spPr>
          <a:xfrm>
            <a:off x="711200" y="2921000"/>
            <a:ext cx="279400" cy="279400"/>
          </a:xfrm>
          <a:prstGeom prst="ellipse">
            <a:avLst/>
          </a:prstGeom>
          <a:solidFill>
            <a:srgbClr val="E879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fr-FR" sz="10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72" name="ZoneTexte 71">
            <a:extLst>
              <a:ext uri="{FF2B5EF4-FFF2-40B4-BE49-F238E27FC236}">
                <a16:creationId xmlns:a16="http://schemas.microsoft.com/office/drawing/2014/main" id="{A9D5AFB7-9B55-479D-A5CD-6C357996E5F1}"/>
              </a:ext>
            </a:extLst>
          </p:cNvPr>
          <p:cNvSpPr txBox="1"/>
          <p:nvPr/>
        </p:nvSpPr>
        <p:spPr>
          <a:xfrm>
            <a:off x="1117600" y="2946400"/>
            <a:ext cx="1016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>
                <a:solidFill>
                  <a:srgbClr val="160D3D"/>
                </a:solidFill>
                <a:latin typeface="Montserrat"/>
              </a:rPr>
              <a:t>Creer stg_tpch__part_suppliers.sql (avec surrogate key)</a:t>
            </a:r>
            <a:endParaRPr lang="fr-FR" sz="1100">
              <a:solidFill>
                <a:srgbClr val="160D3D"/>
              </a:solidFill>
              <a:latin typeface="Montserrat"/>
            </a:endParaRPr>
          </a:p>
        </p:txBody>
      </p:sp>
      <p:sp>
        <p:nvSpPr>
          <p:cNvPr id="73" name="Ellipse 72">
            <a:extLst>
              <a:ext uri="{FF2B5EF4-FFF2-40B4-BE49-F238E27FC236}">
                <a16:creationId xmlns:a16="http://schemas.microsoft.com/office/drawing/2014/main" id="{128C879F-910E-4A14-9F3D-8B6170C37BD6}"/>
              </a:ext>
            </a:extLst>
          </p:cNvPr>
          <p:cNvSpPr/>
          <p:nvPr/>
        </p:nvSpPr>
        <p:spPr>
          <a:xfrm>
            <a:off x="711200" y="3302000"/>
            <a:ext cx="279400" cy="279400"/>
          </a:xfrm>
          <a:prstGeom prst="ellipse">
            <a:avLst/>
          </a:prstGeom>
          <a:solidFill>
            <a:srgbClr val="E879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fr-FR" sz="1000" b="1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74" name="ZoneTexte 73">
            <a:extLst>
              <a:ext uri="{FF2B5EF4-FFF2-40B4-BE49-F238E27FC236}">
                <a16:creationId xmlns:a16="http://schemas.microsoft.com/office/drawing/2014/main" id="{D8E75792-3FBC-4800-80AA-8DDA7BEE95F1}"/>
              </a:ext>
            </a:extLst>
          </p:cNvPr>
          <p:cNvSpPr txBox="1"/>
          <p:nvPr/>
        </p:nvSpPr>
        <p:spPr>
          <a:xfrm>
            <a:off x="1117600" y="3327400"/>
            <a:ext cx="1016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>
                <a:solidFill>
                  <a:srgbClr val="160D3D"/>
                </a:solidFill>
                <a:latin typeface="Montserrat"/>
              </a:rPr>
              <a:t>Creer stg_tpch__nations.sql (nation_key, nation_name...)</a:t>
            </a:r>
            <a:endParaRPr lang="fr-FR" sz="1100">
              <a:solidFill>
                <a:srgbClr val="160D3D"/>
              </a:solidFill>
              <a:latin typeface="Montserrat"/>
            </a:endParaRPr>
          </a:p>
        </p:txBody>
      </p:sp>
      <p:sp>
        <p:nvSpPr>
          <p:cNvPr id="75" name="Ellipse 74">
            <a:extLst>
              <a:ext uri="{FF2B5EF4-FFF2-40B4-BE49-F238E27FC236}">
                <a16:creationId xmlns:a16="http://schemas.microsoft.com/office/drawing/2014/main" id="{1A836D9E-F44B-4D9B-AEF1-5C9A4CE711DF}"/>
              </a:ext>
            </a:extLst>
          </p:cNvPr>
          <p:cNvSpPr/>
          <p:nvPr/>
        </p:nvSpPr>
        <p:spPr>
          <a:xfrm>
            <a:off x="711200" y="3683000"/>
            <a:ext cx="279400" cy="279400"/>
          </a:xfrm>
          <a:prstGeom prst="ellipse">
            <a:avLst/>
          </a:prstGeom>
          <a:solidFill>
            <a:srgbClr val="E879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fr-FR" sz="1000" b="1">
                <a:solidFill>
                  <a:srgbClr val="FFFFFF"/>
                </a:solidFill>
                <a:latin typeface="Montserrat"/>
              </a:rPr>
              <a:t>5</a:t>
            </a:r>
          </a:p>
        </p:txBody>
      </p:sp>
      <p:sp>
        <p:nvSpPr>
          <p:cNvPr id="76" name="ZoneTexte 75">
            <a:extLst>
              <a:ext uri="{FF2B5EF4-FFF2-40B4-BE49-F238E27FC236}">
                <a16:creationId xmlns:a16="http://schemas.microsoft.com/office/drawing/2014/main" id="{5A9804EC-5B42-4B89-BF2B-ED293A5DEB03}"/>
              </a:ext>
            </a:extLst>
          </p:cNvPr>
          <p:cNvSpPr txBox="1"/>
          <p:nvPr/>
        </p:nvSpPr>
        <p:spPr>
          <a:xfrm>
            <a:off x="1117600" y="3708400"/>
            <a:ext cx="1016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>
                <a:solidFill>
                  <a:srgbClr val="160D3D"/>
                </a:solidFill>
                <a:latin typeface="Montserrat"/>
              </a:rPr>
              <a:t>Creer stg_tpch__regions.sql (region_key, region_name...)</a:t>
            </a:r>
            <a:endParaRPr lang="fr-FR" sz="1100">
              <a:solidFill>
                <a:srgbClr val="160D3D"/>
              </a:solidFill>
              <a:latin typeface="Montserrat"/>
            </a:endParaRPr>
          </a:p>
        </p:txBody>
      </p:sp>
      <p:sp>
        <p:nvSpPr>
          <p:cNvPr id="77" name="Ellipse 76">
            <a:extLst>
              <a:ext uri="{FF2B5EF4-FFF2-40B4-BE49-F238E27FC236}">
                <a16:creationId xmlns:a16="http://schemas.microsoft.com/office/drawing/2014/main" id="{4EE674A2-1ACB-453F-AB4B-AA333C362AF1}"/>
              </a:ext>
            </a:extLst>
          </p:cNvPr>
          <p:cNvSpPr/>
          <p:nvPr/>
        </p:nvSpPr>
        <p:spPr>
          <a:xfrm>
            <a:off x="711200" y="4064000"/>
            <a:ext cx="279400" cy="279400"/>
          </a:xfrm>
          <a:prstGeom prst="ellipse">
            <a:avLst/>
          </a:prstGeom>
          <a:solidFill>
            <a:srgbClr val="E879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fr-FR" sz="1000" b="1">
                <a:solidFill>
                  <a:srgbClr val="FFFFFF"/>
                </a:solidFill>
                <a:latin typeface="Montserrat"/>
              </a:rPr>
              <a:t>6</a:t>
            </a:r>
          </a:p>
        </p:txBody>
      </p:sp>
      <p:sp>
        <p:nvSpPr>
          <p:cNvPr id="78" name="ZoneTexte 77">
            <a:extLst>
              <a:ext uri="{FF2B5EF4-FFF2-40B4-BE49-F238E27FC236}">
                <a16:creationId xmlns:a16="http://schemas.microsoft.com/office/drawing/2014/main" id="{ECB5051A-85A2-49B9-8780-7F11BE740C6C}"/>
              </a:ext>
            </a:extLst>
          </p:cNvPr>
          <p:cNvSpPr txBox="1"/>
          <p:nvPr/>
        </p:nvSpPr>
        <p:spPr>
          <a:xfrm>
            <a:off x="1117600" y="4089400"/>
            <a:ext cx="1016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>
                <a:solidFill>
                  <a:srgbClr val="160D3D"/>
                </a:solidFill>
                <a:latin typeface="Montserrat"/>
              </a:rPr>
              <a:t>Executer : dbt run --select staging</a:t>
            </a:r>
            <a:endParaRPr lang="fr-FR" sz="1100">
              <a:solidFill>
                <a:srgbClr val="160D3D"/>
              </a:solidFill>
              <a:latin typeface="Montserrat"/>
            </a:endParaRPr>
          </a:p>
        </p:txBody>
      </p:sp>
      <p:sp>
        <p:nvSpPr>
          <p:cNvPr id="79" name="Ellipse 78">
            <a:extLst>
              <a:ext uri="{FF2B5EF4-FFF2-40B4-BE49-F238E27FC236}">
                <a16:creationId xmlns:a16="http://schemas.microsoft.com/office/drawing/2014/main" id="{5F5DBD5A-0C17-4BED-AA05-7D0F547E01A0}"/>
              </a:ext>
            </a:extLst>
          </p:cNvPr>
          <p:cNvSpPr/>
          <p:nvPr/>
        </p:nvSpPr>
        <p:spPr>
          <a:xfrm>
            <a:off x="711200" y="4445000"/>
            <a:ext cx="279400" cy="279400"/>
          </a:xfrm>
          <a:prstGeom prst="ellipse">
            <a:avLst/>
          </a:prstGeom>
          <a:solidFill>
            <a:srgbClr val="E879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fr-FR" sz="1000" b="1">
                <a:solidFill>
                  <a:srgbClr val="FFFFFF"/>
                </a:solidFill>
                <a:latin typeface="Montserrat"/>
              </a:rPr>
              <a:t>7</a:t>
            </a:r>
          </a:p>
        </p:txBody>
      </p:sp>
      <p:sp>
        <p:nvSpPr>
          <p:cNvPr id="80" name="ZoneTexte 79">
            <a:extLst>
              <a:ext uri="{FF2B5EF4-FFF2-40B4-BE49-F238E27FC236}">
                <a16:creationId xmlns:a16="http://schemas.microsoft.com/office/drawing/2014/main" id="{D1C74007-4CF8-4DCF-881B-E49733EF9B26}"/>
              </a:ext>
            </a:extLst>
          </p:cNvPr>
          <p:cNvSpPr txBox="1"/>
          <p:nvPr/>
        </p:nvSpPr>
        <p:spPr>
          <a:xfrm>
            <a:off x="1117600" y="4470400"/>
            <a:ext cx="1016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>
                <a:solidFill>
                  <a:srgbClr val="160D3D"/>
                </a:solidFill>
                <a:latin typeface="Montserrat"/>
              </a:rPr>
              <a:t>Lancer les tests : dbt test --select staging</a:t>
            </a:r>
            <a:endParaRPr lang="fr-FR" sz="1100">
              <a:solidFill>
                <a:srgbClr val="160D3D"/>
              </a:solidFill>
              <a:latin typeface="Montserrat"/>
            </a:endParaRPr>
          </a:p>
        </p:txBody>
      </p:sp>
      <p:sp>
        <p:nvSpPr>
          <p:cNvPr id="81" name="Rectangle : coins arrondis 80">
            <a:extLst>
              <a:ext uri="{FF2B5EF4-FFF2-40B4-BE49-F238E27FC236}">
                <a16:creationId xmlns:a16="http://schemas.microsoft.com/office/drawing/2014/main" id="{F32A78C5-993C-47DA-85DB-DD44D24CD2D1}"/>
              </a:ext>
            </a:extLst>
          </p:cNvPr>
          <p:cNvSpPr/>
          <p:nvPr/>
        </p:nvSpPr>
        <p:spPr>
          <a:xfrm>
            <a:off x="508000" y="5029200"/>
            <a:ext cx="11176000" cy="533400"/>
          </a:xfrm>
          <a:prstGeom prst="roundRect">
            <a:avLst/>
          </a:prstGeom>
          <a:solidFill>
            <a:srgbClr val="FFF0E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82" name="ZoneTexte 81">
            <a:extLst>
              <a:ext uri="{FF2B5EF4-FFF2-40B4-BE49-F238E27FC236}">
                <a16:creationId xmlns:a16="http://schemas.microsoft.com/office/drawing/2014/main" id="{BA973C2A-2A13-4E92-9E81-E69371AADBD3}"/>
              </a:ext>
            </a:extLst>
          </p:cNvPr>
          <p:cNvSpPr txBox="1"/>
          <p:nvPr/>
        </p:nvSpPr>
        <p:spPr>
          <a:xfrm>
            <a:off x="685800" y="5105400"/>
            <a:ext cx="10922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 b="1">
                <a:solidFill>
                  <a:srgbClr val="E8792F"/>
                </a:solidFill>
                <a:latin typeface="Montserrat"/>
              </a:rPr>
              <a:t>→ Indice</a:t>
            </a:r>
          </a:p>
        </p:txBody>
      </p:sp>
      <p:sp>
        <p:nvSpPr>
          <p:cNvPr id="83" name="ZoneTexte 82">
            <a:extLst>
              <a:ext uri="{FF2B5EF4-FFF2-40B4-BE49-F238E27FC236}">
                <a16:creationId xmlns:a16="http://schemas.microsoft.com/office/drawing/2014/main" id="{9367C343-BE9E-4777-BD45-7FF0B8796D25}"/>
              </a:ext>
            </a:extLst>
          </p:cNvPr>
          <p:cNvSpPr txBox="1"/>
          <p:nvPr/>
        </p:nvSpPr>
        <p:spPr>
          <a:xfrm>
            <a:off x="685800" y="5308600"/>
            <a:ext cx="10922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160D3D"/>
                </a:solidFill>
                <a:latin typeface="Montserrat"/>
              </a:rPr>
              <a:t>Pour part_suppliers, utiliser generate_surrogate_key(['ps_partkey', 'ps_suppkey']).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5"/>
          </p:nvPr>
        </p:nvSpPr>
        <p:spPr>
          <a:xfrm>
            <a:off x="508000" y="0"/>
            <a:ext cx="11176000" cy="760021"/>
          </a:xfrm>
        </p:spPr>
        <p:txBody>
          <a:bodyPr/>
          <a:lstStyle/>
          <a:p>
            <a:pPr algn="ctr"/>
            <a:r>
              <a:rPr sz="2200" b="1">
                <a:solidFill>
                  <a:srgbClr val="160D3D"/>
                </a:solidFill>
                <a:latin typeface="Montserrat"/>
              </a:rPr>
              <a:t>Packages dbt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00000" y="2476500"/>
            <a:ext cx="5200000" cy="2413000"/>
          </a:xfrm>
          <a:prstGeom prst="rect">
            <a:avLst/>
          </a:prstGeom>
          <a:solidFill>
            <a:srgbClr val="0A1730"/>
          </a:solidFill>
          <a:ln w="12700" cap="flat" cmpd="sng" algn="ctr">
            <a:noFill/>
            <a:prstDash val="solid"/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 anchorCtr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 lang="fr-FR" sz="900" i="1" dirty="0">
              <a:solidFill>
                <a:srgbClr val="6B7BA8"/>
              </a:solidFill>
              <a:latin typeface="Courier New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lang="fr-FR" sz="900" i="1" dirty="0">
              <a:solidFill>
                <a:srgbClr val="6B7BA8"/>
              </a:solidFill>
              <a:latin typeface="Courier New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lang="fr-FR" sz="900" i="1" dirty="0">
              <a:solidFill>
                <a:srgbClr val="6B7BA8"/>
              </a:solidFill>
              <a:latin typeface="Courier New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i="1" dirty="0">
                <a:solidFill>
                  <a:srgbClr val="6B7BA8"/>
                </a:solidFill>
                <a:latin typeface="Courier New"/>
              </a:rPr>
              <a:t># packages.yml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b="1" dirty="0">
                <a:solidFill>
                  <a:srgbClr val="9D88FF"/>
                </a:solidFill>
                <a:latin typeface="Courier New"/>
              </a:rPr>
              <a:t>packages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-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package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 dbt-labs/dbt_utils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version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 </a:t>
            </a:r>
            <a:r>
              <a:rPr lang="fr-FR" sz="900" dirty="0">
                <a:solidFill>
                  <a:srgbClr val="FFA76B"/>
                </a:solidFill>
                <a:latin typeface="Courier New"/>
              </a:rPr>
              <a:t>"&gt;=1.3.0"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-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package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 calogica/dbt_expectations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version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 </a:t>
            </a:r>
            <a:r>
              <a:rPr lang="fr-FR" sz="900" dirty="0">
                <a:solidFill>
                  <a:srgbClr val="FFA76B"/>
                </a:solidFill>
                <a:latin typeface="Courier New"/>
              </a:rPr>
              <a:t>"&gt;=0.10.0"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$ dbt deps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i="1" dirty="0">
                <a:solidFill>
                  <a:srgbClr val="6B7BA8"/>
                </a:solidFill>
                <a:latin typeface="Courier New"/>
              </a:rPr>
              <a:t># Installing dbt-labs/dbt_utils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i="1" dirty="0">
                <a:solidFill>
                  <a:srgbClr val="6B7BA8"/>
                </a:solidFill>
                <a:latin typeface="Courier New"/>
              </a:rPr>
              <a:t># Installing calogica/dbt_expectations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i="1" dirty="0">
                <a:solidFill>
                  <a:srgbClr val="6B7BA8"/>
                </a:solidFill>
                <a:latin typeface="Courier New"/>
              </a:rPr>
              <a:t># Packages installed!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E5C69DD8-ABD5-4AD7-A2AA-6E617235F79D}"/>
              </a:ext>
            </a:extLst>
          </p:cNvPr>
          <p:cNvSpPr txBox="1"/>
          <p:nvPr/>
        </p:nvSpPr>
        <p:spPr>
          <a:xfrm>
            <a:off x="508000" y="1079500"/>
            <a:ext cx="584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500" b="1">
                <a:solidFill>
                  <a:srgbClr val="160D3D"/>
                </a:solidFill>
                <a:latin typeface="Montserrat"/>
              </a:rPr>
              <a:t>packages.yml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BD44CAAA-4390-4D43-A644-AD63A04F6498}"/>
              </a:ext>
            </a:extLst>
          </p:cNvPr>
          <p:cNvSpPr/>
          <p:nvPr/>
        </p:nvSpPr>
        <p:spPr>
          <a:xfrm>
            <a:off x="508000" y="1524000"/>
            <a:ext cx="5842000" cy="1016000"/>
          </a:xfrm>
          <a:prstGeom prst="roundRect">
            <a:avLst/>
          </a:prstGeom>
          <a:solidFill>
            <a:srgbClr val="F7F4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984CC07B-5431-4105-9EC9-B97ECECF7A06}"/>
              </a:ext>
            </a:extLst>
          </p:cNvPr>
          <p:cNvSpPr/>
          <p:nvPr/>
        </p:nvSpPr>
        <p:spPr>
          <a:xfrm>
            <a:off x="711200" y="1701800"/>
            <a:ext cx="1778000" cy="381000"/>
          </a:xfrm>
          <a:prstGeom prst="roundRect">
            <a:avLst/>
          </a:prstGeom>
          <a:solidFill>
            <a:srgbClr val="160D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4D7FD775-8427-4397-83E4-36DC1869B093}"/>
              </a:ext>
            </a:extLst>
          </p:cNvPr>
          <p:cNvSpPr txBox="1"/>
          <p:nvPr/>
        </p:nvSpPr>
        <p:spPr>
          <a:xfrm>
            <a:off x="711200" y="1752600"/>
            <a:ext cx="177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 b="1" dirty="0" err="1">
                <a:solidFill>
                  <a:srgbClr val="FFFFFF"/>
                </a:solidFill>
                <a:latin typeface="Montserrat"/>
              </a:rPr>
              <a:t>dbt_utils</a:t>
            </a:r>
            <a:endParaRPr lang="fr-FR" sz="1100" b="1" dirty="0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A0578BD8-AC98-4C45-BF94-F2D30C76425A}"/>
              </a:ext>
            </a:extLst>
          </p:cNvPr>
          <p:cNvSpPr txBox="1"/>
          <p:nvPr/>
        </p:nvSpPr>
        <p:spPr>
          <a:xfrm>
            <a:off x="711200" y="2184400"/>
            <a:ext cx="54610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>
                <a:solidFill>
                  <a:srgbClr val="160D3D"/>
                </a:solidFill>
                <a:latin typeface="Montserrat"/>
              </a:rPr>
              <a:t>Macros utilitaires : surrogate_key, date_spine, generate_schema_name…</a:t>
            </a:r>
            <a:endParaRPr lang="fr-FR" sz="1100">
              <a:solidFill>
                <a:srgbClr val="160D3D"/>
              </a:solidFill>
              <a:latin typeface="Montserrat"/>
            </a:endParaRP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50E3B1B2-9003-49FC-81AA-E8179D91E4F6}"/>
              </a:ext>
            </a:extLst>
          </p:cNvPr>
          <p:cNvSpPr/>
          <p:nvPr/>
        </p:nvSpPr>
        <p:spPr>
          <a:xfrm>
            <a:off x="508000" y="2794000"/>
            <a:ext cx="5842000" cy="1016000"/>
          </a:xfrm>
          <a:prstGeom prst="roundRect">
            <a:avLst/>
          </a:prstGeom>
          <a:solidFill>
            <a:srgbClr val="F7F4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2AEE9D46-9FB3-4916-8AD2-CF52739003A5}"/>
              </a:ext>
            </a:extLst>
          </p:cNvPr>
          <p:cNvSpPr/>
          <p:nvPr/>
        </p:nvSpPr>
        <p:spPr>
          <a:xfrm>
            <a:off x="711200" y="2971800"/>
            <a:ext cx="1778000" cy="381000"/>
          </a:xfrm>
          <a:prstGeom prst="roundRect">
            <a:avLst/>
          </a:prstGeom>
          <a:solidFill>
            <a:srgbClr val="E879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E7A08B6C-23A6-41C9-A2FD-7C6C7D27BAFD}"/>
              </a:ext>
            </a:extLst>
          </p:cNvPr>
          <p:cNvSpPr txBox="1"/>
          <p:nvPr/>
        </p:nvSpPr>
        <p:spPr>
          <a:xfrm>
            <a:off x="711200" y="3022600"/>
            <a:ext cx="177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 b="1">
                <a:solidFill>
                  <a:srgbClr val="FFFFFF"/>
                </a:solidFill>
                <a:latin typeface="Montserrat"/>
              </a:rPr>
              <a:t>dbt_expectations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06EC9CB4-CCA7-4C21-9865-4ED5E23EFCBA}"/>
              </a:ext>
            </a:extLst>
          </p:cNvPr>
          <p:cNvSpPr txBox="1"/>
          <p:nvPr/>
        </p:nvSpPr>
        <p:spPr>
          <a:xfrm>
            <a:off x="711200" y="3454400"/>
            <a:ext cx="54610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160D3D"/>
                </a:solidFill>
                <a:latin typeface="Montserrat"/>
              </a:rPr>
              <a:t>Tests avancés inspirés de Great Expectations (valeurs, types, ranges)</a:t>
            </a: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ABAD2832-E1DA-4063-AEDC-F1A35C54305C}"/>
              </a:ext>
            </a:extLst>
          </p:cNvPr>
          <p:cNvSpPr/>
          <p:nvPr/>
        </p:nvSpPr>
        <p:spPr>
          <a:xfrm>
            <a:off x="508000" y="4064000"/>
            <a:ext cx="5842000" cy="1016000"/>
          </a:xfrm>
          <a:prstGeom prst="roundRect">
            <a:avLst/>
          </a:prstGeom>
          <a:solidFill>
            <a:srgbClr val="F7F4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B284A7D0-7C65-4761-B94A-C6553763819B}"/>
              </a:ext>
            </a:extLst>
          </p:cNvPr>
          <p:cNvSpPr/>
          <p:nvPr/>
        </p:nvSpPr>
        <p:spPr>
          <a:xfrm>
            <a:off x="711200" y="4241800"/>
            <a:ext cx="1778000" cy="381000"/>
          </a:xfrm>
          <a:prstGeom prst="roundRect">
            <a:avLst/>
          </a:prstGeom>
          <a:solidFill>
            <a:srgbClr val="373AA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73D0E5B7-9D13-4E0F-BF72-D811FBF35151}"/>
              </a:ext>
            </a:extLst>
          </p:cNvPr>
          <p:cNvSpPr txBox="1"/>
          <p:nvPr/>
        </p:nvSpPr>
        <p:spPr>
          <a:xfrm>
            <a:off x="711200" y="4292600"/>
            <a:ext cx="177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 b="1">
                <a:solidFill>
                  <a:srgbClr val="FFFFFF"/>
                </a:solidFill>
                <a:latin typeface="Montserrat"/>
              </a:rPr>
              <a:t>codegen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5E042755-6288-41BA-8658-7923D02862C4}"/>
              </a:ext>
            </a:extLst>
          </p:cNvPr>
          <p:cNvSpPr txBox="1"/>
          <p:nvPr/>
        </p:nvSpPr>
        <p:spPr>
          <a:xfrm>
            <a:off x="711200" y="4724400"/>
            <a:ext cx="5461000" cy="3175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160D3D"/>
                </a:solidFill>
                <a:latin typeface="Montserrat"/>
              </a:rPr>
              <a:t>Génération automatique de YAML pour les sources et modèles</a:t>
            </a:r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C8C1D0C5-B0E9-4D14-88CB-CF63BCE97E3E}"/>
              </a:ext>
            </a:extLst>
          </p:cNvPr>
          <p:cNvSpPr/>
          <p:nvPr/>
        </p:nvSpPr>
        <p:spPr>
          <a:xfrm>
            <a:off x="508000" y="5397500"/>
            <a:ext cx="5842000" cy="635000"/>
          </a:xfrm>
          <a:prstGeom prst="roundRect">
            <a:avLst/>
          </a:prstGeom>
          <a:solidFill>
            <a:srgbClr val="FFF0E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F0354B48-3697-4D26-B353-F9D69352902C}"/>
              </a:ext>
            </a:extLst>
          </p:cNvPr>
          <p:cNvSpPr txBox="1"/>
          <p:nvPr/>
        </p:nvSpPr>
        <p:spPr>
          <a:xfrm>
            <a:off x="711200" y="5549900"/>
            <a:ext cx="1397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b="1">
                <a:solidFill>
                  <a:srgbClr val="E8792F"/>
                </a:solidFill>
                <a:latin typeface="Montserrat"/>
              </a:rPr>
              <a:t>⚙️  dbt deps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608A9492-7D09-4AE7-A4E0-84812AD901B0}"/>
              </a:ext>
            </a:extLst>
          </p:cNvPr>
          <p:cNvSpPr txBox="1"/>
          <p:nvPr/>
        </p:nvSpPr>
        <p:spPr>
          <a:xfrm>
            <a:off x="2222500" y="5588000"/>
            <a:ext cx="3937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160D3D"/>
                </a:solidFill>
                <a:latin typeface="Montserrat"/>
              </a:rPr>
              <a:t>installe les packages déclarés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078955B2-9582-42C3-8BBB-19A5145332EB}"/>
              </a:ext>
            </a:extLst>
          </p:cNvPr>
          <p:cNvSpPr txBox="1"/>
          <p:nvPr/>
        </p:nvSpPr>
        <p:spPr>
          <a:xfrm>
            <a:off x="9260000" y="2603500"/>
            <a:ext cx="2387600" cy="2286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fr-FR" sz="800" b="1">
                <a:solidFill>
                  <a:srgbClr val="6B7BA8"/>
                </a:solidFill>
                <a:latin typeface="Montserrat"/>
              </a:rPr>
              <a:t>PACKAGES.YML</a:t>
            </a:r>
          </a:p>
        </p:txBody>
      </p:sp>
    </p:spTree>
    <p:extLst>
      <p:ext uri="{BB962C8B-B14F-4D97-AF65-F5344CB8AC3E}">
        <p14:creationId xmlns:p14="http://schemas.microsoft.com/office/powerpoint/2010/main" val="351442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5"/>
          </p:nvPr>
        </p:nvSpPr>
        <p:spPr>
          <a:xfrm>
            <a:off x="508000" y="0"/>
            <a:ext cx="11176000" cy="760021"/>
          </a:xfrm>
        </p:spPr>
        <p:txBody>
          <a:bodyPr/>
          <a:lstStyle/>
          <a:p>
            <a:pPr algn="ctr"/>
            <a:r>
              <a:rPr sz="2200" b="1">
                <a:solidFill>
                  <a:srgbClr val="160D3D"/>
                </a:solidFill>
                <a:latin typeface="Montserrat"/>
              </a:rPr>
              <a:t>Modeles intermediaires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00000" y="1320800"/>
            <a:ext cx="5200000" cy="4724400"/>
          </a:xfrm>
          <a:prstGeom prst="rect">
            <a:avLst/>
          </a:prstGeom>
          <a:solidFill>
            <a:srgbClr val="0A1730"/>
          </a:solidFill>
          <a:ln w="12700" cap="flat" cmpd="sng" algn="ctr">
            <a:noFill/>
            <a:prstDash val="solid"/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 anchorCtr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 lang="fr-FR" sz="900" i="1" dirty="0">
              <a:solidFill>
                <a:srgbClr val="6B7BA8"/>
              </a:solidFill>
              <a:latin typeface="Courier New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lang="fr-FR" sz="900" i="1" dirty="0">
              <a:solidFill>
                <a:srgbClr val="6B7BA8"/>
              </a:solidFill>
              <a:latin typeface="Courier New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lang="fr-FR" sz="900" i="1" dirty="0">
              <a:solidFill>
                <a:srgbClr val="6B7BA8"/>
              </a:solidFill>
              <a:latin typeface="Courier New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i="1" dirty="0">
                <a:solidFill>
                  <a:srgbClr val="6B7BA8"/>
                </a:solidFill>
                <a:latin typeface="Courier New"/>
              </a:rPr>
              <a:t>-- int_order_items.sql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b="1" dirty="0">
                <a:solidFill>
                  <a:srgbClr val="9D88FF"/>
                </a:solidFill>
                <a:latin typeface="Courier New"/>
              </a:rPr>
              <a:t>with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orders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as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(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select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*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from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{{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ref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(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</a:t>
            </a:r>
            <a:r>
              <a:rPr lang="fr-FR" sz="900" dirty="0">
                <a:solidFill>
                  <a:srgbClr val="FFA76B"/>
                </a:solidFill>
                <a:latin typeface="Courier New"/>
              </a:rPr>
              <a:t>'stg_tpch__orders'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) }}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),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line_items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as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(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select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*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from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{{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ref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(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</a:t>
            </a:r>
            <a:r>
              <a:rPr lang="fr-FR" sz="900" dirty="0">
                <a:solidFill>
                  <a:srgbClr val="FFA76B"/>
                </a:solidFill>
                <a:latin typeface="Courier New"/>
              </a:rPr>
              <a:t>'stg_tpch__line_items'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) }}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),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joined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as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(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select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  li.line_item_key,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  li.order_key,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  o.customer_key,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  o.order_date,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  o.order_status,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  li.quantity,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  li.final_price,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  li.ship_date,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  li.return_flag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from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line_items li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inner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join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orders o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on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li.order_key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 = o.order_key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b="1" dirty="0">
                <a:solidFill>
                  <a:srgbClr val="9D88FF"/>
                </a:solidFill>
                <a:latin typeface="Courier New"/>
              </a:rPr>
              <a:t>select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*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from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joined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EB8A5F80-BB81-444E-ADFD-8FACEB2318CB}"/>
              </a:ext>
            </a:extLst>
          </p:cNvPr>
          <p:cNvSpPr txBox="1"/>
          <p:nvPr/>
        </p:nvSpPr>
        <p:spPr>
          <a:xfrm>
            <a:off x="508000" y="1079500"/>
            <a:ext cx="584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500" b="1">
                <a:solidFill>
                  <a:srgbClr val="160D3D"/>
                </a:solidFill>
                <a:latin typeface="Montserrat"/>
              </a:rPr>
              <a:t>Couche intermédiaire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C9CF750C-6462-4AB1-BAB3-6BF51A753B9A}"/>
              </a:ext>
            </a:extLst>
          </p:cNvPr>
          <p:cNvSpPr/>
          <p:nvPr/>
        </p:nvSpPr>
        <p:spPr>
          <a:xfrm>
            <a:off x="508000" y="1524000"/>
            <a:ext cx="5842000" cy="1016000"/>
          </a:xfrm>
          <a:prstGeom prst="roundRect">
            <a:avLst/>
          </a:prstGeom>
          <a:solidFill>
            <a:srgbClr val="F7F4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513BA6EA-EF5D-4F5B-831A-E2AB531AE9D5}"/>
              </a:ext>
            </a:extLst>
          </p:cNvPr>
          <p:cNvSpPr/>
          <p:nvPr/>
        </p:nvSpPr>
        <p:spPr>
          <a:xfrm>
            <a:off x="711200" y="1701800"/>
            <a:ext cx="762000" cy="330200"/>
          </a:xfrm>
          <a:prstGeom prst="roundRect">
            <a:avLst/>
          </a:prstGeom>
          <a:solidFill>
            <a:srgbClr val="160D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C5138C00-B7D3-4A68-89DF-523AAF43CBE3}"/>
              </a:ext>
            </a:extLst>
          </p:cNvPr>
          <p:cNvSpPr txBox="1"/>
          <p:nvPr/>
        </p:nvSpPr>
        <p:spPr>
          <a:xfrm>
            <a:off x="711200" y="1752600"/>
            <a:ext cx="762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 b="1">
                <a:solidFill>
                  <a:srgbClr val="FFFFFF"/>
                </a:solidFill>
                <a:latin typeface="Montserrat"/>
              </a:rPr>
              <a:t>JOIN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5261ECE8-FEEC-4007-9430-5C64F3A5EA33}"/>
              </a:ext>
            </a:extLst>
          </p:cNvPr>
          <p:cNvSpPr txBox="1"/>
          <p:nvPr/>
        </p:nvSpPr>
        <p:spPr>
          <a:xfrm>
            <a:off x="1651000" y="1714500"/>
            <a:ext cx="4445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b="1">
                <a:solidFill>
                  <a:srgbClr val="160D3D"/>
                </a:solidFill>
                <a:latin typeface="Montserrat"/>
              </a:rPr>
              <a:t>int_order_items.sql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F93F35E8-6E1F-413E-903D-0D36CC118F36}"/>
              </a:ext>
            </a:extLst>
          </p:cNvPr>
          <p:cNvSpPr txBox="1"/>
          <p:nvPr/>
        </p:nvSpPr>
        <p:spPr>
          <a:xfrm>
            <a:off x="1651000" y="2082800"/>
            <a:ext cx="4445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160D3D"/>
                </a:solidFill>
                <a:latin typeface="Montserrat"/>
              </a:rPr>
              <a:t>Jointure commandes + lignes de commande</a:t>
            </a: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05495B2C-6076-4902-A2B2-70492D3EA787}"/>
              </a:ext>
            </a:extLst>
          </p:cNvPr>
          <p:cNvSpPr/>
          <p:nvPr/>
        </p:nvSpPr>
        <p:spPr>
          <a:xfrm>
            <a:off x="508000" y="2730500"/>
            <a:ext cx="5842000" cy="1016000"/>
          </a:xfrm>
          <a:prstGeom prst="roundRect">
            <a:avLst/>
          </a:prstGeom>
          <a:solidFill>
            <a:srgbClr val="F7F4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CDECAE83-8848-43D1-8AA1-D644B8081155}"/>
              </a:ext>
            </a:extLst>
          </p:cNvPr>
          <p:cNvSpPr/>
          <p:nvPr/>
        </p:nvSpPr>
        <p:spPr>
          <a:xfrm>
            <a:off x="711200" y="2908300"/>
            <a:ext cx="762000" cy="330200"/>
          </a:xfrm>
          <a:prstGeom prst="roundRect">
            <a:avLst/>
          </a:prstGeom>
          <a:solidFill>
            <a:srgbClr val="160D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7E567F94-0826-4C92-B4AF-C1D29BC7BC90}"/>
              </a:ext>
            </a:extLst>
          </p:cNvPr>
          <p:cNvSpPr txBox="1"/>
          <p:nvPr/>
        </p:nvSpPr>
        <p:spPr>
          <a:xfrm>
            <a:off x="711200" y="2959100"/>
            <a:ext cx="762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 b="1">
                <a:solidFill>
                  <a:srgbClr val="FFFFFF"/>
                </a:solidFill>
                <a:latin typeface="Montserrat"/>
              </a:rPr>
              <a:t>AGG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8BA37E92-46D7-4331-B9E0-897925DB13F1}"/>
              </a:ext>
            </a:extLst>
          </p:cNvPr>
          <p:cNvSpPr txBox="1"/>
          <p:nvPr/>
        </p:nvSpPr>
        <p:spPr>
          <a:xfrm>
            <a:off x="1651000" y="2921000"/>
            <a:ext cx="4445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160D3D"/>
                </a:solidFill>
                <a:latin typeface="Montserrat"/>
              </a:rPr>
              <a:t>int_order_items_summary.sql</a:t>
            </a:r>
            <a:endParaRPr lang="fr-FR" sz="1200" b="1">
              <a:solidFill>
                <a:srgbClr val="160D3D"/>
              </a:solidFill>
              <a:latin typeface="Montserrat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392B4098-C3AE-4EF3-9ADC-D6BE9C543067}"/>
              </a:ext>
            </a:extLst>
          </p:cNvPr>
          <p:cNvSpPr txBox="1"/>
          <p:nvPr/>
        </p:nvSpPr>
        <p:spPr>
          <a:xfrm>
            <a:off x="1651000" y="3289300"/>
            <a:ext cx="4445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160D3D"/>
                </a:solidFill>
                <a:latin typeface="Montserrat"/>
              </a:rPr>
              <a:t>Agrégation au niveau commande (revenus, quantités)</a:t>
            </a: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259C714A-83CD-4952-B4A9-E7389252D113}"/>
              </a:ext>
            </a:extLst>
          </p:cNvPr>
          <p:cNvSpPr/>
          <p:nvPr/>
        </p:nvSpPr>
        <p:spPr>
          <a:xfrm>
            <a:off x="508000" y="4064000"/>
            <a:ext cx="5842000" cy="1905000"/>
          </a:xfrm>
          <a:prstGeom prst="roundRect">
            <a:avLst/>
          </a:prstGeom>
          <a:solidFill>
            <a:srgbClr val="F7F4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775A7FD4-4FE2-4674-947F-FB8DF1A43EA5}"/>
              </a:ext>
            </a:extLst>
          </p:cNvPr>
          <p:cNvSpPr txBox="1"/>
          <p:nvPr/>
        </p:nvSpPr>
        <p:spPr>
          <a:xfrm>
            <a:off x="711200" y="4191000"/>
            <a:ext cx="5461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b="1">
                <a:solidFill>
                  <a:srgbClr val="160D3D"/>
                </a:solidFill>
                <a:latin typeface="Montserrat"/>
              </a:rPr>
              <a:t>Bonnes pratiques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D2D4E7C0-36BD-4ABE-9F29-C0DC4F49F0A2}"/>
              </a:ext>
            </a:extLst>
          </p:cNvPr>
          <p:cNvSpPr txBox="1"/>
          <p:nvPr/>
        </p:nvSpPr>
        <p:spPr>
          <a:xfrm>
            <a:off x="762000" y="4546600"/>
            <a:ext cx="1524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 b="1">
                <a:solidFill>
                  <a:srgbClr val="E8792F"/>
                </a:solidFill>
                <a:latin typeface="Montserrat"/>
              </a:rPr>
              <a:t>•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75353FB0-05E2-4E0F-8EAB-4A272E3EFC8D}"/>
              </a:ext>
            </a:extLst>
          </p:cNvPr>
          <p:cNvSpPr txBox="1"/>
          <p:nvPr/>
        </p:nvSpPr>
        <p:spPr>
          <a:xfrm>
            <a:off x="952500" y="4546600"/>
            <a:ext cx="20955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 b="1">
                <a:solidFill>
                  <a:srgbClr val="160D3D"/>
                </a:solidFill>
                <a:latin typeface="Montserrat"/>
              </a:rPr>
              <a:t>1 transformation = 1 modèle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F4199C8E-1AA2-42C0-8E5F-6141D688A3F3}"/>
              </a:ext>
            </a:extLst>
          </p:cNvPr>
          <p:cNvSpPr txBox="1"/>
          <p:nvPr/>
        </p:nvSpPr>
        <p:spPr>
          <a:xfrm>
            <a:off x="3048000" y="4546600"/>
            <a:ext cx="3175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160D3D"/>
                </a:solidFill>
                <a:latin typeface="Montserrat"/>
              </a:rPr>
              <a:t>Atomique et testable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622DEC3B-C13B-42F4-A639-12BB9910FA28}"/>
              </a:ext>
            </a:extLst>
          </p:cNvPr>
          <p:cNvSpPr txBox="1"/>
          <p:nvPr/>
        </p:nvSpPr>
        <p:spPr>
          <a:xfrm>
            <a:off x="762000" y="4876800"/>
            <a:ext cx="1524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 b="1">
                <a:solidFill>
                  <a:srgbClr val="E8792F"/>
                </a:solidFill>
                <a:latin typeface="Montserrat"/>
              </a:rPr>
              <a:t>•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08ABE1A1-9DA7-4097-B2B6-1F0F70C08802}"/>
              </a:ext>
            </a:extLst>
          </p:cNvPr>
          <p:cNvSpPr txBox="1"/>
          <p:nvPr/>
        </p:nvSpPr>
        <p:spPr>
          <a:xfrm>
            <a:off x="952500" y="4876800"/>
            <a:ext cx="20955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 b="1">
                <a:solidFill>
                  <a:srgbClr val="160D3D"/>
                </a:solidFill>
                <a:latin typeface="Montserrat"/>
              </a:rPr>
              <a:t>Pas de SELECT *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61589023-8FC8-47DD-B0EC-81CCB5244F9F}"/>
              </a:ext>
            </a:extLst>
          </p:cNvPr>
          <p:cNvSpPr txBox="1"/>
          <p:nvPr/>
        </p:nvSpPr>
        <p:spPr>
          <a:xfrm>
            <a:off x="3048000" y="4876800"/>
            <a:ext cx="3175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160D3D"/>
                </a:solidFill>
                <a:latin typeface="Montserrat"/>
              </a:rPr>
              <a:t>Sélection explicite des colonnes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3D4E3E6F-2BB4-4FC0-AA84-3281F0D67944}"/>
              </a:ext>
            </a:extLst>
          </p:cNvPr>
          <p:cNvSpPr txBox="1"/>
          <p:nvPr/>
        </p:nvSpPr>
        <p:spPr>
          <a:xfrm>
            <a:off x="762000" y="5207000"/>
            <a:ext cx="1524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 b="1">
                <a:solidFill>
                  <a:srgbClr val="E8792F"/>
                </a:solidFill>
                <a:latin typeface="Montserrat"/>
              </a:rPr>
              <a:t>•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C3D9AA60-0706-43C4-868A-8BE2C7B0223C}"/>
              </a:ext>
            </a:extLst>
          </p:cNvPr>
          <p:cNvSpPr txBox="1"/>
          <p:nvPr/>
        </p:nvSpPr>
        <p:spPr>
          <a:xfrm>
            <a:off x="952500" y="5207000"/>
            <a:ext cx="20955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 b="1">
                <a:solidFill>
                  <a:srgbClr val="160D3D"/>
                </a:solidFill>
                <a:latin typeface="Montserrat"/>
              </a:rPr>
              <a:t>{{ ref('...') }}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0B496BC8-E42D-46D0-BA74-9ABA3DB9F3A3}"/>
              </a:ext>
            </a:extLst>
          </p:cNvPr>
          <p:cNvSpPr txBox="1"/>
          <p:nvPr/>
        </p:nvSpPr>
        <p:spPr>
          <a:xfrm>
            <a:off x="3048000" y="5207000"/>
            <a:ext cx="3175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160D3D"/>
                </a:solidFill>
                <a:latin typeface="Montserrat"/>
              </a:rPr>
              <a:t>Toujours référencer un autre modèle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6BA08902-D71C-4725-B1D5-CC82CF5B34C1}"/>
              </a:ext>
            </a:extLst>
          </p:cNvPr>
          <p:cNvSpPr txBox="1"/>
          <p:nvPr/>
        </p:nvSpPr>
        <p:spPr>
          <a:xfrm>
            <a:off x="762000" y="5537200"/>
            <a:ext cx="1524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 b="1">
                <a:solidFill>
                  <a:srgbClr val="E8792F"/>
                </a:solidFill>
                <a:latin typeface="Montserrat"/>
              </a:rPr>
              <a:t>•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E7AD7E79-9B1F-4E80-8252-6181590B4345}"/>
              </a:ext>
            </a:extLst>
          </p:cNvPr>
          <p:cNvSpPr txBox="1"/>
          <p:nvPr/>
        </p:nvSpPr>
        <p:spPr>
          <a:xfrm>
            <a:off x="952500" y="5537200"/>
            <a:ext cx="20955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 b="1">
                <a:solidFill>
                  <a:srgbClr val="160D3D"/>
                </a:solidFill>
                <a:latin typeface="Montserrat"/>
              </a:rPr>
              <a:t>Ephemeral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3B3C4A12-B215-4D43-B64D-A11D95BD370B}"/>
              </a:ext>
            </a:extLst>
          </p:cNvPr>
          <p:cNvSpPr txBox="1"/>
          <p:nvPr/>
        </p:nvSpPr>
        <p:spPr>
          <a:xfrm>
            <a:off x="3048000" y="5537200"/>
            <a:ext cx="3175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160D3D"/>
                </a:solidFill>
                <a:latin typeface="Montserrat"/>
              </a:rPr>
              <a:t>Matérialisation par défaut (pas d'objet en base)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2DD5A933-6B5C-42E8-952C-3801A013DA58}"/>
              </a:ext>
            </a:extLst>
          </p:cNvPr>
          <p:cNvSpPr txBox="1"/>
          <p:nvPr/>
        </p:nvSpPr>
        <p:spPr>
          <a:xfrm>
            <a:off x="9260000" y="1447800"/>
            <a:ext cx="2387600" cy="2286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fr-FR" sz="800" b="1">
                <a:solidFill>
                  <a:srgbClr val="6B7BA8"/>
                </a:solidFill>
                <a:latin typeface="Montserrat"/>
              </a:rPr>
              <a:t>INT_ORDER_ITEMS.SQL</a:t>
            </a:r>
          </a:p>
        </p:txBody>
      </p:sp>
    </p:spTree>
    <p:extLst>
      <p:ext uri="{BB962C8B-B14F-4D97-AF65-F5344CB8AC3E}">
        <p14:creationId xmlns:p14="http://schemas.microsoft.com/office/powerpoint/2010/main" val="26503515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5"/>
          </p:nvPr>
        </p:nvSpPr>
        <p:spPr>
          <a:xfrm>
            <a:off x="508000" y="0"/>
            <a:ext cx="11176000" cy="760021"/>
          </a:xfrm>
        </p:spPr>
        <p:txBody>
          <a:bodyPr/>
          <a:lstStyle/>
          <a:p>
            <a:pPr algn="ctr"/>
            <a:r>
              <a:rPr sz="2200" b="1">
                <a:solidFill>
                  <a:srgbClr val="160D3D"/>
                </a:solidFill>
                <a:latin typeface="Montserrat"/>
              </a:rPr>
              <a:t>Modeles marts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00000" y="1231900"/>
            <a:ext cx="5200000" cy="4889500"/>
          </a:xfrm>
          <a:prstGeom prst="rect">
            <a:avLst/>
          </a:prstGeom>
          <a:solidFill>
            <a:srgbClr val="0A1730"/>
          </a:solidFill>
          <a:ln w="12700" cap="flat" cmpd="sng" algn="ctr">
            <a:noFill/>
            <a:prstDash val="solid"/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 anchorCtr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 lang="fr-FR" sz="900" i="1" dirty="0">
              <a:solidFill>
                <a:srgbClr val="6B7BA8"/>
              </a:solidFill>
              <a:latin typeface="Courier New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lang="fr-FR" sz="900" i="1" dirty="0">
              <a:solidFill>
                <a:srgbClr val="6B7BA8"/>
              </a:solidFill>
              <a:latin typeface="Courier New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lang="fr-FR" sz="900" i="1" dirty="0">
              <a:solidFill>
                <a:srgbClr val="6B7BA8"/>
              </a:solidFill>
              <a:latin typeface="Courier New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i="1" dirty="0">
                <a:solidFill>
                  <a:srgbClr val="6B7BA8"/>
                </a:solidFill>
                <a:latin typeface="Courier New"/>
              </a:rPr>
              <a:t>-- fct_orders.sql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b="1" dirty="0">
                <a:solidFill>
                  <a:srgbClr val="9D88FF"/>
                </a:solidFill>
                <a:latin typeface="Courier New"/>
              </a:rPr>
              <a:t>with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order_summary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as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(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select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*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from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{{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ref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(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</a:t>
            </a:r>
            <a:r>
              <a:rPr lang="fr-FR" sz="900" dirty="0">
                <a:solidFill>
                  <a:srgbClr val="FFA76B"/>
                </a:solidFill>
                <a:latin typeface="Courier New"/>
              </a:rPr>
              <a:t>'int_order_items_summary'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) }}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),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customers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as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(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select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*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from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{{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ref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(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</a:t>
            </a:r>
            <a:r>
              <a:rPr lang="fr-FR" sz="900" dirty="0">
                <a:solidFill>
                  <a:srgbClr val="FFA76B"/>
                </a:solidFill>
                <a:latin typeface="Courier New"/>
              </a:rPr>
              <a:t>'stg_tpch__customers'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) }}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),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final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as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(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select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  os.order_key,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  c.customer_name,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  c.market_segment,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  os.order_date,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  os.net_amount,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  os.line_item_count,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  </a:t>
            </a:r>
            <a:r>
              <a:rPr lang="fr-FR" sz="900" b="1" dirty="0">
                <a:solidFill>
                  <a:srgbClr val="7DB3FF"/>
                </a:solidFill>
                <a:latin typeface="Courier New"/>
              </a:rPr>
              <a:t>datediff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(</a:t>
            </a:r>
            <a:r>
              <a:rPr lang="fr-FR" sz="900" dirty="0">
                <a:solidFill>
                  <a:srgbClr val="FFA76B"/>
                </a:solidFill>
                <a:latin typeface="Courier New"/>
              </a:rPr>
              <a:t>'day'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    os.order_date,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    os.last_ship_date)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   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as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days_to_fulfill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from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order_summary os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join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customers c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on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os.customer_key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 = c.customer_key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b="1" dirty="0">
                <a:solidFill>
                  <a:srgbClr val="9D88FF"/>
                </a:solidFill>
                <a:latin typeface="Courier New"/>
              </a:rPr>
              <a:t>select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*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from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final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1CB5B99-1EEB-412A-89FD-5327803696FC}"/>
              </a:ext>
            </a:extLst>
          </p:cNvPr>
          <p:cNvSpPr txBox="1"/>
          <p:nvPr/>
        </p:nvSpPr>
        <p:spPr>
          <a:xfrm>
            <a:off x="508000" y="1079500"/>
            <a:ext cx="584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500" b="1">
                <a:solidFill>
                  <a:srgbClr val="160D3D"/>
                </a:solidFill>
                <a:latin typeface="Montserrat"/>
              </a:rPr>
              <a:t>Modèles marts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1FACBFB0-0B06-48CE-A5AA-3D7D7D5E6D0E}"/>
              </a:ext>
            </a:extLst>
          </p:cNvPr>
          <p:cNvSpPr/>
          <p:nvPr/>
        </p:nvSpPr>
        <p:spPr>
          <a:xfrm>
            <a:off x="508000" y="1524000"/>
            <a:ext cx="5842000" cy="1397000"/>
          </a:xfrm>
          <a:prstGeom prst="roundRect">
            <a:avLst/>
          </a:prstGeom>
          <a:solidFill>
            <a:srgbClr val="160D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3391BE28-9657-4C0F-92F7-49782013BEA3}"/>
              </a:ext>
            </a:extLst>
          </p:cNvPr>
          <p:cNvSpPr txBox="1"/>
          <p:nvPr/>
        </p:nvSpPr>
        <p:spPr>
          <a:xfrm>
            <a:off x="711200" y="1701800"/>
            <a:ext cx="76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 b="1">
                <a:solidFill>
                  <a:srgbClr val="FFFFFF"/>
                </a:solidFill>
                <a:latin typeface="Montserrat"/>
              </a:rPr>
              <a:t>FAIT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D338973F-FD45-4940-A7A4-A09B3E87A484}"/>
              </a:ext>
            </a:extLst>
          </p:cNvPr>
          <p:cNvSpPr txBox="1"/>
          <p:nvPr/>
        </p:nvSpPr>
        <p:spPr>
          <a:xfrm>
            <a:off x="711200" y="1955800"/>
            <a:ext cx="5461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300" b="1">
                <a:solidFill>
                  <a:srgbClr val="FFFFFF"/>
                </a:solidFill>
                <a:latin typeface="Montserrat"/>
              </a:rPr>
              <a:t>fct_orders.sql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4FAC6264-2487-438B-B473-E4D7391D8E05}"/>
              </a:ext>
            </a:extLst>
          </p:cNvPr>
          <p:cNvSpPr txBox="1"/>
          <p:nvPr/>
        </p:nvSpPr>
        <p:spPr>
          <a:xfrm>
            <a:off x="711200" y="2311400"/>
            <a:ext cx="5461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FFFFFF"/>
                </a:solidFill>
                <a:latin typeface="Montserrat"/>
              </a:rPr>
              <a:t>Table de faits enrichie : nom client, segment, days_to_fulfill,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78F7C006-E521-4FB6-8854-F487C4813AB6}"/>
              </a:ext>
            </a:extLst>
          </p:cNvPr>
          <p:cNvSpPr txBox="1"/>
          <p:nvPr/>
        </p:nvSpPr>
        <p:spPr>
          <a:xfrm>
            <a:off x="711200" y="2565400"/>
            <a:ext cx="5461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>
                <a:solidFill>
                  <a:srgbClr val="FFFFFF"/>
                </a:solidFill>
                <a:latin typeface="Montserrat"/>
              </a:rPr>
              <a:t>montants nets, lifetime value (CLV)</a:t>
            </a:r>
            <a:endParaRPr lang="fr-FR" sz="1100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3AB6720A-AA6F-4875-9DE6-AFEB08866033}"/>
              </a:ext>
            </a:extLst>
          </p:cNvPr>
          <p:cNvSpPr/>
          <p:nvPr/>
        </p:nvSpPr>
        <p:spPr>
          <a:xfrm>
            <a:off x="508000" y="3111500"/>
            <a:ext cx="1841500" cy="1016000"/>
          </a:xfrm>
          <a:prstGeom prst="roundRect">
            <a:avLst/>
          </a:prstGeom>
          <a:solidFill>
            <a:srgbClr val="F7F4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0E0CF653-3EE6-4FCB-8B99-08EF3BF77A26}"/>
              </a:ext>
            </a:extLst>
          </p:cNvPr>
          <p:cNvSpPr txBox="1"/>
          <p:nvPr/>
        </p:nvSpPr>
        <p:spPr>
          <a:xfrm>
            <a:off x="635000" y="3251200"/>
            <a:ext cx="15875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900" b="1">
                <a:solidFill>
                  <a:srgbClr val="E8792F"/>
                </a:solidFill>
                <a:latin typeface="Montserrat"/>
              </a:rPr>
              <a:t>DIMENSION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03E2EBCC-EF09-4DE3-8793-6A722AF40AE6}"/>
              </a:ext>
            </a:extLst>
          </p:cNvPr>
          <p:cNvSpPr txBox="1"/>
          <p:nvPr/>
        </p:nvSpPr>
        <p:spPr>
          <a:xfrm>
            <a:off x="635000" y="3467100"/>
            <a:ext cx="1587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b="1">
                <a:solidFill>
                  <a:srgbClr val="160D3D"/>
                </a:solidFill>
                <a:latin typeface="Montserrat"/>
              </a:rPr>
              <a:t>dim_customers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1177ADAE-F873-4688-9C14-CCB1932CCE8F}"/>
              </a:ext>
            </a:extLst>
          </p:cNvPr>
          <p:cNvSpPr txBox="1"/>
          <p:nvPr/>
        </p:nvSpPr>
        <p:spPr>
          <a:xfrm>
            <a:off x="635000" y="3771900"/>
            <a:ext cx="1587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>
                <a:solidFill>
                  <a:srgbClr val="160D3D"/>
                </a:solidFill>
                <a:latin typeface="Montserrat"/>
              </a:rPr>
              <a:t>Référentiel clients enrichi</a:t>
            </a: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6742685B-048F-4353-BB85-294FD55B9D6A}"/>
              </a:ext>
            </a:extLst>
          </p:cNvPr>
          <p:cNvSpPr/>
          <p:nvPr/>
        </p:nvSpPr>
        <p:spPr>
          <a:xfrm>
            <a:off x="2476500" y="3111500"/>
            <a:ext cx="1841500" cy="1016000"/>
          </a:xfrm>
          <a:prstGeom prst="roundRect">
            <a:avLst/>
          </a:prstGeom>
          <a:solidFill>
            <a:srgbClr val="F7F4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3871E101-A170-47FF-AA4C-C357A67A451B}"/>
              </a:ext>
            </a:extLst>
          </p:cNvPr>
          <p:cNvSpPr txBox="1"/>
          <p:nvPr/>
        </p:nvSpPr>
        <p:spPr>
          <a:xfrm>
            <a:off x="2603500" y="3251200"/>
            <a:ext cx="15875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900" b="1">
                <a:solidFill>
                  <a:srgbClr val="E8792F"/>
                </a:solidFill>
                <a:latin typeface="Montserrat"/>
              </a:rPr>
              <a:t>DIMENSION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DC3AF379-0EB6-4EC8-AA23-F8EEF19A7EF4}"/>
              </a:ext>
            </a:extLst>
          </p:cNvPr>
          <p:cNvSpPr txBox="1"/>
          <p:nvPr/>
        </p:nvSpPr>
        <p:spPr>
          <a:xfrm>
            <a:off x="2603500" y="3467100"/>
            <a:ext cx="1587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b="1">
                <a:solidFill>
                  <a:srgbClr val="160D3D"/>
                </a:solidFill>
                <a:latin typeface="Montserrat"/>
              </a:rPr>
              <a:t>dim_parts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B5DC94DB-1B35-4681-876D-53C04C509017}"/>
              </a:ext>
            </a:extLst>
          </p:cNvPr>
          <p:cNvSpPr txBox="1"/>
          <p:nvPr/>
        </p:nvSpPr>
        <p:spPr>
          <a:xfrm>
            <a:off x="2603500" y="3771900"/>
            <a:ext cx="1587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>
                <a:solidFill>
                  <a:srgbClr val="160D3D"/>
                </a:solidFill>
                <a:latin typeface="Montserrat"/>
              </a:rPr>
              <a:t>Catalogue de pièces</a:t>
            </a:r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24398719-153C-43E8-B875-C5E263F8B257}"/>
              </a:ext>
            </a:extLst>
          </p:cNvPr>
          <p:cNvSpPr/>
          <p:nvPr/>
        </p:nvSpPr>
        <p:spPr>
          <a:xfrm>
            <a:off x="4445000" y="3111500"/>
            <a:ext cx="1841500" cy="1016000"/>
          </a:xfrm>
          <a:prstGeom prst="roundRect">
            <a:avLst/>
          </a:prstGeom>
          <a:solidFill>
            <a:srgbClr val="F7F4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4DDFCF34-0A10-48D5-A925-911EA01D4D26}"/>
              </a:ext>
            </a:extLst>
          </p:cNvPr>
          <p:cNvSpPr txBox="1"/>
          <p:nvPr/>
        </p:nvSpPr>
        <p:spPr>
          <a:xfrm>
            <a:off x="4572000" y="3251200"/>
            <a:ext cx="1587500" cy="177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900" b="1">
                <a:solidFill>
                  <a:srgbClr val="E8792F"/>
                </a:solidFill>
                <a:latin typeface="Montserrat"/>
              </a:rPr>
              <a:t>DIMENSION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04446BE6-18B8-4D0B-8954-55E0F628A2D9}"/>
              </a:ext>
            </a:extLst>
          </p:cNvPr>
          <p:cNvSpPr txBox="1"/>
          <p:nvPr/>
        </p:nvSpPr>
        <p:spPr>
          <a:xfrm>
            <a:off x="4572000" y="3467100"/>
            <a:ext cx="1587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b="1">
                <a:solidFill>
                  <a:srgbClr val="160D3D"/>
                </a:solidFill>
                <a:latin typeface="Montserrat"/>
              </a:rPr>
              <a:t>dim_suppliers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8BB4377F-D270-4A93-B257-FC07461AFD55}"/>
              </a:ext>
            </a:extLst>
          </p:cNvPr>
          <p:cNvSpPr txBox="1"/>
          <p:nvPr/>
        </p:nvSpPr>
        <p:spPr>
          <a:xfrm>
            <a:off x="4572000" y="3771900"/>
            <a:ext cx="15875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>
                <a:solidFill>
                  <a:srgbClr val="160D3D"/>
                </a:solidFill>
                <a:latin typeface="Montserrat"/>
              </a:rPr>
              <a:t>Référentiel fournisseurs</a:t>
            </a:r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36F907A9-EE3C-4F04-9C03-BB3B64D508CD}"/>
              </a:ext>
            </a:extLst>
          </p:cNvPr>
          <p:cNvSpPr/>
          <p:nvPr/>
        </p:nvSpPr>
        <p:spPr>
          <a:xfrm>
            <a:off x="508000" y="4318000"/>
            <a:ext cx="5842000" cy="1651000"/>
          </a:xfrm>
          <a:prstGeom prst="roundRect">
            <a:avLst/>
          </a:prstGeom>
          <a:solidFill>
            <a:srgbClr val="FFF0E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DC595235-2EC3-4059-82A0-1FD5D9DEA6E5}"/>
              </a:ext>
            </a:extLst>
          </p:cNvPr>
          <p:cNvSpPr txBox="1"/>
          <p:nvPr/>
        </p:nvSpPr>
        <p:spPr>
          <a:xfrm>
            <a:off x="711200" y="4445000"/>
            <a:ext cx="5461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b="1">
                <a:solidFill>
                  <a:srgbClr val="E8792F"/>
                </a:solidFill>
                <a:latin typeface="Montserrat"/>
              </a:rPr>
              <a:t>Conventions marts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44627F61-F148-421F-BEBF-B5CB29C13BC3}"/>
              </a:ext>
            </a:extLst>
          </p:cNvPr>
          <p:cNvSpPr txBox="1"/>
          <p:nvPr/>
        </p:nvSpPr>
        <p:spPr>
          <a:xfrm>
            <a:off x="762000" y="4775200"/>
            <a:ext cx="1778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 b="1">
                <a:solidFill>
                  <a:srgbClr val="E8792F"/>
                </a:solidFill>
                <a:latin typeface="Montserrat"/>
              </a:rPr>
              <a:t>✓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78F61543-FCFE-4C77-83DA-4A4590D9EF10}"/>
              </a:ext>
            </a:extLst>
          </p:cNvPr>
          <p:cNvSpPr txBox="1"/>
          <p:nvPr/>
        </p:nvSpPr>
        <p:spPr>
          <a:xfrm>
            <a:off x="990600" y="4775200"/>
            <a:ext cx="5207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160D3D"/>
                </a:solidFill>
                <a:latin typeface="Montserrat"/>
              </a:rPr>
              <a:t>fct_&lt;entité&gt; pour les tables de faits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9513E2D9-BA2C-4F1B-8B62-57C6C18B701E}"/>
              </a:ext>
            </a:extLst>
          </p:cNvPr>
          <p:cNvSpPr txBox="1"/>
          <p:nvPr/>
        </p:nvSpPr>
        <p:spPr>
          <a:xfrm>
            <a:off x="762000" y="5054600"/>
            <a:ext cx="1778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 b="1">
                <a:solidFill>
                  <a:srgbClr val="E8792F"/>
                </a:solidFill>
                <a:latin typeface="Montserrat"/>
              </a:rPr>
              <a:t>✓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2ED957EC-B205-4E57-BFFB-2992414C4FB5}"/>
              </a:ext>
            </a:extLst>
          </p:cNvPr>
          <p:cNvSpPr txBox="1"/>
          <p:nvPr/>
        </p:nvSpPr>
        <p:spPr>
          <a:xfrm>
            <a:off x="990600" y="5054600"/>
            <a:ext cx="5207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160D3D"/>
                </a:solidFill>
                <a:latin typeface="Montserrat"/>
              </a:rPr>
              <a:t>dim_&lt;entité&gt; pour les dimensions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77140704-136C-4B5E-946F-BC903A91F8F6}"/>
              </a:ext>
            </a:extLst>
          </p:cNvPr>
          <p:cNvSpPr txBox="1"/>
          <p:nvPr/>
        </p:nvSpPr>
        <p:spPr>
          <a:xfrm>
            <a:off x="762000" y="5334000"/>
            <a:ext cx="1778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 b="1">
                <a:solidFill>
                  <a:srgbClr val="E8792F"/>
                </a:solidFill>
                <a:latin typeface="Montserrat"/>
              </a:rPr>
              <a:t>✓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6A552E4F-ED41-45B9-BAD2-69FC8BD0183A}"/>
              </a:ext>
            </a:extLst>
          </p:cNvPr>
          <p:cNvSpPr txBox="1"/>
          <p:nvPr/>
        </p:nvSpPr>
        <p:spPr>
          <a:xfrm>
            <a:off x="990600" y="5334000"/>
            <a:ext cx="5207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160D3D"/>
                </a:solidFill>
                <a:latin typeface="Montserrat"/>
              </a:rPr>
              <a:t>Matérialisées en table (performance)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B7D7CA28-D2D0-4A2A-A4BB-75F786AE3249}"/>
              </a:ext>
            </a:extLst>
          </p:cNvPr>
          <p:cNvSpPr txBox="1"/>
          <p:nvPr/>
        </p:nvSpPr>
        <p:spPr>
          <a:xfrm>
            <a:off x="762000" y="5613400"/>
            <a:ext cx="1778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 b="1">
                <a:solidFill>
                  <a:srgbClr val="E8792F"/>
                </a:solidFill>
                <a:latin typeface="Montserrat"/>
              </a:rPr>
              <a:t>✓</a:t>
            </a: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2D7857E8-FCD1-4614-B60E-B48F8DA767F2}"/>
              </a:ext>
            </a:extLst>
          </p:cNvPr>
          <p:cNvSpPr txBox="1"/>
          <p:nvPr/>
        </p:nvSpPr>
        <p:spPr>
          <a:xfrm>
            <a:off x="990600" y="5613400"/>
            <a:ext cx="5207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160D3D"/>
                </a:solidFill>
                <a:latin typeface="Montserrat"/>
              </a:rPr>
              <a:t>Documentées et testées exhaustivement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DB19B091-E520-4BE1-9803-1C1C4D15B492}"/>
              </a:ext>
            </a:extLst>
          </p:cNvPr>
          <p:cNvSpPr txBox="1"/>
          <p:nvPr/>
        </p:nvSpPr>
        <p:spPr>
          <a:xfrm>
            <a:off x="9260000" y="1358900"/>
            <a:ext cx="2387600" cy="2286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fr-FR" sz="800" b="1">
                <a:solidFill>
                  <a:srgbClr val="6B7BA8"/>
                </a:solidFill>
                <a:latin typeface="Montserrat"/>
              </a:rPr>
              <a:t>FCT_ORDERS.SQL</a:t>
            </a:r>
          </a:p>
        </p:txBody>
      </p:sp>
    </p:spTree>
    <p:extLst>
      <p:ext uri="{BB962C8B-B14F-4D97-AF65-F5344CB8AC3E}">
        <p14:creationId xmlns:p14="http://schemas.microsoft.com/office/powerpoint/2010/main" val="10110981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5"/>
          </p:nvPr>
        </p:nvSpPr>
        <p:spPr>
          <a:xfrm>
            <a:off x="508000" y="0"/>
            <a:ext cx="11176000" cy="760021"/>
          </a:xfrm>
        </p:spPr>
        <p:txBody>
          <a:bodyPr/>
          <a:lstStyle/>
          <a:p>
            <a:pPr algn="ctr"/>
            <a:r>
              <a:rPr sz="2200" b="1">
                <a:solidFill>
                  <a:srgbClr val="160D3D"/>
                </a:solidFill>
                <a:latin typeface="Montserrat"/>
              </a:rPr>
              <a:t>Materialisations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BEB1C3AD-D745-43F5-BF72-168207C85D1B}"/>
              </a:ext>
            </a:extLst>
          </p:cNvPr>
          <p:cNvSpPr txBox="1"/>
          <p:nvPr/>
        </p:nvSpPr>
        <p:spPr>
          <a:xfrm>
            <a:off x="508000" y="1016000"/>
            <a:ext cx="1117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500" b="1">
                <a:solidFill>
                  <a:srgbClr val="160D3D"/>
                </a:solidFill>
                <a:latin typeface="Montserrat"/>
              </a:rPr>
              <a:t>4 strategies de materialisation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219AC26F-0FF6-4CBD-8B3C-19C0DB9A9FC9}"/>
              </a:ext>
            </a:extLst>
          </p:cNvPr>
          <p:cNvSpPr/>
          <p:nvPr/>
        </p:nvSpPr>
        <p:spPr>
          <a:xfrm>
            <a:off x="508000" y="1447800"/>
            <a:ext cx="5461000" cy="2133600"/>
          </a:xfrm>
          <a:prstGeom prst="roundRect">
            <a:avLst/>
          </a:prstGeom>
          <a:solidFill>
            <a:srgbClr val="E8E3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CAA478B-48B5-4E3D-88EE-3EAE88D297E8}"/>
              </a:ext>
            </a:extLst>
          </p:cNvPr>
          <p:cNvSpPr/>
          <p:nvPr/>
        </p:nvSpPr>
        <p:spPr>
          <a:xfrm>
            <a:off x="736600" y="1676400"/>
            <a:ext cx="1778000" cy="431800"/>
          </a:xfrm>
          <a:prstGeom prst="rect">
            <a:avLst/>
          </a:prstGeom>
          <a:solidFill>
            <a:srgbClr val="160D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400" b="1" dirty="0" err="1">
                <a:solidFill>
                  <a:srgbClr val="FFFFFF"/>
                </a:solidFill>
                <a:latin typeface="Consolas"/>
              </a:rPr>
              <a:t>view</a:t>
            </a:r>
            <a:endParaRPr lang="fr-FR" sz="1400" b="1" dirty="0">
              <a:solidFill>
                <a:srgbClr val="FFFFFF"/>
              </a:solidFill>
              <a:latin typeface="Consolas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4441E3F0-102A-42E8-9D3E-420F88A336B0}"/>
              </a:ext>
            </a:extLst>
          </p:cNvPr>
          <p:cNvSpPr txBox="1"/>
          <p:nvPr/>
        </p:nvSpPr>
        <p:spPr>
          <a:xfrm>
            <a:off x="2667000" y="1727200"/>
            <a:ext cx="3048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300" b="1" dirty="0" err="1">
                <a:solidFill>
                  <a:srgbClr val="160D3D"/>
                </a:solidFill>
                <a:latin typeface="Montserrat"/>
              </a:rPr>
              <a:t>Staging</a:t>
            </a:r>
            <a:endParaRPr lang="fr-FR" sz="1300" b="1" dirty="0">
              <a:solidFill>
                <a:srgbClr val="160D3D"/>
              </a:solidFill>
              <a:latin typeface="Montserrat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712032A3-9F3C-45BC-9A2B-AB1A90F7BD01}"/>
              </a:ext>
            </a:extLst>
          </p:cNvPr>
          <p:cNvSpPr txBox="1"/>
          <p:nvPr/>
        </p:nvSpPr>
        <p:spPr>
          <a:xfrm>
            <a:off x="736600" y="2260600"/>
            <a:ext cx="50038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b="1">
                <a:solidFill>
                  <a:srgbClr val="160D3D"/>
                </a:solidFill>
                <a:latin typeface="Montserrat"/>
              </a:rPr>
              <a:t>Vue SQL recalculee a chaque requete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0CBD3B3D-B366-40B9-BC97-2F53347E7A73}"/>
              </a:ext>
            </a:extLst>
          </p:cNvPr>
          <p:cNvSpPr txBox="1"/>
          <p:nvPr/>
        </p:nvSpPr>
        <p:spPr>
          <a:xfrm>
            <a:off x="736600" y="2641600"/>
            <a:ext cx="50038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160D3D"/>
                </a:solidFill>
                <a:latin typeface="Montserrat"/>
              </a:rPr>
              <a:t>Pas de stockage, toujours a jour, mais lecture lente sur gros volumes</a:t>
            </a: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ED843831-89CC-48B9-8A1F-CBA1D03D899F}"/>
              </a:ext>
            </a:extLst>
          </p:cNvPr>
          <p:cNvSpPr/>
          <p:nvPr/>
        </p:nvSpPr>
        <p:spPr>
          <a:xfrm>
            <a:off x="6223000" y="1447800"/>
            <a:ext cx="5461000" cy="2133600"/>
          </a:xfrm>
          <a:prstGeom prst="roundRect">
            <a:avLst/>
          </a:prstGeom>
          <a:solidFill>
            <a:srgbClr val="FFE2C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9AE668C-B815-4370-B71D-6FBB96166D5F}"/>
              </a:ext>
            </a:extLst>
          </p:cNvPr>
          <p:cNvSpPr/>
          <p:nvPr/>
        </p:nvSpPr>
        <p:spPr>
          <a:xfrm>
            <a:off x="6451600" y="1676400"/>
            <a:ext cx="1778000" cy="431800"/>
          </a:xfrm>
          <a:prstGeom prst="rect">
            <a:avLst/>
          </a:prstGeom>
          <a:solidFill>
            <a:srgbClr val="E879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400" b="1">
                <a:solidFill>
                  <a:srgbClr val="FFFFFF"/>
                </a:solidFill>
                <a:latin typeface="Consolas"/>
              </a:rPr>
              <a:t>table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486CC1BE-BF2C-4921-BB98-9AA908D0D290}"/>
              </a:ext>
            </a:extLst>
          </p:cNvPr>
          <p:cNvSpPr txBox="1"/>
          <p:nvPr/>
        </p:nvSpPr>
        <p:spPr>
          <a:xfrm>
            <a:off x="8382000" y="1727200"/>
            <a:ext cx="3048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300" b="1" dirty="0">
                <a:solidFill>
                  <a:srgbClr val="E8792F"/>
                </a:solidFill>
                <a:latin typeface="Montserrat"/>
              </a:rPr>
              <a:t>Marts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48D88EC1-7461-45CE-932C-45768415179C}"/>
              </a:ext>
            </a:extLst>
          </p:cNvPr>
          <p:cNvSpPr txBox="1"/>
          <p:nvPr/>
        </p:nvSpPr>
        <p:spPr>
          <a:xfrm>
            <a:off x="6451600" y="2260600"/>
            <a:ext cx="50038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b="1">
                <a:solidFill>
                  <a:srgbClr val="160D3D"/>
                </a:solidFill>
                <a:latin typeface="Montserrat"/>
              </a:rPr>
              <a:t>Table physique recreee a chaque dbt run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FDE1BDB0-DB3E-4389-9603-A1348B38E18D}"/>
              </a:ext>
            </a:extLst>
          </p:cNvPr>
          <p:cNvSpPr txBox="1"/>
          <p:nvPr/>
        </p:nvSpPr>
        <p:spPr>
          <a:xfrm>
            <a:off x="6451600" y="2641600"/>
            <a:ext cx="50038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160D3D"/>
                </a:solidFill>
                <a:latin typeface="Montserrat"/>
              </a:rPr>
              <a:t>Lecture rapide, ideale pour la BI, mais cout build a chaque run</a:t>
            </a: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04A84541-6D4C-4A88-B69C-8B3F8FDA0324}"/>
              </a:ext>
            </a:extLst>
          </p:cNvPr>
          <p:cNvSpPr/>
          <p:nvPr/>
        </p:nvSpPr>
        <p:spPr>
          <a:xfrm>
            <a:off x="508000" y="3835400"/>
            <a:ext cx="5461000" cy="2133600"/>
          </a:xfrm>
          <a:prstGeom prst="roundRect">
            <a:avLst/>
          </a:prstGeom>
          <a:solidFill>
            <a:srgbClr val="D8DE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2861E1C-5BEB-43A4-8445-0B436F64FF64}"/>
              </a:ext>
            </a:extLst>
          </p:cNvPr>
          <p:cNvSpPr/>
          <p:nvPr/>
        </p:nvSpPr>
        <p:spPr>
          <a:xfrm>
            <a:off x="736600" y="4064000"/>
            <a:ext cx="1778000" cy="431800"/>
          </a:xfrm>
          <a:prstGeom prst="rect">
            <a:avLst/>
          </a:prstGeom>
          <a:solidFill>
            <a:srgbClr val="5B6B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400" b="1" dirty="0" err="1">
                <a:solidFill>
                  <a:srgbClr val="FFFFFF"/>
                </a:solidFill>
                <a:latin typeface="Consolas"/>
              </a:rPr>
              <a:t>ephemeral</a:t>
            </a:r>
            <a:endParaRPr lang="fr-FR" sz="1400" b="1" dirty="0">
              <a:solidFill>
                <a:srgbClr val="FFFFFF"/>
              </a:solidFill>
              <a:latin typeface="Consolas"/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8F448C77-4FD5-4977-80DD-7685BA831A3E}"/>
              </a:ext>
            </a:extLst>
          </p:cNvPr>
          <p:cNvSpPr txBox="1"/>
          <p:nvPr/>
        </p:nvSpPr>
        <p:spPr>
          <a:xfrm>
            <a:off x="2667000" y="4114800"/>
            <a:ext cx="3048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300" b="1">
                <a:solidFill>
                  <a:srgbClr val="5B6BC8"/>
                </a:solidFill>
                <a:latin typeface="Montserrat"/>
              </a:rPr>
              <a:t>Intermediate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F463218C-2D65-480C-A35A-155920D4ED63}"/>
              </a:ext>
            </a:extLst>
          </p:cNvPr>
          <p:cNvSpPr txBox="1"/>
          <p:nvPr/>
        </p:nvSpPr>
        <p:spPr>
          <a:xfrm>
            <a:off x="736600" y="4648200"/>
            <a:ext cx="50038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it-IT" sz="1200" b="1" dirty="0">
                <a:solidFill>
                  <a:srgbClr val="160D3D"/>
                </a:solidFill>
                <a:latin typeface="Montserrat"/>
              </a:rPr>
              <a:t>SQL inline integre via CTE</a:t>
            </a:r>
            <a:endParaRPr lang="fr-FR" sz="1200" b="1" dirty="0">
              <a:solidFill>
                <a:srgbClr val="160D3D"/>
              </a:solidFill>
              <a:latin typeface="Montserrat"/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A46AE60A-DC9A-4781-BCEC-BF383670199F}"/>
              </a:ext>
            </a:extLst>
          </p:cNvPr>
          <p:cNvSpPr txBox="1"/>
          <p:nvPr/>
        </p:nvSpPr>
        <p:spPr>
          <a:xfrm>
            <a:off x="736600" y="5029200"/>
            <a:ext cx="50038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 dirty="0">
                <a:solidFill>
                  <a:srgbClr val="160D3D"/>
                </a:solidFill>
                <a:latin typeface="Montserrat"/>
              </a:rPr>
              <a:t>Aucune table/vue </a:t>
            </a:r>
            <a:r>
              <a:rPr lang="fr-FR" sz="1100" dirty="0" err="1">
                <a:solidFill>
                  <a:srgbClr val="160D3D"/>
                </a:solidFill>
                <a:latin typeface="Montserrat"/>
              </a:rPr>
              <a:t>creee</a:t>
            </a:r>
            <a:r>
              <a:rPr lang="fr-FR" sz="1100" dirty="0">
                <a:solidFill>
                  <a:srgbClr val="160D3D"/>
                </a:solidFill>
                <a:latin typeface="Montserrat"/>
              </a:rPr>
              <a:t>, juste un bout de SQL </a:t>
            </a:r>
            <a:r>
              <a:rPr lang="fr-FR" sz="1100" dirty="0" err="1">
                <a:solidFill>
                  <a:srgbClr val="160D3D"/>
                </a:solidFill>
                <a:latin typeface="Montserrat"/>
              </a:rPr>
              <a:t>inline</a:t>
            </a:r>
            <a:r>
              <a:rPr lang="fr-FR" sz="1100" dirty="0">
                <a:solidFill>
                  <a:srgbClr val="160D3D"/>
                </a:solidFill>
                <a:latin typeface="Montserrat"/>
              </a:rPr>
              <a:t> dans les </a:t>
            </a:r>
            <a:r>
              <a:rPr lang="fr-FR" sz="1100" dirty="0" err="1">
                <a:solidFill>
                  <a:srgbClr val="160D3D"/>
                </a:solidFill>
                <a:latin typeface="Montserrat"/>
              </a:rPr>
              <a:t>modeles</a:t>
            </a:r>
            <a:r>
              <a:rPr lang="fr-FR" sz="1100" dirty="0">
                <a:solidFill>
                  <a:srgbClr val="160D3D"/>
                </a:solidFill>
                <a:latin typeface="Montserrat"/>
              </a:rPr>
              <a:t> aval</a:t>
            </a:r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B7F49E75-45BF-4D85-B380-61DA4E8EB6D0}"/>
              </a:ext>
            </a:extLst>
          </p:cNvPr>
          <p:cNvSpPr/>
          <p:nvPr/>
        </p:nvSpPr>
        <p:spPr>
          <a:xfrm>
            <a:off x="6223000" y="3835400"/>
            <a:ext cx="5461000" cy="2133600"/>
          </a:xfrm>
          <a:prstGeom prst="roundRect">
            <a:avLst/>
          </a:prstGeom>
          <a:solidFill>
            <a:srgbClr val="D6F5E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819B3E8-657B-4C3F-8A4D-852654C74EE8}"/>
              </a:ext>
            </a:extLst>
          </p:cNvPr>
          <p:cNvSpPr/>
          <p:nvPr/>
        </p:nvSpPr>
        <p:spPr>
          <a:xfrm>
            <a:off x="6451600" y="4064000"/>
            <a:ext cx="1778000" cy="431800"/>
          </a:xfrm>
          <a:prstGeom prst="rect">
            <a:avLst/>
          </a:prstGeom>
          <a:solidFill>
            <a:srgbClr val="2E9B5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400" b="1">
                <a:solidFill>
                  <a:srgbClr val="FFFFFF"/>
                </a:solidFill>
                <a:latin typeface="Consolas"/>
              </a:rPr>
              <a:t>incremental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E9A5FE45-7F70-48D6-9CA1-ADD14A46AA66}"/>
              </a:ext>
            </a:extLst>
          </p:cNvPr>
          <p:cNvSpPr txBox="1"/>
          <p:nvPr/>
        </p:nvSpPr>
        <p:spPr>
          <a:xfrm>
            <a:off x="8382000" y="4114800"/>
            <a:ext cx="3048000" cy="330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300" b="1">
                <a:solidFill>
                  <a:srgbClr val="2E9B5C"/>
                </a:solidFill>
                <a:latin typeface="Montserrat"/>
              </a:rPr>
              <a:t>Gros volumes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3705779C-5BF5-4382-A9A0-74BB884C5D0C}"/>
              </a:ext>
            </a:extLst>
          </p:cNvPr>
          <p:cNvSpPr txBox="1"/>
          <p:nvPr/>
        </p:nvSpPr>
        <p:spPr>
          <a:xfrm>
            <a:off x="6451600" y="4648200"/>
            <a:ext cx="50038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b="1">
                <a:solidFill>
                  <a:srgbClr val="160D3D"/>
                </a:solidFill>
                <a:latin typeface="Montserrat"/>
              </a:rPr>
              <a:t>Ne traite que les nouvelles lignes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381F78CC-8713-4E98-BC3F-E2E334897E6E}"/>
              </a:ext>
            </a:extLst>
          </p:cNvPr>
          <p:cNvSpPr txBox="1"/>
          <p:nvPr/>
        </p:nvSpPr>
        <p:spPr>
          <a:xfrm>
            <a:off x="6451600" y="5029200"/>
            <a:ext cx="50038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160D3D"/>
                </a:solidFill>
                <a:latin typeface="Montserrat"/>
              </a:rPr>
              <a:t>Build rapide sur tables enormes, plus complexe a configurer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5"/>
          </p:nvPr>
        </p:nvSpPr>
        <p:spPr>
          <a:xfrm>
            <a:off x="508000" y="0"/>
            <a:ext cx="11176000" cy="760021"/>
          </a:xfrm>
        </p:spPr>
        <p:txBody>
          <a:bodyPr/>
          <a:lstStyle/>
          <a:p>
            <a:pPr algn="ctr"/>
            <a:r>
              <a:rPr sz="2200" b="1">
                <a:solidFill>
                  <a:srgbClr val="160D3D"/>
                </a:solidFill>
                <a:latin typeface="Montserrat"/>
              </a:rPr>
              <a:t>Exercice 3C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00000" y="1854200"/>
            <a:ext cx="5200000" cy="3644900"/>
          </a:xfrm>
          <a:prstGeom prst="rect">
            <a:avLst/>
          </a:prstGeom>
          <a:solidFill>
            <a:srgbClr val="0A1730"/>
          </a:solidFill>
          <a:ln w="12700" cap="flat" cmpd="sng" algn="ctr">
            <a:noFill/>
            <a:prstDash val="solid"/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 anchorCtr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 lang="fr-FR" sz="900" b="1" dirty="0">
              <a:solidFill>
                <a:srgbClr val="6B7BA8"/>
              </a:solidFill>
              <a:latin typeface="Courier New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lang="fr-FR" sz="900" b="1" dirty="0">
              <a:solidFill>
                <a:srgbClr val="6B7BA8"/>
              </a:solidFill>
              <a:latin typeface="Courier New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lang="fr-FR" sz="900" b="1" dirty="0">
              <a:solidFill>
                <a:srgbClr val="6B7BA8"/>
              </a:solidFill>
              <a:latin typeface="Courier New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b="1" dirty="0">
                <a:solidFill>
                  <a:srgbClr val="6B7BA8"/>
                </a:solidFill>
                <a:latin typeface="Courier New"/>
              </a:rPr>
              <a:t>$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dbt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build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i="1" dirty="0">
                <a:solidFill>
                  <a:srgbClr val="6B7BA8"/>
                </a:solidFill>
                <a:latin typeface="Courier New"/>
              </a:rPr>
              <a:t>-- Puis dans Snowflake 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b="1" dirty="0">
                <a:solidFill>
                  <a:srgbClr val="9D88FF"/>
                </a:solidFill>
                <a:latin typeface="Courier New"/>
              </a:rPr>
              <a:t>SELECT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customer_name,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 market_segment,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 lifetime_value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b="1" dirty="0">
                <a:solidFill>
                  <a:srgbClr val="9D88FF"/>
                </a:solidFill>
                <a:latin typeface="Courier New"/>
              </a:rPr>
              <a:t>FROM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ANALYTICS.MARTS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.AGG_CUSTOMER_LIFETIME_VALUE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b="1" dirty="0">
                <a:solidFill>
                  <a:srgbClr val="9D88FF"/>
                </a:solidFill>
                <a:latin typeface="Courier New"/>
              </a:rPr>
              <a:t>ORDER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BY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lifetime_value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DESC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b="1" dirty="0">
                <a:solidFill>
                  <a:srgbClr val="9D88FF"/>
                </a:solidFill>
                <a:latin typeface="Courier New"/>
              </a:rPr>
              <a:t>LIMIT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</a:t>
            </a:r>
            <a:r>
              <a:rPr lang="fr-FR" sz="900" dirty="0">
                <a:solidFill>
                  <a:srgbClr val="FFA76B"/>
                </a:solidFill>
                <a:latin typeface="Courier New"/>
              </a:rPr>
              <a:t>10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b="1" dirty="0">
                <a:solidFill>
                  <a:srgbClr val="9D88FF"/>
                </a:solidFill>
                <a:latin typeface="Courier New"/>
              </a:rPr>
              <a:t>SELECT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supplier_name,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 total_revenue,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 return_rate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b="1" dirty="0">
                <a:solidFill>
                  <a:srgbClr val="9D88FF"/>
                </a:solidFill>
                <a:latin typeface="Courier New"/>
              </a:rPr>
              <a:t>FROM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ANALYTICS.MARTS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.AGG_SUPPLIER_PERFORMANCE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b="1" dirty="0">
                <a:solidFill>
                  <a:srgbClr val="9D88FF"/>
                </a:solidFill>
                <a:latin typeface="Courier New"/>
              </a:rPr>
              <a:t>WHERE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orders_fulfilled &gt; </a:t>
            </a:r>
            <a:r>
              <a:rPr lang="fr-FR" sz="900" dirty="0">
                <a:solidFill>
                  <a:srgbClr val="FFA76B"/>
                </a:solidFill>
                <a:latin typeface="Courier New"/>
              </a:rPr>
              <a:t>100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b="1" dirty="0">
                <a:solidFill>
                  <a:srgbClr val="9D88FF"/>
                </a:solidFill>
                <a:latin typeface="Courier New"/>
              </a:rPr>
              <a:t>ORDER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BY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return_rate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DESC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b="1" dirty="0">
                <a:solidFill>
                  <a:srgbClr val="9D88FF"/>
                </a:solidFill>
                <a:latin typeface="Courier New"/>
              </a:rPr>
              <a:t>LIMIT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</a:t>
            </a:r>
            <a:r>
              <a:rPr lang="fr-FR" sz="900" dirty="0">
                <a:solidFill>
                  <a:srgbClr val="FFA76B"/>
                </a:solidFill>
                <a:latin typeface="Courier New"/>
              </a:rPr>
              <a:t>10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;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08AB7F1F-A51B-47BD-AE52-B9002DFA1A21}"/>
              </a:ext>
            </a:extLst>
          </p:cNvPr>
          <p:cNvSpPr/>
          <p:nvPr/>
        </p:nvSpPr>
        <p:spPr>
          <a:xfrm>
            <a:off x="508000" y="1079500"/>
            <a:ext cx="5842000" cy="635000"/>
          </a:xfrm>
          <a:prstGeom prst="roundRect">
            <a:avLst/>
          </a:prstGeom>
          <a:solidFill>
            <a:srgbClr val="E879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9BB529BF-936A-4177-8767-C101A436459F}"/>
              </a:ext>
            </a:extLst>
          </p:cNvPr>
          <p:cNvSpPr txBox="1"/>
          <p:nvPr/>
        </p:nvSpPr>
        <p:spPr>
          <a:xfrm>
            <a:off x="711200" y="1168400"/>
            <a:ext cx="5461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 b="1">
                <a:solidFill>
                  <a:srgbClr val="FFFFFF"/>
                </a:solidFill>
                <a:latin typeface="Montserrat"/>
              </a:rPr>
              <a:t>EXERCICE 3C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E2759C6F-3F4A-4654-B67C-177216927CF9}"/>
              </a:ext>
            </a:extLst>
          </p:cNvPr>
          <p:cNvSpPr txBox="1"/>
          <p:nvPr/>
        </p:nvSpPr>
        <p:spPr>
          <a:xfrm>
            <a:off x="711200" y="1397000"/>
            <a:ext cx="546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 b="1">
                <a:solidFill>
                  <a:srgbClr val="FFFFFF"/>
                </a:solidFill>
                <a:latin typeface="Montserrat"/>
              </a:rPr>
              <a:t>Build complet et exploration</a:t>
            </a: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E268E5FD-FF55-4FBC-807A-2034454A0D1A}"/>
              </a:ext>
            </a:extLst>
          </p:cNvPr>
          <p:cNvSpPr/>
          <p:nvPr/>
        </p:nvSpPr>
        <p:spPr>
          <a:xfrm>
            <a:off x="508000" y="1905000"/>
            <a:ext cx="5842000" cy="3048000"/>
          </a:xfrm>
          <a:prstGeom prst="roundRect">
            <a:avLst/>
          </a:prstGeom>
          <a:solidFill>
            <a:srgbClr val="F7F4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798011C0-AA2F-4935-B3FE-A05F91048B3F}"/>
              </a:ext>
            </a:extLst>
          </p:cNvPr>
          <p:cNvSpPr txBox="1"/>
          <p:nvPr/>
        </p:nvSpPr>
        <p:spPr>
          <a:xfrm>
            <a:off x="711200" y="2032000"/>
            <a:ext cx="5461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b="1">
                <a:solidFill>
                  <a:srgbClr val="E8792F"/>
                </a:solidFill>
                <a:latin typeface="Montserrat"/>
              </a:rPr>
              <a:t>Étapes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BD6E7FF4-F140-4FB3-919E-4E448FCA952F}"/>
              </a:ext>
            </a:extLst>
          </p:cNvPr>
          <p:cNvSpPr/>
          <p:nvPr/>
        </p:nvSpPr>
        <p:spPr>
          <a:xfrm>
            <a:off x="711200" y="2476500"/>
            <a:ext cx="355600" cy="355600"/>
          </a:xfrm>
          <a:prstGeom prst="ellipse">
            <a:avLst/>
          </a:prstGeom>
          <a:solidFill>
            <a:srgbClr val="E879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0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3C6CF73C-0BA0-4C27-B5A8-149FA9EC2524}"/>
              </a:ext>
            </a:extLst>
          </p:cNvPr>
          <p:cNvSpPr txBox="1"/>
          <p:nvPr/>
        </p:nvSpPr>
        <p:spPr>
          <a:xfrm>
            <a:off x="1193800" y="2527300"/>
            <a:ext cx="4953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160D3D"/>
                </a:solidFill>
                <a:latin typeface="Montserrat"/>
              </a:rPr>
              <a:t>Lancer : dbt build</a:t>
            </a: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4C51AF4B-1750-47D7-BCC6-E6CC85D907FD}"/>
              </a:ext>
            </a:extLst>
          </p:cNvPr>
          <p:cNvSpPr/>
          <p:nvPr/>
        </p:nvSpPr>
        <p:spPr>
          <a:xfrm>
            <a:off x="711200" y="3048000"/>
            <a:ext cx="355600" cy="355600"/>
          </a:xfrm>
          <a:prstGeom prst="ellipse">
            <a:avLst/>
          </a:prstGeom>
          <a:solidFill>
            <a:srgbClr val="E879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0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4EA5BEC5-F186-4EEB-94B2-DF4B9B667144}"/>
              </a:ext>
            </a:extLst>
          </p:cNvPr>
          <p:cNvSpPr txBox="1"/>
          <p:nvPr/>
        </p:nvSpPr>
        <p:spPr>
          <a:xfrm>
            <a:off x="1193800" y="3098800"/>
            <a:ext cx="4953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160D3D"/>
                </a:solidFill>
                <a:latin typeface="Montserrat"/>
              </a:rPr>
              <a:t>Vérifier que tous les modèles et tests passent</a:t>
            </a:r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1E0D033E-77A4-479A-B95A-35D3BE66BE97}"/>
              </a:ext>
            </a:extLst>
          </p:cNvPr>
          <p:cNvSpPr/>
          <p:nvPr/>
        </p:nvSpPr>
        <p:spPr>
          <a:xfrm>
            <a:off x="711200" y="3619500"/>
            <a:ext cx="355600" cy="355600"/>
          </a:xfrm>
          <a:prstGeom prst="ellipse">
            <a:avLst/>
          </a:prstGeom>
          <a:solidFill>
            <a:srgbClr val="E879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0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4E2E3EC1-564E-43A3-93DD-35EC70B4E889}"/>
              </a:ext>
            </a:extLst>
          </p:cNvPr>
          <p:cNvSpPr txBox="1"/>
          <p:nvPr/>
        </p:nvSpPr>
        <p:spPr>
          <a:xfrm>
            <a:off x="1193800" y="3670300"/>
            <a:ext cx="4953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160D3D"/>
                </a:solidFill>
                <a:latin typeface="Montserrat"/>
              </a:rPr>
              <a:t>Inspecter le DAG dans dbt docs</a:t>
            </a: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BD1BDA45-D887-427B-88B7-CD0736240D9E}"/>
              </a:ext>
            </a:extLst>
          </p:cNvPr>
          <p:cNvSpPr/>
          <p:nvPr/>
        </p:nvSpPr>
        <p:spPr>
          <a:xfrm>
            <a:off x="711200" y="4191000"/>
            <a:ext cx="355600" cy="355600"/>
          </a:xfrm>
          <a:prstGeom prst="ellipse">
            <a:avLst/>
          </a:prstGeom>
          <a:solidFill>
            <a:srgbClr val="E879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000" b="1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CA595431-62D2-43C0-9467-EC6C66D310D6}"/>
              </a:ext>
            </a:extLst>
          </p:cNvPr>
          <p:cNvSpPr txBox="1"/>
          <p:nvPr/>
        </p:nvSpPr>
        <p:spPr>
          <a:xfrm>
            <a:off x="1193800" y="4241800"/>
            <a:ext cx="4953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160D3D"/>
                </a:solidFill>
                <a:latin typeface="Montserrat"/>
              </a:rPr>
              <a:t>Dans Snowflake : explorer les marts générés</a:t>
            </a:r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38AD38D8-5E5B-4811-A534-D5642024CD14}"/>
              </a:ext>
            </a:extLst>
          </p:cNvPr>
          <p:cNvSpPr/>
          <p:nvPr/>
        </p:nvSpPr>
        <p:spPr>
          <a:xfrm>
            <a:off x="508000" y="5143500"/>
            <a:ext cx="5842000" cy="889000"/>
          </a:xfrm>
          <a:prstGeom prst="roundRect">
            <a:avLst/>
          </a:prstGeom>
          <a:solidFill>
            <a:srgbClr val="FFF0E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EF67D936-0B07-436D-90AC-3932D5679FB2}"/>
              </a:ext>
            </a:extLst>
          </p:cNvPr>
          <p:cNvSpPr txBox="1"/>
          <p:nvPr/>
        </p:nvSpPr>
        <p:spPr>
          <a:xfrm>
            <a:off x="711200" y="5283200"/>
            <a:ext cx="5461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 b="1">
                <a:solidFill>
                  <a:srgbClr val="E8792F"/>
                </a:solidFill>
                <a:latin typeface="Montserrat"/>
              </a:rPr>
              <a:t>🔍  Questions exploratoires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4909887F-B103-4F7D-A546-05AD1864ED46}"/>
              </a:ext>
            </a:extLst>
          </p:cNvPr>
          <p:cNvSpPr txBox="1"/>
          <p:nvPr/>
        </p:nvSpPr>
        <p:spPr>
          <a:xfrm>
            <a:off x="711200" y="5588000"/>
            <a:ext cx="546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>
                <a:solidFill>
                  <a:srgbClr val="160D3D"/>
                </a:solidFill>
                <a:latin typeface="Montserrat"/>
              </a:rPr>
              <a:t>Top 10 clients · Fournisseurs à fort taux de retour · Mix par segment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9A694E76-B5D8-4B27-B07B-7BDF0149568B}"/>
              </a:ext>
            </a:extLst>
          </p:cNvPr>
          <p:cNvSpPr txBox="1"/>
          <p:nvPr/>
        </p:nvSpPr>
        <p:spPr>
          <a:xfrm>
            <a:off x="9260000" y="1981200"/>
            <a:ext cx="2387600" cy="2286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fr-FR" sz="800" b="1">
                <a:solidFill>
                  <a:srgbClr val="6B7BA8"/>
                </a:solidFill>
                <a:latin typeface="Montserrat"/>
              </a:rPr>
              <a:t>TERMINAL + SQL</a:t>
            </a:r>
          </a:p>
        </p:txBody>
      </p:sp>
    </p:spTree>
    <p:extLst>
      <p:ext uri="{BB962C8B-B14F-4D97-AF65-F5344CB8AC3E}">
        <p14:creationId xmlns:p14="http://schemas.microsoft.com/office/powerpoint/2010/main" val="261633078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5"/>
          </p:nvPr>
        </p:nvSpPr>
        <p:spPr>
          <a:xfrm>
            <a:off x="508000" y="0"/>
            <a:ext cx="11176000" cy="760021"/>
          </a:xfrm>
        </p:spPr>
        <p:txBody>
          <a:bodyPr/>
          <a:lstStyle/>
          <a:p>
            <a:pPr algn="ctr"/>
            <a:r>
              <a:rPr sz="2200" b="1">
                <a:solidFill>
                  <a:srgbClr val="160D3D"/>
                </a:solidFill>
                <a:latin typeface="Montserrat"/>
              </a:rPr>
              <a:t>Exercice 3D</a:t>
            </a:r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656AD797-93EE-4694-B5FC-C436D22D8E5F}"/>
              </a:ext>
            </a:extLst>
          </p:cNvPr>
          <p:cNvSpPr/>
          <p:nvPr/>
        </p:nvSpPr>
        <p:spPr>
          <a:xfrm>
            <a:off x="508000" y="1358900"/>
            <a:ext cx="11176000" cy="558800"/>
          </a:xfrm>
          <a:prstGeom prst="roundRect">
            <a:avLst/>
          </a:prstGeom>
          <a:solidFill>
            <a:srgbClr val="E879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6AFFF6A9-4A1F-4875-9BF1-06D159C8AD65}"/>
              </a:ext>
            </a:extLst>
          </p:cNvPr>
          <p:cNvSpPr txBox="1"/>
          <p:nvPr/>
        </p:nvSpPr>
        <p:spPr>
          <a:xfrm>
            <a:off x="711200" y="1435100"/>
            <a:ext cx="10922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 b="1">
                <a:solidFill>
                  <a:srgbClr val="FFFFFF"/>
                </a:solidFill>
                <a:latin typeface="Montserrat"/>
              </a:rPr>
              <a:t>EXERCICE 3D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F98C0B88-23AB-4E53-AD3F-579F656F5779}"/>
              </a:ext>
            </a:extLst>
          </p:cNvPr>
          <p:cNvSpPr txBox="1"/>
          <p:nvPr/>
        </p:nvSpPr>
        <p:spPr>
          <a:xfrm>
            <a:off x="711200" y="1638300"/>
            <a:ext cx="10922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300" b="1">
                <a:solidFill>
                  <a:srgbClr val="FFFFFF"/>
                </a:solidFill>
                <a:latin typeface="Montserrat"/>
              </a:rPr>
              <a:t>Changer la materialisation</a:t>
            </a:r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8B07DB5F-98CB-4BA6-8AC1-90BB4D1CA4A6}"/>
              </a:ext>
            </a:extLst>
          </p:cNvPr>
          <p:cNvSpPr/>
          <p:nvPr/>
        </p:nvSpPr>
        <p:spPr>
          <a:xfrm>
            <a:off x="508000" y="2044700"/>
            <a:ext cx="11176000" cy="3403600"/>
          </a:xfrm>
          <a:prstGeom prst="roundRect">
            <a:avLst/>
          </a:prstGeom>
          <a:solidFill>
            <a:srgbClr val="F7F4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3C355887-A8DA-4B6B-B3AE-C620651DBAA2}"/>
              </a:ext>
            </a:extLst>
          </p:cNvPr>
          <p:cNvSpPr txBox="1"/>
          <p:nvPr/>
        </p:nvSpPr>
        <p:spPr>
          <a:xfrm>
            <a:off x="711200" y="2171700"/>
            <a:ext cx="10922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b="1">
                <a:solidFill>
                  <a:srgbClr val="160D3D"/>
                </a:solidFill>
                <a:latin typeface="Montserrat"/>
              </a:rPr>
              <a:t>Étapes</a:t>
            </a:r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EAD657CD-F3A8-45B1-AA93-4C235EC2E385}"/>
              </a:ext>
            </a:extLst>
          </p:cNvPr>
          <p:cNvSpPr/>
          <p:nvPr/>
        </p:nvSpPr>
        <p:spPr>
          <a:xfrm>
            <a:off x="711200" y="2667000"/>
            <a:ext cx="279400" cy="279400"/>
          </a:xfrm>
          <a:prstGeom prst="ellipse">
            <a:avLst/>
          </a:prstGeom>
          <a:solidFill>
            <a:srgbClr val="E879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fr-FR" sz="10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550EB9AC-6529-4AB9-A675-770B6E3EEDD1}"/>
              </a:ext>
            </a:extLst>
          </p:cNvPr>
          <p:cNvSpPr txBox="1"/>
          <p:nvPr/>
        </p:nvSpPr>
        <p:spPr>
          <a:xfrm>
            <a:off x="1117600" y="2679700"/>
            <a:ext cx="1016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160D3D"/>
                </a:solidFill>
                <a:latin typeface="Montserrat"/>
              </a:rPr>
              <a:t>Modifier int_order_items.sql : ajouter {{ config(materialized='view') }}</a:t>
            </a:r>
          </a:p>
        </p:txBody>
      </p:sp>
      <p:sp>
        <p:nvSpPr>
          <p:cNvPr id="28" name="Ellipse 27">
            <a:extLst>
              <a:ext uri="{FF2B5EF4-FFF2-40B4-BE49-F238E27FC236}">
                <a16:creationId xmlns:a16="http://schemas.microsoft.com/office/drawing/2014/main" id="{F7451109-0604-4CB5-B2C0-72078511D137}"/>
              </a:ext>
            </a:extLst>
          </p:cNvPr>
          <p:cNvSpPr/>
          <p:nvPr/>
        </p:nvSpPr>
        <p:spPr>
          <a:xfrm>
            <a:off x="711200" y="3225800"/>
            <a:ext cx="279400" cy="279400"/>
          </a:xfrm>
          <a:prstGeom prst="ellipse">
            <a:avLst/>
          </a:prstGeom>
          <a:solidFill>
            <a:srgbClr val="E879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fr-FR" sz="10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D6682C3F-39E1-4C9F-880A-B2BDE33658EA}"/>
              </a:ext>
            </a:extLst>
          </p:cNvPr>
          <p:cNvSpPr txBox="1"/>
          <p:nvPr/>
        </p:nvSpPr>
        <p:spPr>
          <a:xfrm>
            <a:off x="1117600" y="3238500"/>
            <a:ext cx="1016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>
                <a:solidFill>
                  <a:srgbClr val="160D3D"/>
                </a:solidFill>
                <a:latin typeface="Montserrat"/>
              </a:rPr>
              <a:t>Lancer : dbt run --select int_order_items</a:t>
            </a:r>
            <a:endParaRPr lang="fr-FR" sz="1100">
              <a:solidFill>
                <a:srgbClr val="160D3D"/>
              </a:solidFill>
              <a:latin typeface="Montserrat"/>
            </a:endParaRPr>
          </a:p>
        </p:txBody>
      </p:sp>
      <p:sp>
        <p:nvSpPr>
          <p:cNvPr id="30" name="Ellipse 29">
            <a:extLst>
              <a:ext uri="{FF2B5EF4-FFF2-40B4-BE49-F238E27FC236}">
                <a16:creationId xmlns:a16="http://schemas.microsoft.com/office/drawing/2014/main" id="{5C2606B8-D584-40D6-AE0D-DE11FF0C8363}"/>
              </a:ext>
            </a:extLst>
          </p:cNvPr>
          <p:cNvSpPr/>
          <p:nvPr/>
        </p:nvSpPr>
        <p:spPr>
          <a:xfrm>
            <a:off x="711200" y="3784600"/>
            <a:ext cx="279400" cy="279400"/>
          </a:xfrm>
          <a:prstGeom prst="ellipse">
            <a:avLst/>
          </a:prstGeom>
          <a:solidFill>
            <a:srgbClr val="E879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fr-FR" sz="10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C4F94021-D133-4457-AEBA-476180059364}"/>
              </a:ext>
            </a:extLst>
          </p:cNvPr>
          <p:cNvSpPr txBox="1"/>
          <p:nvPr/>
        </p:nvSpPr>
        <p:spPr>
          <a:xfrm>
            <a:off x="1117600" y="3797300"/>
            <a:ext cx="1016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160D3D"/>
                </a:solidFill>
                <a:latin typeface="Montserrat"/>
              </a:rPr>
              <a:t>Observer dans Snowflake : la vue INT_ORDER_ITEMS apparait</a:t>
            </a:r>
          </a:p>
        </p:txBody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31153217-F9A2-4825-A81C-E64A5562650C}"/>
              </a:ext>
            </a:extLst>
          </p:cNvPr>
          <p:cNvSpPr/>
          <p:nvPr/>
        </p:nvSpPr>
        <p:spPr>
          <a:xfrm>
            <a:off x="711200" y="4343400"/>
            <a:ext cx="279400" cy="279400"/>
          </a:xfrm>
          <a:prstGeom prst="ellipse">
            <a:avLst/>
          </a:prstGeom>
          <a:solidFill>
            <a:srgbClr val="E879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fr-FR" sz="1000" b="1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00AE56F5-C95F-4B3A-B06F-C5E8D5E522D6}"/>
              </a:ext>
            </a:extLst>
          </p:cNvPr>
          <p:cNvSpPr txBox="1"/>
          <p:nvPr/>
        </p:nvSpPr>
        <p:spPr>
          <a:xfrm>
            <a:off x="1117600" y="4356100"/>
            <a:ext cx="1016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160D3D"/>
                </a:solidFill>
                <a:latin typeface="Montserrat"/>
              </a:rPr>
              <a:t>Remettre en ephemeral (supprimer le config)</a:t>
            </a:r>
          </a:p>
        </p:txBody>
      </p:sp>
      <p:sp>
        <p:nvSpPr>
          <p:cNvPr id="34" name="Ellipse 33">
            <a:extLst>
              <a:ext uri="{FF2B5EF4-FFF2-40B4-BE49-F238E27FC236}">
                <a16:creationId xmlns:a16="http://schemas.microsoft.com/office/drawing/2014/main" id="{9A98537C-E9D6-45D3-A77B-336A389EEB18}"/>
              </a:ext>
            </a:extLst>
          </p:cNvPr>
          <p:cNvSpPr/>
          <p:nvPr/>
        </p:nvSpPr>
        <p:spPr>
          <a:xfrm>
            <a:off x="711200" y="4902200"/>
            <a:ext cx="279400" cy="279400"/>
          </a:xfrm>
          <a:prstGeom prst="ellipse">
            <a:avLst/>
          </a:prstGeom>
          <a:solidFill>
            <a:srgbClr val="E879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fr-FR" sz="1000" b="1">
                <a:solidFill>
                  <a:srgbClr val="FFFFFF"/>
                </a:solidFill>
                <a:latin typeface="Montserrat"/>
              </a:rPr>
              <a:t>5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2497A573-E4F6-4198-B0DD-8728722144D1}"/>
              </a:ext>
            </a:extLst>
          </p:cNvPr>
          <p:cNvSpPr txBox="1"/>
          <p:nvPr/>
        </p:nvSpPr>
        <p:spPr>
          <a:xfrm>
            <a:off x="1117600" y="4914900"/>
            <a:ext cx="1016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>
                <a:solidFill>
                  <a:srgbClr val="160D3D"/>
                </a:solidFill>
                <a:latin typeface="Montserrat"/>
              </a:rPr>
              <a:t>Relancer : dbt run --select int_order_items+</a:t>
            </a:r>
            <a:endParaRPr lang="fr-FR" sz="1100">
              <a:solidFill>
                <a:srgbClr val="160D3D"/>
              </a:solidFill>
              <a:latin typeface="Montserrat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458C00-AFB9-C3EF-1B46-E4D386CC2A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25D58562-FCC9-9473-6BB8-74DF969019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7700"/>
            <a:ext cx="12192000" cy="5562600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A46954-4930-2A96-3791-231467B1ADA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8000" y="0"/>
            <a:ext cx="11176000" cy="760021"/>
          </a:xfrm>
        </p:spPr>
        <p:txBody>
          <a:bodyPr/>
          <a:lstStyle/>
          <a:p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C04AA5-9488-F8D9-ECA6-BE21991FC119}"/>
              </a:ext>
            </a:extLst>
          </p:cNvPr>
          <p:cNvSpPr txBox="1"/>
          <p:nvPr/>
        </p:nvSpPr>
        <p:spPr>
          <a:xfrm>
            <a:off x="1143753" y="2203730"/>
            <a:ext cx="3000000" cy="2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0" b="1" dirty="0">
                <a:solidFill>
                  <a:schemeClr val="bg1"/>
                </a:solidFill>
                <a:latin typeface="Montserrat"/>
              </a:rPr>
              <a:t>0</a:t>
            </a:r>
            <a:r>
              <a:rPr lang="fr-FR" sz="12000" b="1" dirty="0">
                <a:solidFill>
                  <a:schemeClr val="bg1"/>
                </a:solidFill>
                <a:latin typeface="Montserrat"/>
              </a:rPr>
              <a:t>4</a:t>
            </a:r>
            <a:endParaRPr sz="12000" b="1" dirty="0">
              <a:solidFill>
                <a:schemeClr val="bg1"/>
              </a:solidFill>
              <a:latin typeface="Montserra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8B11529-19AE-3B6A-295C-EA446CBEE70D}"/>
              </a:ext>
            </a:extLst>
          </p:cNvPr>
          <p:cNvSpPr txBox="1"/>
          <p:nvPr/>
        </p:nvSpPr>
        <p:spPr>
          <a:xfrm>
            <a:off x="3965846" y="2819009"/>
            <a:ext cx="7800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fr-FR" sz="4400" b="1" dirty="0">
                <a:solidFill>
                  <a:schemeClr val="bg1"/>
                </a:solidFill>
              </a:rPr>
              <a:t>Tests avancés</a:t>
            </a:r>
          </a:p>
        </p:txBody>
      </p:sp>
    </p:spTree>
    <p:extLst>
      <p:ext uri="{BB962C8B-B14F-4D97-AF65-F5344CB8AC3E}">
        <p14:creationId xmlns:p14="http://schemas.microsoft.com/office/powerpoint/2010/main" val="32380203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5"/>
          </p:nvPr>
        </p:nvSpPr>
        <p:spPr>
          <a:xfrm>
            <a:off x="508000" y="0"/>
            <a:ext cx="11176000" cy="760021"/>
          </a:xfrm>
        </p:spPr>
        <p:txBody>
          <a:bodyPr/>
          <a:lstStyle/>
          <a:p>
            <a:pPr algn="ctr"/>
            <a:r>
              <a:rPr sz="2200" b="1">
                <a:solidFill>
                  <a:srgbClr val="160D3D"/>
                </a:solidFill>
                <a:latin typeface="Montserrat"/>
              </a:rPr>
              <a:t>Severite et seuils des tests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00000" y="2159000"/>
            <a:ext cx="5200000" cy="3035300"/>
          </a:xfrm>
          <a:prstGeom prst="rect">
            <a:avLst/>
          </a:prstGeom>
          <a:solidFill>
            <a:srgbClr val="0A1730"/>
          </a:solidFill>
          <a:ln w="12700" cap="flat" cmpd="sng" algn="ctr">
            <a:noFill/>
            <a:prstDash val="solid"/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 anchorCtr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 lang="fr-FR" sz="900" i="1" dirty="0">
              <a:solidFill>
                <a:srgbClr val="6B7BA8"/>
              </a:solidFill>
              <a:latin typeface="Courier New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lang="fr-FR" sz="900" i="1" dirty="0">
              <a:solidFill>
                <a:srgbClr val="6B7BA8"/>
              </a:solidFill>
              <a:latin typeface="Courier New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lang="fr-FR" sz="900" i="1" dirty="0">
              <a:solidFill>
                <a:srgbClr val="6B7BA8"/>
              </a:solidFill>
              <a:latin typeface="Courier New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i="1" dirty="0">
                <a:solidFill>
                  <a:srgbClr val="6B7BA8"/>
                </a:solidFill>
                <a:latin typeface="Courier New"/>
              </a:rPr>
              <a:t># Dans _stg__models.yml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-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name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 order_key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tests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-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unique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 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severity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 error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-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not_null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 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severity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 warn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 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warn_if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 </a:t>
            </a:r>
            <a:r>
              <a:rPr lang="fr-FR" sz="900" dirty="0">
                <a:solidFill>
                  <a:srgbClr val="FFA76B"/>
                </a:solidFill>
                <a:latin typeface="Courier New"/>
              </a:rPr>
              <a:t>"&gt;10"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 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error_if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 </a:t>
            </a:r>
            <a:r>
              <a:rPr lang="fr-FR" sz="900" dirty="0">
                <a:solidFill>
                  <a:srgbClr val="FFA76B"/>
                </a:solidFill>
                <a:latin typeface="Courier New"/>
              </a:rPr>
              <a:t>"&gt;100"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i="1" dirty="0">
                <a:solidFill>
                  <a:srgbClr val="6B7BA8"/>
                </a:solidFill>
                <a:latin typeface="Courier New"/>
              </a:rPr>
              <a:t># Configuration globale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i="1" dirty="0">
                <a:solidFill>
                  <a:srgbClr val="6B7BA8"/>
                </a:solidFill>
                <a:latin typeface="Courier New"/>
              </a:rPr>
              <a:t># dbt_project.yml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b="1" dirty="0">
                <a:solidFill>
                  <a:srgbClr val="9D88FF"/>
                </a:solidFill>
                <a:latin typeface="Courier New"/>
              </a:rPr>
              <a:t>tests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tpch_analytics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+severity: warn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0A070D17-4DAB-44DD-AA36-54BB4B7CC4B8}"/>
              </a:ext>
            </a:extLst>
          </p:cNvPr>
          <p:cNvSpPr txBox="1"/>
          <p:nvPr/>
        </p:nvSpPr>
        <p:spPr>
          <a:xfrm>
            <a:off x="508000" y="1079500"/>
            <a:ext cx="584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500" b="1">
                <a:solidFill>
                  <a:srgbClr val="160D3D"/>
                </a:solidFill>
                <a:latin typeface="Montserrat"/>
              </a:rPr>
              <a:t>Sévérité et seuils des tests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981578B7-5117-45F1-B782-C59A8000453A}"/>
              </a:ext>
            </a:extLst>
          </p:cNvPr>
          <p:cNvSpPr/>
          <p:nvPr/>
        </p:nvSpPr>
        <p:spPr>
          <a:xfrm>
            <a:off x="508000" y="1524000"/>
            <a:ext cx="2857500" cy="1397000"/>
          </a:xfrm>
          <a:prstGeom prst="roundRect">
            <a:avLst/>
          </a:prstGeom>
          <a:solidFill>
            <a:srgbClr val="F7F4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F17B8BB8-79D6-418D-A355-4C34749E051F}"/>
              </a:ext>
            </a:extLst>
          </p:cNvPr>
          <p:cNvSpPr/>
          <p:nvPr/>
        </p:nvSpPr>
        <p:spPr>
          <a:xfrm>
            <a:off x="660400" y="1714500"/>
            <a:ext cx="1016000" cy="330200"/>
          </a:xfrm>
          <a:prstGeom prst="roundRect">
            <a:avLst/>
          </a:prstGeom>
          <a:solidFill>
            <a:srgbClr val="D63B1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8A14A38D-4EEB-497A-BA31-DAB45694DD99}"/>
              </a:ext>
            </a:extLst>
          </p:cNvPr>
          <p:cNvSpPr txBox="1"/>
          <p:nvPr/>
        </p:nvSpPr>
        <p:spPr>
          <a:xfrm>
            <a:off x="660400" y="1765300"/>
            <a:ext cx="1016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 b="1">
                <a:solidFill>
                  <a:srgbClr val="FFFFFF"/>
                </a:solidFill>
                <a:latin typeface="Montserrat"/>
              </a:rPr>
              <a:t>ERROR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B38A904F-26C4-4021-A397-A0D6CC88BEBC}"/>
              </a:ext>
            </a:extLst>
          </p:cNvPr>
          <p:cNvSpPr txBox="1"/>
          <p:nvPr/>
        </p:nvSpPr>
        <p:spPr>
          <a:xfrm>
            <a:off x="660400" y="2222500"/>
            <a:ext cx="254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b="1">
                <a:solidFill>
                  <a:srgbClr val="160D3D"/>
                </a:solidFill>
                <a:latin typeface="Montserrat"/>
              </a:rPr>
              <a:t>Bloque le dbt build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F96A04DB-67E5-43EE-A522-E6CC49E4256C}"/>
              </a:ext>
            </a:extLst>
          </p:cNvPr>
          <p:cNvSpPr txBox="1"/>
          <p:nvPr/>
        </p:nvSpPr>
        <p:spPr>
          <a:xfrm>
            <a:off x="660400" y="2540000"/>
            <a:ext cx="254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>
                <a:solidFill>
                  <a:srgbClr val="160D3D"/>
                </a:solidFill>
                <a:latin typeface="Montserrat"/>
              </a:rPr>
              <a:t>Échec = pipeline KO</a:t>
            </a: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298F4106-BDF9-4E17-BBE6-41E8F86F531A}"/>
              </a:ext>
            </a:extLst>
          </p:cNvPr>
          <p:cNvSpPr/>
          <p:nvPr/>
        </p:nvSpPr>
        <p:spPr>
          <a:xfrm>
            <a:off x="3492500" y="1524000"/>
            <a:ext cx="2857500" cy="1397000"/>
          </a:xfrm>
          <a:prstGeom prst="roundRect">
            <a:avLst/>
          </a:prstGeom>
          <a:solidFill>
            <a:srgbClr val="F7F4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99C32E5B-C9B7-4678-823E-EB86506EA56C}"/>
              </a:ext>
            </a:extLst>
          </p:cNvPr>
          <p:cNvSpPr/>
          <p:nvPr/>
        </p:nvSpPr>
        <p:spPr>
          <a:xfrm>
            <a:off x="3644900" y="1714500"/>
            <a:ext cx="1016000" cy="330200"/>
          </a:xfrm>
          <a:prstGeom prst="roundRect">
            <a:avLst/>
          </a:prstGeom>
          <a:solidFill>
            <a:srgbClr val="FF953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DA86749F-AEFB-4C24-A178-848CEFFD5FB9}"/>
              </a:ext>
            </a:extLst>
          </p:cNvPr>
          <p:cNvSpPr txBox="1"/>
          <p:nvPr/>
        </p:nvSpPr>
        <p:spPr>
          <a:xfrm>
            <a:off x="3644900" y="1765300"/>
            <a:ext cx="1016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 b="1">
                <a:solidFill>
                  <a:srgbClr val="FFFFFF"/>
                </a:solidFill>
                <a:latin typeface="Montserrat"/>
              </a:rPr>
              <a:t>WARN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B4A7443B-E1B3-411A-8E83-983D8852168D}"/>
              </a:ext>
            </a:extLst>
          </p:cNvPr>
          <p:cNvSpPr txBox="1"/>
          <p:nvPr/>
        </p:nvSpPr>
        <p:spPr>
          <a:xfrm>
            <a:off x="3644900" y="2222500"/>
            <a:ext cx="254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b="1">
                <a:solidFill>
                  <a:srgbClr val="160D3D"/>
                </a:solidFill>
                <a:latin typeface="Montserrat"/>
              </a:rPr>
              <a:t>Avertissement, ne bloque pas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3846093A-9F84-4F7A-9A12-CE299E0DCA5B}"/>
              </a:ext>
            </a:extLst>
          </p:cNvPr>
          <p:cNvSpPr txBox="1"/>
          <p:nvPr/>
        </p:nvSpPr>
        <p:spPr>
          <a:xfrm>
            <a:off x="3644900" y="2540000"/>
            <a:ext cx="254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>
                <a:solidFill>
                  <a:srgbClr val="160D3D"/>
                </a:solidFill>
                <a:latin typeface="Montserrat"/>
              </a:rPr>
              <a:t>Visible dans les logs</a:t>
            </a: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4829876D-821C-49F2-B321-114C560343E3}"/>
              </a:ext>
            </a:extLst>
          </p:cNvPr>
          <p:cNvSpPr/>
          <p:nvPr/>
        </p:nvSpPr>
        <p:spPr>
          <a:xfrm>
            <a:off x="508000" y="3111500"/>
            <a:ext cx="5842000" cy="2857500"/>
          </a:xfrm>
          <a:prstGeom prst="roundRect">
            <a:avLst/>
          </a:prstGeom>
          <a:solidFill>
            <a:srgbClr val="F7F4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F4CD9763-9C0B-4A1B-8EC1-6E94E76C6EED}"/>
              </a:ext>
            </a:extLst>
          </p:cNvPr>
          <p:cNvSpPr txBox="1"/>
          <p:nvPr/>
        </p:nvSpPr>
        <p:spPr>
          <a:xfrm>
            <a:off x="711200" y="3238500"/>
            <a:ext cx="5461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b="1">
                <a:solidFill>
                  <a:srgbClr val="160D3D"/>
                </a:solidFill>
                <a:latin typeface="Montserrat"/>
              </a:rPr>
              <a:t>Seuils configurables</a:t>
            </a: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5110FE1C-1FE3-4E04-B32A-3E25AB7A2A02}"/>
              </a:ext>
            </a:extLst>
          </p:cNvPr>
          <p:cNvSpPr/>
          <p:nvPr/>
        </p:nvSpPr>
        <p:spPr>
          <a:xfrm>
            <a:off x="711200" y="3683000"/>
            <a:ext cx="1143000" cy="330200"/>
          </a:xfrm>
          <a:prstGeom prst="roundRect">
            <a:avLst/>
          </a:prstGeom>
          <a:solidFill>
            <a:srgbClr val="160D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00136617-AF30-4A2D-B313-A23A364F2327}"/>
              </a:ext>
            </a:extLst>
          </p:cNvPr>
          <p:cNvSpPr txBox="1"/>
          <p:nvPr/>
        </p:nvSpPr>
        <p:spPr>
          <a:xfrm>
            <a:off x="711200" y="3746500"/>
            <a:ext cx="1143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 b="1">
                <a:solidFill>
                  <a:srgbClr val="FFFFFF"/>
                </a:solidFill>
                <a:latin typeface="Montserrat"/>
              </a:rPr>
              <a:t>warn_if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89ADD313-EF16-4580-865B-5B8651E948E6}"/>
              </a:ext>
            </a:extLst>
          </p:cNvPr>
          <p:cNvSpPr txBox="1"/>
          <p:nvPr/>
        </p:nvSpPr>
        <p:spPr>
          <a:xfrm>
            <a:off x="2006600" y="3695700"/>
            <a:ext cx="4191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>
                <a:solidFill>
                  <a:srgbClr val="160D3D"/>
                </a:solidFill>
                <a:latin typeface="Montserrat"/>
              </a:rPr>
              <a:t>Bascule en warning à partir de N résultats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BA172A4D-DF8D-4CCD-B2CE-5778103957EA}"/>
              </a:ext>
            </a:extLst>
          </p:cNvPr>
          <p:cNvSpPr txBox="1"/>
          <p:nvPr/>
        </p:nvSpPr>
        <p:spPr>
          <a:xfrm>
            <a:off x="2006600" y="3911600"/>
            <a:ext cx="4191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sz="900"/>
              <a:t>:&gt; 0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692B9A8D-ACB5-46EB-94FC-2A1E40A8ED06}"/>
              </a:ext>
            </a:extLst>
          </p:cNvPr>
          <p:cNvSpPr txBox="1"/>
          <p:nvPr/>
        </p:nvSpPr>
        <p:spPr>
          <a:xfrm>
            <a:off x="508000" y="1079500"/>
            <a:ext cx="584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500" b="1">
                <a:solidFill>
                  <a:srgbClr val="160D3D"/>
                </a:solidFill>
                <a:latin typeface="Montserrat"/>
              </a:rPr>
              <a:t>Sévérité et seuils des tests</a:t>
            </a:r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5FEEDFB2-705D-4E17-96F0-77B96B1F5326}"/>
              </a:ext>
            </a:extLst>
          </p:cNvPr>
          <p:cNvSpPr/>
          <p:nvPr/>
        </p:nvSpPr>
        <p:spPr>
          <a:xfrm>
            <a:off x="508000" y="1524000"/>
            <a:ext cx="2857500" cy="1397000"/>
          </a:xfrm>
          <a:prstGeom prst="roundRect">
            <a:avLst/>
          </a:prstGeom>
          <a:solidFill>
            <a:srgbClr val="F7F4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C97CD130-7662-419A-8085-F7F307618095}"/>
              </a:ext>
            </a:extLst>
          </p:cNvPr>
          <p:cNvSpPr/>
          <p:nvPr/>
        </p:nvSpPr>
        <p:spPr>
          <a:xfrm>
            <a:off x="660400" y="1714500"/>
            <a:ext cx="1016000" cy="330200"/>
          </a:xfrm>
          <a:prstGeom prst="roundRect">
            <a:avLst/>
          </a:prstGeom>
          <a:solidFill>
            <a:srgbClr val="D63B1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47F7EA09-68FE-4961-832D-7BB1A3151430}"/>
              </a:ext>
            </a:extLst>
          </p:cNvPr>
          <p:cNvSpPr txBox="1"/>
          <p:nvPr/>
        </p:nvSpPr>
        <p:spPr>
          <a:xfrm>
            <a:off x="660400" y="1765300"/>
            <a:ext cx="1016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 b="1">
                <a:solidFill>
                  <a:srgbClr val="FFFFFF"/>
                </a:solidFill>
                <a:latin typeface="Montserrat"/>
              </a:rPr>
              <a:t>ERROR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7173578E-909D-4D0E-A611-9E241FAFEB85}"/>
              </a:ext>
            </a:extLst>
          </p:cNvPr>
          <p:cNvSpPr txBox="1"/>
          <p:nvPr/>
        </p:nvSpPr>
        <p:spPr>
          <a:xfrm>
            <a:off x="660400" y="2222500"/>
            <a:ext cx="254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b="1">
                <a:solidFill>
                  <a:srgbClr val="160D3D"/>
                </a:solidFill>
                <a:latin typeface="Montserrat"/>
              </a:rPr>
              <a:t>Bloque le dbt build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0BAD3860-BD17-4D8F-B613-1DB7654AD0A2}"/>
              </a:ext>
            </a:extLst>
          </p:cNvPr>
          <p:cNvSpPr txBox="1"/>
          <p:nvPr/>
        </p:nvSpPr>
        <p:spPr>
          <a:xfrm>
            <a:off x="660400" y="2540000"/>
            <a:ext cx="254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>
                <a:solidFill>
                  <a:srgbClr val="160D3D"/>
                </a:solidFill>
                <a:latin typeface="Montserrat"/>
              </a:rPr>
              <a:t>Échec = pipeline KO</a:t>
            </a:r>
          </a:p>
        </p:txBody>
      </p:sp>
      <p:sp>
        <p:nvSpPr>
          <p:cNvPr id="28" name="Rectangle : coins arrondis 27">
            <a:extLst>
              <a:ext uri="{FF2B5EF4-FFF2-40B4-BE49-F238E27FC236}">
                <a16:creationId xmlns:a16="http://schemas.microsoft.com/office/drawing/2014/main" id="{16C0B3BD-9DF6-4C23-B5A4-2ADA3281853E}"/>
              </a:ext>
            </a:extLst>
          </p:cNvPr>
          <p:cNvSpPr/>
          <p:nvPr/>
        </p:nvSpPr>
        <p:spPr>
          <a:xfrm>
            <a:off x="3492500" y="1524000"/>
            <a:ext cx="2857500" cy="1397000"/>
          </a:xfrm>
          <a:prstGeom prst="roundRect">
            <a:avLst/>
          </a:prstGeom>
          <a:solidFill>
            <a:srgbClr val="F7F4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9" name="Rectangle : coins arrondis 28">
            <a:extLst>
              <a:ext uri="{FF2B5EF4-FFF2-40B4-BE49-F238E27FC236}">
                <a16:creationId xmlns:a16="http://schemas.microsoft.com/office/drawing/2014/main" id="{330E6B2C-CB1E-4FF3-8F9A-9A80CB4C1590}"/>
              </a:ext>
            </a:extLst>
          </p:cNvPr>
          <p:cNvSpPr/>
          <p:nvPr/>
        </p:nvSpPr>
        <p:spPr>
          <a:xfrm>
            <a:off x="3644900" y="1714500"/>
            <a:ext cx="1016000" cy="330200"/>
          </a:xfrm>
          <a:prstGeom prst="roundRect">
            <a:avLst/>
          </a:prstGeom>
          <a:solidFill>
            <a:srgbClr val="FF953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29F68E2A-2595-4A17-80A1-4239476EE23C}"/>
              </a:ext>
            </a:extLst>
          </p:cNvPr>
          <p:cNvSpPr txBox="1"/>
          <p:nvPr/>
        </p:nvSpPr>
        <p:spPr>
          <a:xfrm>
            <a:off x="3644900" y="1765300"/>
            <a:ext cx="1016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 b="1">
                <a:solidFill>
                  <a:srgbClr val="FFFFFF"/>
                </a:solidFill>
                <a:latin typeface="Montserrat"/>
              </a:rPr>
              <a:t>WARN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230662C7-740F-4430-B772-9FBEB3FFA90C}"/>
              </a:ext>
            </a:extLst>
          </p:cNvPr>
          <p:cNvSpPr txBox="1"/>
          <p:nvPr/>
        </p:nvSpPr>
        <p:spPr>
          <a:xfrm>
            <a:off x="3644900" y="2222500"/>
            <a:ext cx="254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b="1">
                <a:solidFill>
                  <a:srgbClr val="160D3D"/>
                </a:solidFill>
                <a:latin typeface="Montserrat"/>
              </a:rPr>
              <a:t>Avertissement, ne bloque pas</a:t>
            </a: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A8433972-3AD5-44F9-82B4-BE5879553E74}"/>
              </a:ext>
            </a:extLst>
          </p:cNvPr>
          <p:cNvSpPr txBox="1"/>
          <p:nvPr/>
        </p:nvSpPr>
        <p:spPr>
          <a:xfrm>
            <a:off x="3644900" y="2540000"/>
            <a:ext cx="254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>
                <a:solidFill>
                  <a:srgbClr val="160D3D"/>
                </a:solidFill>
                <a:latin typeface="Montserrat"/>
              </a:rPr>
              <a:t>Visible dans les logs</a:t>
            </a:r>
          </a:p>
        </p:txBody>
      </p:sp>
      <p:sp>
        <p:nvSpPr>
          <p:cNvPr id="33" name="Rectangle : coins arrondis 32">
            <a:extLst>
              <a:ext uri="{FF2B5EF4-FFF2-40B4-BE49-F238E27FC236}">
                <a16:creationId xmlns:a16="http://schemas.microsoft.com/office/drawing/2014/main" id="{CDCCE123-24C2-4D33-9694-0E0299F44B58}"/>
              </a:ext>
            </a:extLst>
          </p:cNvPr>
          <p:cNvSpPr/>
          <p:nvPr/>
        </p:nvSpPr>
        <p:spPr>
          <a:xfrm>
            <a:off x="508000" y="3111500"/>
            <a:ext cx="5842000" cy="2857500"/>
          </a:xfrm>
          <a:prstGeom prst="roundRect">
            <a:avLst/>
          </a:prstGeom>
          <a:solidFill>
            <a:srgbClr val="F7F4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F5C4DDBB-5144-4ED6-BE1F-58B83A19BB1D}"/>
              </a:ext>
            </a:extLst>
          </p:cNvPr>
          <p:cNvSpPr txBox="1"/>
          <p:nvPr/>
        </p:nvSpPr>
        <p:spPr>
          <a:xfrm>
            <a:off x="711200" y="3238500"/>
            <a:ext cx="5461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b="1">
                <a:solidFill>
                  <a:srgbClr val="160D3D"/>
                </a:solidFill>
                <a:latin typeface="Montserrat"/>
              </a:rPr>
              <a:t>Seuils configurables</a:t>
            </a:r>
          </a:p>
        </p:txBody>
      </p:sp>
      <p:sp>
        <p:nvSpPr>
          <p:cNvPr id="35" name="Rectangle : coins arrondis 34">
            <a:extLst>
              <a:ext uri="{FF2B5EF4-FFF2-40B4-BE49-F238E27FC236}">
                <a16:creationId xmlns:a16="http://schemas.microsoft.com/office/drawing/2014/main" id="{5A6AB776-B51A-434D-B396-F0BEDB937BFD}"/>
              </a:ext>
            </a:extLst>
          </p:cNvPr>
          <p:cNvSpPr/>
          <p:nvPr/>
        </p:nvSpPr>
        <p:spPr>
          <a:xfrm>
            <a:off x="711200" y="3683000"/>
            <a:ext cx="1143000" cy="330200"/>
          </a:xfrm>
          <a:prstGeom prst="roundRect">
            <a:avLst/>
          </a:prstGeom>
          <a:solidFill>
            <a:srgbClr val="160D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DE26E830-3387-4B63-BE6A-8EF0AF34987F}"/>
              </a:ext>
            </a:extLst>
          </p:cNvPr>
          <p:cNvSpPr txBox="1"/>
          <p:nvPr/>
        </p:nvSpPr>
        <p:spPr>
          <a:xfrm>
            <a:off x="711200" y="3746500"/>
            <a:ext cx="1143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 b="1">
                <a:solidFill>
                  <a:srgbClr val="FFFFFF"/>
                </a:solidFill>
                <a:latin typeface="Montserrat"/>
              </a:rPr>
              <a:t>warn_if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094C11FE-BC59-4A62-AF7A-36F16DB1FBD9}"/>
              </a:ext>
            </a:extLst>
          </p:cNvPr>
          <p:cNvSpPr txBox="1"/>
          <p:nvPr/>
        </p:nvSpPr>
        <p:spPr>
          <a:xfrm>
            <a:off x="2006600" y="3695700"/>
            <a:ext cx="4191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>
                <a:solidFill>
                  <a:srgbClr val="160D3D"/>
                </a:solidFill>
                <a:latin typeface="Montserrat"/>
              </a:rPr>
              <a:t>Bascule en warning à partir de N résultats</a:t>
            </a:r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24906D80-F344-4566-B092-35048AF1165B}"/>
              </a:ext>
            </a:extLst>
          </p:cNvPr>
          <p:cNvSpPr txBox="1"/>
          <p:nvPr/>
        </p:nvSpPr>
        <p:spPr>
          <a:xfrm>
            <a:off x="2006600" y="3911600"/>
            <a:ext cx="4191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900">
                <a:solidFill>
                  <a:srgbClr val="E8792F"/>
                </a:solidFill>
                <a:latin typeface="Montserrat"/>
              </a:rPr>
              <a:t>:&gt; 0</a:t>
            </a:r>
          </a:p>
        </p:txBody>
      </p:sp>
      <p:sp>
        <p:nvSpPr>
          <p:cNvPr id="39" name="Rectangle : coins arrondis 38">
            <a:extLst>
              <a:ext uri="{FF2B5EF4-FFF2-40B4-BE49-F238E27FC236}">
                <a16:creationId xmlns:a16="http://schemas.microsoft.com/office/drawing/2014/main" id="{AC25EB1A-CD32-4ABE-943F-AE42E50907F3}"/>
              </a:ext>
            </a:extLst>
          </p:cNvPr>
          <p:cNvSpPr/>
          <p:nvPr/>
        </p:nvSpPr>
        <p:spPr>
          <a:xfrm>
            <a:off x="711200" y="4229100"/>
            <a:ext cx="1143000" cy="330200"/>
          </a:xfrm>
          <a:prstGeom prst="roundRect">
            <a:avLst/>
          </a:prstGeom>
          <a:solidFill>
            <a:srgbClr val="160D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A4509BB8-38DE-495A-B4AC-604D3E429BA2}"/>
              </a:ext>
            </a:extLst>
          </p:cNvPr>
          <p:cNvSpPr txBox="1"/>
          <p:nvPr/>
        </p:nvSpPr>
        <p:spPr>
          <a:xfrm>
            <a:off x="711200" y="4292600"/>
            <a:ext cx="1143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 b="1">
                <a:solidFill>
                  <a:srgbClr val="FFFFFF"/>
                </a:solidFill>
                <a:latin typeface="Montserrat"/>
              </a:rPr>
              <a:t>error_if</a:t>
            </a:r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D737E2C3-1DA9-4EBD-9544-392DCE1042EF}"/>
              </a:ext>
            </a:extLst>
          </p:cNvPr>
          <p:cNvSpPr txBox="1"/>
          <p:nvPr/>
        </p:nvSpPr>
        <p:spPr>
          <a:xfrm>
            <a:off x="2006600" y="4241800"/>
            <a:ext cx="4191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>
                <a:solidFill>
                  <a:srgbClr val="160D3D"/>
                </a:solidFill>
                <a:latin typeface="Montserrat"/>
              </a:rPr>
              <a:t>Bascule en error à partir de N résultats</a:t>
            </a: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69961F69-6D69-41F8-99C8-C5866D965425}"/>
              </a:ext>
            </a:extLst>
          </p:cNvPr>
          <p:cNvSpPr txBox="1"/>
          <p:nvPr/>
        </p:nvSpPr>
        <p:spPr>
          <a:xfrm>
            <a:off x="2006600" y="4457700"/>
            <a:ext cx="4191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900">
                <a:solidFill>
                  <a:srgbClr val="E8792F"/>
                </a:solidFill>
                <a:latin typeface="Montserrat"/>
              </a:rPr>
              <a:t>:&gt; 100</a:t>
            </a:r>
          </a:p>
        </p:txBody>
      </p:sp>
      <p:sp>
        <p:nvSpPr>
          <p:cNvPr id="43" name="Rectangle : coins arrondis 42">
            <a:extLst>
              <a:ext uri="{FF2B5EF4-FFF2-40B4-BE49-F238E27FC236}">
                <a16:creationId xmlns:a16="http://schemas.microsoft.com/office/drawing/2014/main" id="{2419FD52-8D24-47D0-9C13-264CA09F5B08}"/>
              </a:ext>
            </a:extLst>
          </p:cNvPr>
          <p:cNvSpPr/>
          <p:nvPr/>
        </p:nvSpPr>
        <p:spPr>
          <a:xfrm>
            <a:off x="711200" y="4775200"/>
            <a:ext cx="1143000" cy="330200"/>
          </a:xfrm>
          <a:prstGeom prst="roundRect">
            <a:avLst/>
          </a:prstGeom>
          <a:solidFill>
            <a:srgbClr val="160D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62BFEE61-2962-45E3-9835-4E2CF60255CC}"/>
              </a:ext>
            </a:extLst>
          </p:cNvPr>
          <p:cNvSpPr txBox="1"/>
          <p:nvPr/>
        </p:nvSpPr>
        <p:spPr>
          <a:xfrm>
            <a:off x="711200" y="4838700"/>
            <a:ext cx="1143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 b="1">
                <a:solidFill>
                  <a:srgbClr val="FFFFFF"/>
                </a:solidFill>
                <a:latin typeface="Montserrat"/>
              </a:rPr>
              <a:t>where</a:t>
            </a: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A9BCE0DC-1E4E-459F-81F8-CDF18557DB48}"/>
              </a:ext>
            </a:extLst>
          </p:cNvPr>
          <p:cNvSpPr txBox="1"/>
          <p:nvPr/>
        </p:nvSpPr>
        <p:spPr>
          <a:xfrm>
            <a:off x="2006600" y="4787900"/>
            <a:ext cx="4191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>
                <a:solidFill>
                  <a:srgbClr val="160D3D"/>
                </a:solidFill>
                <a:latin typeface="Montserrat"/>
              </a:rPr>
              <a:t>Filtre l'application du test (condition SQL)</a:t>
            </a:r>
          </a:p>
        </p:txBody>
      </p:sp>
      <p:sp>
        <p:nvSpPr>
          <p:cNvPr id="46" name="ZoneTexte 45">
            <a:extLst>
              <a:ext uri="{FF2B5EF4-FFF2-40B4-BE49-F238E27FC236}">
                <a16:creationId xmlns:a16="http://schemas.microsoft.com/office/drawing/2014/main" id="{1FA4C00F-F63C-4ED4-A03D-700AB0865D6D}"/>
              </a:ext>
            </a:extLst>
          </p:cNvPr>
          <p:cNvSpPr txBox="1"/>
          <p:nvPr/>
        </p:nvSpPr>
        <p:spPr>
          <a:xfrm>
            <a:off x="2006600" y="5003800"/>
            <a:ext cx="4191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900">
                <a:solidFill>
                  <a:srgbClr val="E8792F"/>
                </a:solidFill>
                <a:latin typeface="Montserrat"/>
              </a:rPr>
              <a:t>status != 'CANCELLED'</a:t>
            </a:r>
          </a:p>
        </p:txBody>
      </p:sp>
      <p:sp>
        <p:nvSpPr>
          <p:cNvPr id="47" name="Rectangle : coins arrondis 46">
            <a:extLst>
              <a:ext uri="{FF2B5EF4-FFF2-40B4-BE49-F238E27FC236}">
                <a16:creationId xmlns:a16="http://schemas.microsoft.com/office/drawing/2014/main" id="{54840719-E85A-42F0-AF46-8ED5A07C168D}"/>
              </a:ext>
            </a:extLst>
          </p:cNvPr>
          <p:cNvSpPr/>
          <p:nvPr/>
        </p:nvSpPr>
        <p:spPr>
          <a:xfrm>
            <a:off x="711200" y="5321300"/>
            <a:ext cx="1143000" cy="330200"/>
          </a:xfrm>
          <a:prstGeom prst="roundRect">
            <a:avLst/>
          </a:prstGeom>
          <a:solidFill>
            <a:srgbClr val="160D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48" name="ZoneTexte 47">
            <a:extLst>
              <a:ext uri="{FF2B5EF4-FFF2-40B4-BE49-F238E27FC236}">
                <a16:creationId xmlns:a16="http://schemas.microsoft.com/office/drawing/2014/main" id="{8673CDCE-6719-4EA0-A3F3-63BAB1E22D33}"/>
              </a:ext>
            </a:extLst>
          </p:cNvPr>
          <p:cNvSpPr txBox="1"/>
          <p:nvPr/>
        </p:nvSpPr>
        <p:spPr>
          <a:xfrm>
            <a:off x="711200" y="5384800"/>
            <a:ext cx="1143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 b="1">
                <a:solidFill>
                  <a:srgbClr val="FFFFFF"/>
                </a:solidFill>
                <a:latin typeface="Montserrat"/>
              </a:rPr>
              <a:t>limit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6F0B59D1-5EE5-4D27-85BD-E21DFF9BCC02}"/>
              </a:ext>
            </a:extLst>
          </p:cNvPr>
          <p:cNvSpPr txBox="1"/>
          <p:nvPr/>
        </p:nvSpPr>
        <p:spPr>
          <a:xfrm>
            <a:off x="2006600" y="5334000"/>
            <a:ext cx="4191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>
                <a:solidFill>
                  <a:srgbClr val="160D3D"/>
                </a:solidFill>
                <a:latin typeface="Montserrat"/>
              </a:rPr>
              <a:t>Limite le nombre de lignes retournées</a:t>
            </a:r>
          </a:p>
        </p:txBody>
      </p:sp>
      <p:sp>
        <p:nvSpPr>
          <p:cNvPr id="50" name="ZoneTexte 49">
            <a:extLst>
              <a:ext uri="{FF2B5EF4-FFF2-40B4-BE49-F238E27FC236}">
                <a16:creationId xmlns:a16="http://schemas.microsoft.com/office/drawing/2014/main" id="{53EEC124-2AB6-4AB9-9078-4BDF8F1C7324}"/>
              </a:ext>
            </a:extLst>
          </p:cNvPr>
          <p:cNvSpPr txBox="1"/>
          <p:nvPr/>
        </p:nvSpPr>
        <p:spPr>
          <a:xfrm>
            <a:off x="2006600" y="5549900"/>
            <a:ext cx="4191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900">
                <a:solidFill>
                  <a:srgbClr val="E8792F"/>
                </a:solidFill>
                <a:latin typeface="Montserrat"/>
              </a:rPr>
              <a:t>100</a:t>
            </a:r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3A32801A-A2F3-4037-A981-30D102B1797B}"/>
              </a:ext>
            </a:extLst>
          </p:cNvPr>
          <p:cNvSpPr txBox="1"/>
          <p:nvPr/>
        </p:nvSpPr>
        <p:spPr>
          <a:xfrm>
            <a:off x="9260000" y="2286000"/>
            <a:ext cx="2387600" cy="2286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fr-FR" sz="800" b="1">
                <a:solidFill>
                  <a:srgbClr val="6B7BA8"/>
                </a:solidFill>
                <a:latin typeface="Montserrat"/>
              </a:rPr>
              <a:t>_STG__MODELS.YML</a:t>
            </a:r>
          </a:p>
        </p:txBody>
      </p:sp>
    </p:spTree>
    <p:extLst>
      <p:ext uri="{BB962C8B-B14F-4D97-AF65-F5344CB8AC3E}">
        <p14:creationId xmlns:p14="http://schemas.microsoft.com/office/powerpoint/2010/main" val="383362094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5"/>
          </p:nvPr>
        </p:nvSpPr>
        <p:spPr>
          <a:xfrm>
            <a:off x="508000" y="0"/>
            <a:ext cx="11176000" cy="760021"/>
          </a:xfrm>
        </p:spPr>
        <p:txBody>
          <a:bodyPr/>
          <a:lstStyle/>
          <a:p>
            <a:pPr algn="ctr"/>
            <a:r>
              <a:rPr sz="2200" b="1">
                <a:solidFill>
                  <a:srgbClr val="160D3D"/>
                </a:solidFill>
                <a:latin typeface="Montserrat"/>
              </a:rPr>
              <a:t>Tests dbt_utils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00000" y="1778000"/>
            <a:ext cx="5200000" cy="3797300"/>
          </a:xfrm>
          <a:prstGeom prst="rect">
            <a:avLst/>
          </a:prstGeom>
          <a:solidFill>
            <a:srgbClr val="0A1730"/>
          </a:solidFill>
          <a:ln w="12700" cap="flat" cmpd="sng" algn="ctr">
            <a:noFill/>
            <a:prstDash val="solid"/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 anchorCtr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 lang="fr-FR" sz="900" i="1" dirty="0">
              <a:solidFill>
                <a:srgbClr val="6B7BA8"/>
              </a:solidFill>
              <a:latin typeface="Courier New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lang="fr-FR" sz="900" i="1" dirty="0">
              <a:solidFill>
                <a:srgbClr val="6B7BA8"/>
              </a:solidFill>
              <a:latin typeface="Courier New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lang="fr-FR" sz="900" i="1" dirty="0">
              <a:solidFill>
                <a:srgbClr val="6B7BA8"/>
              </a:solidFill>
              <a:latin typeface="Courier New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i="1" dirty="0">
                <a:solidFill>
                  <a:srgbClr val="6B7BA8"/>
                </a:solidFill>
                <a:latin typeface="Courier New"/>
              </a:rPr>
              <a:t># _stg__models.yml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b="1" dirty="0">
                <a:solidFill>
                  <a:srgbClr val="9D88FF"/>
                </a:solidFill>
                <a:latin typeface="Courier New"/>
              </a:rPr>
              <a:t>models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-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name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 stg_tpch__line_items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tests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- dbt_utils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  .unique_combination_of_columns: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   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combination_of_columns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      - order_key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      - line_number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columns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-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name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 discount_percentage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 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tests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    -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dbt_utils.accepted_range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       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min_value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 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       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max_value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 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       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inclusive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 true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-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name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 ship_date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 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tests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    -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dbt_utils.expression_is_true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       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expression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 </a:t>
            </a:r>
            <a:r>
              <a:rPr lang="fr-FR" sz="900" dirty="0">
                <a:solidFill>
                  <a:srgbClr val="FFA76B"/>
                </a:solidFill>
                <a:latin typeface="Courier New"/>
              </a:rPr>
              <a:t>"&gt;= '1992-01-01'"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3AF01AF2-B00A-43E2-9AF0-DC1156B658D7}"/>
              </a:ext>
            </a:extLst>
          </p:cNvPr>
          <p:cNvSpPr txBox="1"/>
          <p:nvPr/>
        </p:nvSpPr>
        <p:spPr>
          <a:xfrm>
            <a:off x="508000" y="1079500"/>
            <a:ext cx="584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500" b="1">
                <a:solidFill>
                  <a:srgbClr val="160D3D"/>
                </a:solidFill>
                <a:latin typeface="Montserrat"/>
              </a:rPr>
              <a:t>Tests dbt_utils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56C186CF-1905-4477-BCFA-F5DE7CEEBE79}"/>
              </a:ext>
            </a:extLst>
          </p:cNvPr>
          <p:cNvSpPr/>
          <p:nvPr/>
        </p:nvSpPr>
        <p:spPr>
          <a:xfrm>
            <a:off x="508000" y="1587500"/>
            <a:ext cx="5842000" cy="889000"/>
          </a:xfrm>
          <a:prstGeom prst="roundRect">
            <a:avLst/>
          </a:prstGeom>
          <a:solidFill>
            <a:srgbClr val="F7F4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75E40510-EE88-416A-BBED-E6201B893538}"/>
              </a:ext>
            </a:extLst>
          </p:cNvPr>
          <p:cNvSpPr/>
          <p:nvPr/>
        </p:nvSpPr>
        <p:spPr>
          <a:xfrm>
            <a:off x="711200" y="1739900"/>
            <a:ext cx="762000" cy="304800"/>
          </a:xfrm>
          <a:prstGeom prst="roundRect">
            <a:avLst/>
          </a:prstGeom>
          <a:solidFill>
            <a:srgbClr val="160D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0083A590-A21C-4B31-95DD-D7D653506EE8}"/>
              </a:ext>
            </a:extLst>
          </p:cNvPr>
          <p:cNvSpPr txBox="1"/>
          <p:nvPr/>
        </p:nvSpPr>
        <p:spPr>
          <a:xfrm>
            <a:off x="711200" y="1778000"/>
            <a:ext cx="762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900" b="1">
                <a:solidFill>
                  <a:srgbClr val="FFFFFF"/>
                </a:solidFill>
                <a:latin typeface="Montserrat"/>
              </a:rPr>
              <a:t>UTILS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83490D38-B570-498A-9860-1B30821BF5C9}"/>
              </a:ext>
            </a:extLst>
          </p:cNvPr>
          <p:cNvSpPr txBox="1"/>
          <p:nvPr/>
        </p:nvSpPr>
        <p:spPr>
          <a:xfrm>
            <a:off x="1651000" y="17526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b="1">
                <a:solidFill>
                  <a:srgbClr val="160D3D"/>
                </a:solidFill>
                <a:latin typeface="Montserrat"/>
              </a:rPr>
              <a:t>unique_combination_of_columns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851E50B5-B753-49FE-9DFF-D78B488D59B6}"/>
              </a:ext>
            </a:extLst>
          </p:cNvPr>
          <p:cNvSpPr txBox="1"/>
          <p:nvPr/>
        </p:nvSpPr>
        <p:spPr>
          <a:xfrm>
            <a:off x="1651000" y="20701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160D3D"/>
                </a:solidFill>
                <a:latin typeface="Montserrat"/>
              </a:rPr>
              <a:t>Combinaison unique de plusieurs colonnes (clé composite)</a:t>
            </a: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AC83F2B4-BDA0-4FCB-8E03-96C8A026CDFD}"/>
              </a:ext>
            </a:extLst>
          </p:cNvPr>
          <p:cNvSpPr/>
          <p:nvPr/>
        </p:nvSpPr>
        <p:spPr>
          <a:xfrm>
            <a:off x="508000" y="2628900"/>
            <a:ext cx="5842000" cy="889000"/>
          </a:xfrm>
          <a:prstGeom prst="roundRect">
            <a:avLst/>
          </a:prstGeom>
          <a:solidFill>
            <a:srgbClr val="F7F4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2851D119-D1DA-4ABE-8D63-FA2B25DCB30B}"/>
              </a:ext>
            </a:extLst>
          </p:cNvPr>
          <p:cNvSpPr/>
          <p:nvPr/>
        </p:nvSpPr>
        <p:spPr>
          <a:xfrm>
            <a:off x="711200" y="2781300"/>
            <a:ext cx="762000" cy="304800"/>
          </a:xfrm>
          <a:prstGeom prst="roundRect">
            <a:avLst/>
          </a:prstGeom>
          <a:solidFill>
            <a:srgbClr val="160D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0FF3627F-4E8C-4EA2-B525-2CAB71F584C2}"/>
              </a:ext>
            </a:extLst>
          </p:cNvPr>
          <p:cNvSpPr txBox="1"/>
          <p:nvPr/>
        </p:nvSpPr>
        <p:spPr>
          <a:xfrm>
            <a:off x="711200" y="2819400"/>
            <a:ext cx="762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900" b="1">
                <a:solidFill>
                  <a:srgbClr val="FFFFFF"/>
                </a:solidFill>
                <a:latin typeface="Montserrat"/>
              </a:rPr>
              <a:t>UTILS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E654B560-03BF-42F7-9CC4-5CC584C8D6A0}"/>
              </a:ext>
            </a:extLst>
          </p:cNvPr>
          <p:cNvSpPr txBox="1"/>
          <p:nvPr/>
        </p:nvSpPr>
        <p:spPr>
          <a:xfrm>
            <a:off x="1651000" y="27940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b="1">
                <a:solidFill>
                  <a:srgbClr val="160D3D"/>
                </a:solidFill>
                <a:latin typeface="Montserrat"/>
              </a:rPr>
              <a:t>accepted_range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EE263E5C-FE21-4B5E-A32D-B175A9B4CAE5}"/>
              </a:ext>
            </a:extLst>
          </p:cNvPr>
          <p:cNvSpPr txBox="1"/>
          <p:nvPr/>
        </p:nvSpPr>
        <p:spPr>
          <a:xfrm>
            <a:off x="1651000" y="31115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160D3D"/>
                </a:solidFill>
                <a:latin typeface="Montserrat"/>
              </a:rPr>
              <a:t>Valeur dans un intervalle [min, max]</a:t>
            </a: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948C6D2D-5F3B-4FAE-B17C-04057CA46EA9}"/>
              </a:ext>
            </a:extLst>
          </p:cNvPr>
          <p:cNvSpPr/>
          <p:nvPr/>
        </p:nvSpPr>
        <p:spPr>
          <a:xfrm>
            <a:off x="508000" y="3670300"/>
            <a:ext cx="5842000" cy="889000"/>
          </a:xfrm>
          <a:prstGeom prst="roundRect">
            <a:avLst/>
          </a:prstGeom>
          <a:solidFill>
            <a:srgbClr val="F7F4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66167A64-1BB5-46C2-B24B-FFE856E2AB96}"/>
              </a:ext>
            </a:extLst>
          </p:cNvPr>
          <p:cNvSpPr/>
          <p:nvPr/>
        </p:nvSpPr>
        <p:spPr>
          <a:xfrm>
            <a:off x="711200" y="3822700"/>
            <a:ext cx="762000" cy="304800"/>
          </a:xfrm>
          <a:prstGeom prst="roundRect">
            <a:avLst/>
          </a:prstGeom>
          <a:solidFill>
            <a:srgbClr val="160D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A30E116E-3C60-42C3-88ED-3D1D278A0214}"/>
              </a:ext>
            </a:extLst>
          </p:cNvPr>
          <p:cNvSpPr txBox="1"/>
          <p:nvPr/>
        </p:nvSpPr>
        <p:spPr>
          <a:xfrm>
            <a:off x="711200" y="3860800"/>
            <a:ext cx="762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900" b="1">
                <a:solidFill>
                  <a:srgbClr val="FFFFFF"/>
                </a:solidFill>
                <a:latin typeface="Montserrat"/>
              </a:rPr>
              <a:t>UTILS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36BE927D-EC82-4D2F-9554-F16F3ACF72DB}"/>
              </a:ext>
            </a:extLst>
          </p:cNvPr>
          <p:cNvSpPr txBox="1"/>
          <p:nvPr/>
        </p:nvSpPr>
        <p:spPr>
          <a:xfrm>
            <a:off x="1651000" y="38354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b="1">
                <a:solidFill>
                  <a:srgbClr val="160D3D"/>
                </a:solidFill>
                <a:latin typeface="Montserrat"/>
              </a:rPr>
              <a:t>not_null_proportion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16B69EF2-6B6F-453A-ACD3-E0FB915FBFC0}"/>
              </a:ext>
            </a:extLst>
          </p:cNvPr>
          <p:cNvSpPr txBox="1"/>
          <p:nvPr/>
        </p:nvSpPr>
        <p:spPr>
          <a:xfrm>
            <a:off x="1651000" y="41529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160D3D"/>
                </a:solidFill>
                <a:latin typeface="Montserrat"/>
              </a:rPr>
              <a:t>Au moins X% de valeurs non nulles</a:t>
            </a:r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6D1FBCAD-0F60-4508-B9AF-225A868AE47E}"/>
              </a:ext>
            </a:extLst>
          </p:cNvPr>
          <p:cNvSpPr/>
          <p:nvPr/>
        </p:nvSpPr>
        <p:spPr>
          <a:xfrm>
            <a:off x="508000" y="4711700"/>
            <a:ext cx="5842000" cy="889000"/>
          </a:xfrm>
          <a:prstGeom prst="roundRect">
            <a:avLst/>
          </a:prstGeom>
          <a:solidFill>
            <a:srgbClr val="F7F4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1942BFD0-232E-4C7B-9ED1-1B43430C680D}"/>
              </a:ext>
            </a:extLst>
          </p:cNvPr>
          <p:cNvSpPr/>
          <p:nvPr/>
        </p:nvSpPr>
        <p:spPr>
          <a:xfrm>
            <a:off x="711200" y="4864100"/>
            <a:ext cx="762000" cy="304800"/>
          </a:xfrm>
          <a:prstGeom prst="roundRect">
            <a:avLst/>
          </a:prstGeom>
          <a:solidFill>
            <a:srgbClr val="160D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CFB6D3B7-FF8A-4B04-A651-6A0A07E72037}"/>
              </a:ext>
            </a:extLst>
          </p:cNvPr>
          <p:cNvSpPr txBox="1"/>
          <p:nvPr/>
        </p:nvSpPr>
        <p:spPr>
          <a:xfrm>
            <a:off x="711200" y="4902200"/>
            <a:ext cx="762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900" b="1">
                <a:solidFill>
                  <a:srgbClr val="FFFFFF"/>
                </a:solidFill>
                <a:latin typeface="Montserrat"/>
              </a:rPr>
              <a:t>UTILS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944588CC-CC3C-4D57-9E29-56E97023F0CE}"/>
              </a:ext>
            </a:extLst>
          </p:cNvPr>
          <p:cNvSpPr txBox="1"/>
          <p:nvPr/>
        </p:nvSpPr>
        <p:spPr>
          <a:xfrm>
            <a:off x="1651000" y="48768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b="1">
                <a:solidFill>
                  <a:srgbClr val="160D3D"/>
                </a:solidFill>
                <a:latin typeface="Montserrat"/>
              </a:rPr>
              <a:t>relationships_where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94037194-6713-4CFC-861F-727937B30CCF}"/>
              </a:ext>
            </a:extLst>
          </p:cNvPr>
          <p:cNvSpPr txBox="1"/>
          <p:nvPr/>
        </p:nvSpPr>
        <p:spPr>
          <a:xfrm>
            <a:off x="1651000" y="5194300"/>
            <a:ext cx="457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160D3D"/>
                </a:solidFill>
                <a:latin typeface="Montserrat"/>
              </a:rPr>
              <a:t>Intégrité référentielle avec condition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34FAC5C3-94CE-4DB3-9DF8-183EC834236C}"/>
              </a:ext>
            </a:extLst>
          </p:cNvPr>
          <p:cNvSpPr txBox="1"/>
          <p:nvPr/>
        </p:nvSpPr>
        <p:spPr>
          <a:xfrm>
            <a:off x="9260000" y="1905000"/>
            <a:ext cx="2387600" cy="2286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fr-FR" sz="800" b="1">
                <a:solidFill>
                  <a:srgbClr val="6B7BA8"/>
                </a:solidFill>
                <a:latin typeface="Montserrat"/>
              </a:rPr>
              <a:t>_STG__MODELS.YML</a:t>
            </a:r>
          </a:p>
        </p:txBody>
      </p:sp>
    </p:spTree>
    <p:extLst>
      <p:ext uri="{BB962C8B-B14F-4D97-AF65-F5344CB8AC3E}">
        <p14:creationId xmlns:p14="http://schemas.microsoft.com/office/powerpoint/2010/main" val="60136011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5"/>
          </p:nvPr>
        </p:nvSpPr>
        <p:spPr>
          <a:xfrm>
            <a:off x="508000" y="0"/>
            <a:ext cx="11176000" cy="760021"/>
          </a:xfrm>
        </p:spPr>
        <p:txBody>
          <a:bodyPr/>
          <a:lstStyle/>
          <a:p>
            <a:pPr algn="ctr"/>
            <a:r>
              <a:rPr sz="2200" b="1">
                <a:solidFill>
                  <a:srgbClr val="160D3D"/>
                </a:solidFill>
                <a:latin typeface="Montserrat"/>
              </a:rPr>
              <a:t>Tests dbt_expectations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00000" y="1701800"/>
            <a:ext cx="5200000" cy="3962400"/>
          </a:xfrm>
          <a:prstGeom prst="rect">
            <a:avLst/>
          </a:prstGeom>
          <a:solidFill>
            <a:srgbClr val="0A1730"/>
          </a:solidFill>
          <a:ln w="12700" cap="flat" cmpd="sng" algn="ctr">
            <a:noFill/>
            <a:prstDash val="solid"/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 anchorCtr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 lang="fr-FR" sz="900" i="1" dirty="0">
              <a:solidFill>
                <a:srgbClr val="6B7BA8"/>
              </a:solidFill>
              <a:latin typeface="Courier New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lang="fr-FR" sz="900" i="1" dirty="0">
              <a:solidFill>
                <a:srgbClr val="6B7BA8"/>
              </a:solidFill>
              <a:latin typeface="Courier New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lang="fr-FR" sz="900" i="1" dirty="0">
              <a:solidFill>
                <a:srgbClr val="6B7BA8"/>
              </a:solidFill>
              <a:latin typeface="Courier New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i="1" dirty="0">
                <a:solidFill>
                  <a:srgbClr val="6B7BA8"/>
                </a:solidFill>
                <a:latin typeface="Courier New"/>
              </a:rPr>
              <a:t># _marts__models.yml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b="1" dirty="0">
                <a:solidFill>
                  <a:srgbClr val="9D88FF"/>
                </a:solidFill>
                <a:latin typeface="Courier New"/>
              </a:rPr>
              <a:t>models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-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name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 fct_orders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columns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-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name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 net_amount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 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tests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    - dbt_expectations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      .expect_column_values_to_be_between: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       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min_value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 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       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max_value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 1000000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       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row_condition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 </a:t>
            </a:r>
            <a:r>
              <a:rPr lang="fr-FR" sz="900" dirty="0">
                <a:solidFill>
                  <a:srgbClr val="FFA76B"/>
                </a:solidFill>
                <a:latin typeface="Courier New"/>
              </a:rPr>
              <a:t>"order_status != 'F'"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-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name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 order_date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 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tests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    - dbt_expectations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      .expect_column_values_to_be_of_type: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       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column_type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 date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tests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- dbt_expectations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  .expect_table_row_count_to_be_between: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   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min_value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 1000000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   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max_value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 2000000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D115A0F-2B4D-4B66-BB4F-BC850A90F893}"/>
              </a:ext>
            </a:extLst>
          </p:cNvPr>
          <p:cNvSpPr txBox="1"/>
          <p:nvPr/>
        </p:nvSpPr>
        <p:spPr>
          <a:xfrm>
            <a:off x="508000" y="1079500"/>
            <a:ext cx="584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500" b="1">
                <a:solidFill>
                  <a:srgbClr val="160D3D"/>
                </a:solidFill>
                <a:latin typeface="Montserrat"/>
              </a:rPr>
              <a:t>Tests dbt_expectations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17B63C96-B363-4E79-BC18-A2C808955739}"/>
              </a:ext>
            </a:extLst>
          </p:cNvPr>
          <p:cNvSpPr/>
          <p:nvPr/>
        </p:nvSpPr>
        <p:spPr>
          <a:xfrm>
            <a:off x="508000" y="1587500"/>
            <a:ext cx="5842000" cy="889000"/>
          </a:xfrm>
          <a:prstGeom prst="roundRect">
            <a:avLst/>
          </a:prstGeom>
          <a:solidFill>
            <a:srgbClr val="F7F4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0968ECAB-B81D-45D4-AF7B-35F8EBE38789}"/>
              </a:ext>
            </a:extLst>
          </p:cNvPr>
          <p:cNvSpPr/>
          <p:nvPr/>
        </p:nvSpPr>
        <p:spPr>
          <a:xfrm>
            <a:off x="711200" y="1739900"/>
            <a:ext cx="1016000" cy="304800"/>
          </a:xfrm>
          <a:prstGeom prst="roundRect">
            <a:avLst/>
          </a:prstGeom>
          <a:solidFill>
            <a:srgbClr val="E879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77E679D9-1517-4B7A-BCEA-5787E956B780}"/>
              </a:ext>
            </a:extLst>
          </p:cNvPr>
          <p:cNvSpPr txBox="1"/>
          <p:nvPr/>
        </p:nvSpPr>
        <p:spPr>
          <a:xfrm>
            <a:off x="711200" y="1778000"/>
            <a:ext cx="1016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900" b="1">
                <a:solidFill>
                  <a:srgbClr val="FFFFFF"/>
                </a:solidFill>
                <a:latin typeface="Montserrat"/>
              </a:rPr>
              <a:t>EXPECT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C4C248AB-22F7-4950-AAD0-6BC9A993D25D}"/>
              </a:ext>
            </a:extLst>
          </p:cNvPr>
          <p:cNvSpPr txBox="1"/>
          <p:nvPr/>
        </p:nvSpPr>
        <p:spPr>
          <a:xfrm>
            <a:off x="1905000" y="1752600"/>
            <a:ext cx="431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160D3D"/>
                </a:solidFill>
                <a:latin typeface="Montserrat"/>
              </a:rPr>
              <a:t>expect_column_values_to_be_between</a:t>
            </a:r>
            <a:endParaRPr lang="fr-FR" sz="1100" b="1">
              <a:solidFill>
                <a:srgbClr val="160D3D"/>
              </a:solidFill>
              <a:latin typeface="Montserrat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CAA2F6F2-9850-4D08-9282-B637AB2963AE}"/>
              </a:ext>
            </a:extLst>
          </p:cNvPr>
          <p:cNvSpPr txBox="1"/>
          <p:nvPr/>
        </p:nvSpPr>
        <p:spPr>
          <a:xfrm>
            <a:off x="1905000" y="2070100"/>
            <a:ext cx="431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160D3D"/>
                </a:solidFill>
                <a:latin typeface="Montserrat"/>
              </a:rPr>
              <a:t>Bornes min/max avec row_condition optionnelle</a:t>
            </a: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C5E8F1D5-A163-485E-BC64-8DC19167E73F}"/>
              </a:ext>
            </a:extLst>
          </p:cNvPr>
          <p:cNvSpPr/>
          <p:nvPr/>
        </p:nvSpPr>
        <p:spPr>
          <a:xfrm>
            <a:off x="508000" y="2628900"/>
            <a:ext cx="5842000" cy="889000"/>
          </a:xfrm>
          <a:prstGeom prst="roundRect">
            <a:avLst/>
          </a:prstGeom>
          <a:solidFill>
            <a:srgbClr val="F7F4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A6815820-33FF-4949-9A09-5D7240DC83DE}"/>
              </a:ext>
            </a:extLst>
          </p:cNvPr>
          <p:cNvSpPr/>
          <p:nvPr/>
        </p:nvSpPr>
        <p:spPr>
          <a:xfrm>
            <a:off x="711200" y="2781300"/>
            <a:ext cx="1016000" cy="304800"/>
          </a:xfrm>
          <a:prstGeom prst="roundRect">
            <a:avLst/>
          </a:prstGeom>
          <a:solidFill>
            <a:srgbClr val="E879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A514F422-7553-4853-9F6F-D319B0CCF6BB}"/>
              </a:ext>
            </a:extLst>
          </p:cNvPr>
          <p:cNvSpPr txBox="1"/>
          <p:nvPr/>
        </p:nvSpPr>
        <p:spPr>
          <a:xfrm>
            <a:off x="711200" y="2819400"/>
            <a:ext cx="1016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900" b="1">
                <a:solidFill>
                  <a:srgbClr val="FFFFFF"/>
                </a:solidFill>
                <a:latin typeface="Montserrat"/>
              </a:rPr>
              <a:t>EXPECT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9A9C7F2A-F526-470F-ABF9-C7A3215597C3}"/>
              </a:ext>
            </a:extLst>
          </p:cNvPr>
          <p:cNvSpPr txBox="1"/>
          <p:nvPr/>
        </p:nvSpPr>
        <p:spPr>
          <a:xfrm>
            <a:off x="1905000" y="2794000"/>
            <a:ext cx="431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160D3D"/>
                </a:solidFill>
                <a:latin typeface="Montserrat"/>
              </a:rPr>
              <a:t>expect_column_values_to_be_of_type</a:t>
            </a:r>
            <a:endParaRPr lang="fr-FR" sz="1100" b="1">
              <a:solidFill>
                <a:srgbClr val="160D3D"/>
              </a:solidFill>
              <a:latin typeface="Montserrat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ACDDA71F-2167-43CB-B6B0-234A2A22122E}"/>
              </a:ext>
            </a:extLst>
          </p:cNvPr>
          <p:cNvSpPr txBox="1"/>
          <p:nvPr/>
        </p:nvSpPr>
        <p:spPr>
          <a:xfrm>
            <a:off x="1905000" y="3111500"/>
            <a:ext cx="431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160D3D"/>
                </a:solidFill>
                <a:latin typeface="Montserrat"/>
              </a:rPr>
              <a:t>Vérifie le type SQL d'une colonne (VARCHAR, NUMBER…)</a:t>
            </a: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080ECD46-112F-4E46-8FFF-2DEE46F80C1C}"/>
              </a:ext>
            </a:extLst>
          </p:cNvPr>
          <p:cNvSpPr/>
          <p:nvPr/>
        </p:nvSpPr>
        <p:spPr>
          <a:xfrm>
            <a:off x="508000" y="3670300"/>
            <a:ext cx="5842000" cy="889000"/>
          </a:xfrm>
          <a:prstGeom prst="roundRect">
            <a:avLst/>
          </a:prstGeom>
          <a:solidFill>
            <a:srgbClr val="F7F4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E260CA68-78B9-4A2A-AF53-1F58933CFC23}"/>
              </a:ext>
            </a:extLst>
          </p:cNvPr>
          <p:cNvSpPr/>
          <p:nvPr/>
        </p:nvSpPr>
        <p:spPr>
          <a:xfrm>
            <a:off x="711200" y="3822700"/>
            <a:ext cx="1016000" cy="304800"/>
          </a:xfrm>
          <a:prstGeom prst="roundRect">
            <a:avLst/>
          </a:prstGeom>
          <a:solidFill>
            <a:srgbClr val="E879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618D8EF0-BE2D-4C42-AEDB-CD5BACFB8D8B}"/>
              </a:ext>
            </a:extLst>
          </p:cNvPr>
          <p:cNvSpPr txBox="1"/>
          <p:nvPr/>
        </p:nvSpPr>
        <p:spPr>
          <a:xfrm>
            <a:off x="711200" y="3860800"/>
            <a:ext cx="1016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900" b="1">
                <a:solidFill>
                  <a:srgbClr val="FFFFFF"/>
                </a:solidFill>
                <a:latin typeface="Montserrat"/>
              </a:rPr>
              <a:t>EXPECT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A69B83B3-959F-41BD-8EDE-CB0F672B56F7}"/>
              </a:ext>
            </a:extLst>
          </p:cNvPr>
          <p:cNvSpPr txBox="1"/>
          <p:nvPr/>
        </p:nvSpPr>
        <p:spPr>
          <a:xfrm>
            <a:off x="1905000" y="3835400"/>
            <a:ext cx="431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160D3D"/>
                </a:solidFill>
                <a:latin typeface="Montserrat"/>
              </a:rPr>
              <a:t>expect_table_row_count_to_be_between</a:t>
            </a:r>
            <a:endParaRPr lang="fr-FR" sz="1100" b="1">
              <a:solidFill>
                <a:srgbClr val="160D3D"/>
              </a:solidFill>
              <a:latin typeface="Montserrat"/>
            </a:endParaRP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436EAE70-66DB-44A1-80D7-F9037517BA09}"/>
              </a:ext>
            </a:extLst>
          </p:cNvPr>
          <p:cNvSpPr txBox="1"/>
          <p:nvPr/>
        </p:nvSpPr>
        <p:spPr>
          <a:xfrm>
            <a:off x="1905000" y="4152900"/>
            <a:ext cx="431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160D3D"/>
                </a:solidFill>
                <a:latin typeface="Montserrat"/>
              </a:rPr>
              <a:t>Volume du dataset dans un intervalle attendu</a:t>
            </a:r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01C9538E-824F-4444-AFE2-722E3AC47F27}"/>
              </a:ext>
            </a:extLst>
          </p:cNvPr>
          <p:cNvSpPr/>
          <p:nvPr/>
        </p:nvSpPr>
        <p:spPr>
          <a:xfrm>
            <a:off x="508000" y="4711700"/>
            <a:ext cx="5842000" cy="889000"/>
          </a:xfrm>
          <a:prstGeom prst="roundRect">
            <a:avLst/>
          </a:prstGeom>
          <a:solidFill>
            <a:srgbClr val="F7F4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CEDCDA5A-83EC-4E24-B0A9-0C652FD24E5F}"/>
              </a:ext>
            </a:extLst>
          </p:cNvPr>
          <p:cNvSpPr/>
          <p:nvPr/>
        </p:nvSpPr>
        <p:spPr>
          <a:xfrm>
            <a:off x="711200" y="4864100"/>
            <a:ext cx="1016000" cy="304800"/>
          </a:xfrm>
          <a:prstGeom prst="roundRect">
            <a:avLst/>
          </a:prstGeom>
          <a:solidFill>
            <a:srgbClr val="E879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1573532F-1CEC-4209-8237-BAFD090504CE}"/>
              </a:ext>
            </a:extLst>
          </p:cNvPr>
          <p:cNvSpPr txBox="1"/>
          <p:nvPr/>
        </p:nvSpPr>
        <p:spPr>
          <a:xfrm>
            <a:off x="711200" y="4902200"/>
            <a:ext cx="1016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900" b="1">
                <a:solidFill>
                  <a:srgbClr val="FFFFFF"/>
                </a:solidFill>
                <a:latin typeface="Montserrat"/>
              </a:rPr>
              <a:t>EXPECT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24560AD9-3C49-4523-8EA1-31CCA5748C8E}"/>
              </a:ext>
            </a:extLst>
          </p:cNvPr>
          <p:cNvSpPr txBox="1"/>
          <p:nvPr/>
        </p:nvSpPr>
        <p:spPr>
          <a:xfrm>
            <a:off x="1905000" y="4876800"/>
            <a:ext cx="431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 b="1">
                <a:solidFill>
                  <a:srgbClr val="160D3D"/>
                </a:solidFill>
                <a:latin typeface="Montserrat"/>
              </a:rPr>
              <a:t>expect_compound_columns_to_be_unique</a:t>
            </a:r>
            <a:endParaRPr lang="fr-FR" sz="1100" b="1">
              <a:solidFill>
                <a:srgbClr val="160D3D"/>
              </a:solidFill>
              <a:latin typeface="Montserrat"/>
            </a:endParaRP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6E8FB2AB-2B63-40F5-ABDB-9BBFADEAB78E}"/>
              </a:ext>
            </a:extLst>
          </p:cNvPr>
          <p:cNvSpPr txBox="1"/>
          <p:nvPr/>
        </p:nvSpPr>
        <p:spPr>
          <a:xfrm>
            <a:off x="1905000" y="5194300"/>
            <a:ext cx="431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160D3D"/>
                </a:solidFill>
                <a:latin typeface="Montserrat"/>
              </a:rPr>
              <a:t>Unicité sur plusieurs colonnes combinées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002B1C69-F309-4366-9D43-FC50F33F783B}"/>
              </a:ext>
            </a:extLst>
          </p:cNvPr>
          <p:cNvSpPr txBox="1"/>
          <p:nvPr/>
        </p:nvSpPr>
        <p:spPr>
          <a:xfrm>
            <a:off x="9260000" y="1828800"/>
            <a:ext cx="2387600" cy="2286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fr-FR" sz="800" b="1">
                <a:solidFill>
                  <a:srgbClr val="6B7BA8"/>
                </a:solidFill>
                <a:latin typeface="Montserrat"/>
              </a:rPr>
              <a:t>_MARTS__MODELS.YML</a:t>
            </a:r>
          </a:p>
        </p:txBody>
      </p:sp>
    </p:spTree>
    <p:extLst>
      <p:ext uri="{BB962C8B-B14F-4D97-AF65-F5344CB8AC3E}">
        <p14:creationId xmlns:p14="http://schemas.microsoft.com/office/powerpoint/2010/main" val="40359831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5"/>
          </p:nvPr>
        </p:nvSpPr>
        <p:spPr>
          <a:xfrm>
            <a:off x="508000" y="0"/>
            <a:ext cx="11176000" cy="760021"/>
          </a:xfrm>
        </p:spPr>
        <p:txBody>
          <a:bodyPr/>
          <a:lstStyle/>
          <a:p>
            <a:pPr algn="ctr"/>
            <a:r>
              <a:rPr sz="2200" b="1">
                <a:solidFill>
                  <a:srgbClr val="160D3D"/>
                </a:solidFill>
                <a:latin typeface="Montserrat"/>
              </a:rPr>
              <a:t>Tests personnalises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00000" y="1549400"/>
            <a:ext cx="5200000" cy="4267200"/>
          </a:xfrm>
          <a:prstGeom prst="rect">
            <a:avLst/>
          </a:prstGeom>
          <a:solidFill>
            <a:srgbClr val="0A1730"/>
          </a:solidFill>
          <a:ln w="12700" cap="flat" cmpd="sng" algn="ctr">
            <a:noFill/>
            <a:prstDash val="solid"/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 anchorCtr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 lang="fr-FR" sz="900" i="1" dirty="0">
              <a:solidFill>
                <a:srgbClr val="6B7BA8"/>
              </a:solidFill>
              <a:latin typeface="Courier New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lang="fr-FR" sz="900" i="1" dirty="0">
              <a:solidFill>
                <a:srgbClr val="6B7BA8"/>
              </a:solidFill>
              <a:latin typeface="Courier New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lang="fr-FR" sz="900" i="1" dirty="0">
              <a:solidFill>
                <a:srgbClr val="6B7BA8"/>
              </a:solidFill>
              <a:latin typeface="Courier New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i="1" dirty="0">
                <a:solidFill>
                  <a:srgbClr val="6B7BA8"/>
                </a:solidFill>
                <a:latin typeface="Courier New"/>
              </a:rPr>
              <a:t>-- tests/singular/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i="1" dirty="0">
                <a:solidFill>
                  <a:srgbClr val="6B7BA8"/>
                </a:solidFill>
                <a:latin typeface="Courier New"/>
              </a:rPr>
              <a:t>--   assert_positive_order_totals.sql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b="1" dirty="0">
                <a:solidFill>
                  <a:srgbClr val="9D88FF"/>
                </a:solidFill>
                <a:latin typeface="Courier New"/>
              </a:rPr>
              <a:t>select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order_key, net_amount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b="1" dirty="0">
                <a:solidFill>
                  <a:srgbClr val="9D88FF"/>
                </a:solidFill>
                <a:latin typeface="Courier New"/>
              </a:rPr>
              <a:t>from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</a:t>
            </a:r>
            <a:r>
              <a:rPr lang="fr-FR" sz="900" b="1" dirty="0">
                <a:solidFill>
                  <a:srgbClr val="FFB873"/>
                </a:solidFill>
                <a:latin typeface="Courier New"/>
              </a:rPr>
              <a:t>{{ ref('fct_orders') }}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b="1" dirty="0">
                <a:solidFill>
                  <a:srgbClr val="9D88FF"/>
                </a:solidFill>
                <a:latin typeface="Courier New"/>
              </a:rPr>
              <a:t>where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net_amount &lt; </a:t>
            </a:r>
            <a:r>
              <a:rPr lang="fr-FR" sz="900" dirty="0">
                <a:solidFill>
                  <a:srgbClr val="FFA76B"/>
                </a:solidFill>
                <a:latin typeface="Courier New"/>
              </a:rPr>
              <a:t>0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i="1" dirty="0">
                <a:solidFill>
                  <a:srgbClr val="6B7BA8"/>
                </a:solidFill>
                <a:latin typeface="Courier New"/>
              </a:rPr>
              <a:t>-- tests/generic/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i="1" dirty="0">
                <a:solidFill>
                  <a:srgbClr val="6B7BA8"/>
                </a:solidFill>
                <a:latin typeface="Courier New"/>
              </a:rPr>
              <a:t>--   test_accepted_range.sql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{% test accepted_range(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model, column_name,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min_val, max_val) %}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b="1" dirty="0">
                <a:solidFill>
                  <a:srgbClr val="9D88FF"/>
                </a:solidFill>
                <a:latin typeface="Courier New"/>
              </a:rPr>
              <a:t>select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</a:t>
            </a:r>
            <a:r>
              <a:rPr lang="fr-FR" sz="900" b="1" dirty="0">
                <a:solidFill>
                  <a:srgbClr val="FFB873"/>
                </a:solidFill>
                <a:latin typeface="Courier New"/>
              </a:rPr>
              <a:t>{{ column_name }}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b="1" dirty="0">
                <a:solidFill>
                  <a:srgbClr val="9D88FF"/>
                </a:solidFill>
                <a:latin typeface="Courier New"/>
              </a:rPr>
              <a:t>from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</a:t>
            </a:r>
            <a:r>
              <a:rPr lang="fr-FR" sz="900" b="1" dirty="0">
                <a:solidFill>
                  <a:srgbClr val="FFB873"/>
                </a:solidFill>
                <a:latin typeface="Courier New"/>
              </a:rPr>
              <a:t>{{ model }}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b="1" dirty="0">
                <a:solidFill>
                  <a:srgbClr val="9D88FF"/>
                </a:solidFill>
                <a:latin typeface="Courier New"/>
              </a:rPr>
              <a:t>where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</a:t>
            </a:r>
            <a:r>
              <a:rPr lang="fr-FR" sz="900" b="1" dirty="0">
                <a:solidFill>
                  <a:srgbClr val="FFB873"/>
                </a:solidFill>
                <a:latin typeface="Courier New"/>
              </a:rPr>
              <a:t>{{ column_name }}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&lt; </a:t>
            </a:r>
            <a:r>
              <a:rPr lang="fr-FR" sz="900" b="1" dirty="0">
                <a:solidFill>
                  <a:srgbClr val="FFB873"/>
                </a:solidFill>
                <a:latin typeface="Courier New"/>
              </a:rPr>
              <a:t>{{ min_val }}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or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</a:t>
            </a:r>
            <a:r>
              <a:rPr lang="fr-FR" sz="900" b="1" dirty="0">
                <a:solidFill>
                  <a:srgbClr val="FFB873"/>
                </a:solidFill>
                <a:latin typeface="Courier New"/>
              </a:rPr>
              <a:t>{{ column_name }}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&gt; </a:t>
            </a:r>
            <a:r>
              <a:rPr lang="fr-FR" sz="900" b="1" dirty="0">
                <a:solidFill>
                  <a:srgbClr val="FFB873"/>
                </a:solidFill>
                <a:latin typeface="Courier New"/>
              </a:rPr>
              <a:t>{{ max_val }}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b="1" dirty="0">
                <a:solidFill>
                  <a:srgbClr val="FFB873"/>
                </a:solidFill>
                <a:latin typeface="Courier New"/>
              </a:rPr>
              <a:t>{% endtest %}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# Utilisation dans le YAML 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- name: quantity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tests: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- accepted_range: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  min_val: </a:t>
            </a:r>
            <a:r>
              <a:rPr lang="fr-FR" sz="900" dirty="0">
                <a:solidFill>
                  <a:srgbClr val="FFA76B"/>
                </a:solidFill>
                <a:latin typeface="Courier New"/>
              </a:rPr>
              <a:t>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  max_val: </a:t>
            </a:r>
            <a:r>
              <a:rPr lang="fr-FR" sz="900" dirty="0">
                <a:solidFill>
                  <a:srgbClr val="FFA76B"/>
                </a:solidFill>
                <a:latin typeface="Courier New"/>
              </a:rPr>
              <a:t>50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1F76040B-E270-4CEF-BF3A-E8FB8877ACCF}"/>
              </a:ext>
            </a:extLst>
          </p:cNvPr>
          <p:cNvSpPr txBox="1"/>
          <p:nvPr/>
        </p:nvSpPr>
        <p:spPr>
          <a:xfrm>
            <a:off x="508000" y="1079500"/>
            <a:ext cx="584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500" b="1">
                <a:solidFill>
                  <a:srgbClr val="160D3D"/>
                </a:solidFill>
                <a:latin typeface="Montserrat"/>
              </a:rPr>
              <a:t>Tests personnalisés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FAA36C3B-561B-4302-BF3E-F5BE24AA866C}"/>
              </a:ext>
            </a:extLst>
          </p:cNvPr>
          <p:cNvSpPr/>
          <p:nvPr/>
        </p:nvSpPr>
        <p:spPr>
          <a:xfrm>
            <a:off x="508000" y="1524000"/>
            <a:ext cx="5842000" cy="2032000"/>
          </a:xfrm>
          <a:prstGeom prst="roundRect">
            <a:avLst/>
          </a:prstGeom>
          <a:solidFill>
            <a:srgbClr val="F7F4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B6677EBF-F457-46D1-92C5-B36C1D2CBA82}"/>
              </a:ext>
            </a:extLst>
          </p:cNvPr>
          <p:cNvSpPr/>
          <p:nvPr/>
        </p:nvSpPr>
        <p:spPr>
          <a:xfrm>
            <a:off x="711200" y="1752600"/>
            <a:ext cx="1397000" cy="330200"/>
          </a:xfrm>
          <a:prstGeom prst="roundRect">
            <a:avLst/>
          </a:prstGeom>
          <a:solidFill>
            <a:srgbClr val="160D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7C6AAB17-9C3B-4E22-8D3C-D66019C5A720}"/>
              </a:ext>
            </a:extLst>
          </p:cNvPr>
          <p:cNvSpPr txBox="1"/>
          <p:nvPr/>
        </p:nvSpPr>
        <p:spPr>
          <a:xfrm>
            <a:off x="711200" y="1803400"/>
            <a:ext cx="1397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 b="1">
                <a:solidFill>
                  <a:srgbClr val="FFFFFF"/>
                </a:solidFill>
                <a:latin typeface="Montserrat"/>
              </a:rPr>
              <a:t>SINGULIER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3673F81C-4A43-4A6D-ACBE-A990EFE767D1}"/>
              </a:ext>
            </a:extLst>
          </p:cNvPr>
          <p:cNvSpPr txBox="1"/>
          <p:nvPr/>
        </p:nvSpPr>
        <p:spPr>
          <a:xfrm>
            <a:off x="2286000" y="1803400"/>
            <a:ext cx="254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E8792F"/>
                </a:solidFill>
                <a:latin typeface="Montserrat"/>
              </a:rPr>
              <a:t>tests/singular/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439C4065-7284-4B2E-AEE8-EBF8A1ED8022}"/>
              </a:ext>
            </a:extLst>
          </p:cNvPr>
          <p:cNvSpPr txBox="1"/>
          <p:nvPr/>
        </p:nvSpPr>
        <p:spPr>
          <a:xfrm>
            <a:off x="711200" y="2260600"/>
            <a:ext cx="546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300" b="1">
                <a:solidFill>
                  <a:srgbClr val="160D3D"/>
                </a:solidFill>
                <a:latin typeface="Montserrat"/>
              </a:rPr>
              <a:t>Tests singuliers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A1DFE4BF-5227-480C-A4A6-B8BE10364518}"/>
              </a:ext>
            </a:extLst>
          </p:cNvPr>
          <p:cNvSpPr txBox="1"/>
          <p:nvPr/>
        </p:nvSpPr>
        <p:spPr>
          <a:xfrm>
            <a:off x="711200" y="2603500"/>
            <a:ext cx="546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160D3D"/>
                </a:solidFill>
                <a:latin typeface="Montserrat"/>
              </a:rPr>
              <a:t>Fichier SQL unique qui retourne 0 ligne si OK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3DCCCC53-5CBA-4412-93D5-A6E2B1B8A2DD}"/>
              </a:ext>
            </a:extLst>
          </p:cNvPr>
          <p:cNvSpPr txBox="1"/>
          <p:nvPr/>
        </p:nvSpPr>
        <p:spPr>
          <a:xfrm>
            <a:off x="711200" y="2984500"/>
            <a:ext cx="546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>
                <a:solidFill>
                  <a:srgbClr val="5A4B7C"/>
                </a:solidFill>
                <a:latin typeface="Montserrat"/>
              </a:rPr>
              <a:t>→ 1 fichier = 1 test, lié à un modèle précis</a:t>
            </a: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B607DD88-C2EC-4CF0-B93D-E8A9672C3BB2}"/>
              </a:ext>
            </a:extLst>
          </p:cNvPr>
          <p:cNvSpPr/>
          <p:nvPr/>
        </p:nvSpPr>
        <p:spPr>
          <a:xfrm>
            <a:off x="508000" y="3746500"/>
            <a:ext cx="5842000" cy="2032000"/>
          </a:xfrm>
          <a:prstGeom prst="roundRect">
            <a:avLst/>
          </a:prstGeom>
          <a:solidFill>
            <a:srgbClr val="F7F4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0A0AA4CC-63D7-4AA3-9B20-39C8A8CBB1EE}"/>
              </a:ext>
            </a:extLst>
          </p:cNvPr>
          <p:cNvSpPr/>
          <p:nvPr/>
        </p:nvSpPr>
        <p:spPr>
          <a:xfrm>
            <a:off x="711200" y="3975100"/>
            <a:ext cx="1397000" cy="330200"/>
          </a:xfrm>
          <a:prstGeom prst="roundRect">
            <a:avLst/>
          </a:prstGeom>
          <a:solidFill>
            <a:srgbClr val="E879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84933A22-17AD-450C-8179-54459F022997}"/>
              </a:ext>
            </a:extLst>
          </p:cNvPr>
          <p:cNvSpPr txBox="1"/>
          <p:nvPr/>
        </p:nvSpPr>
        <p:spPr>
          <a:xfrm>
            <a:off x="711200" y="4025900"/>
            <a:ext cx="1397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 b="1">
                <a:solidFill>
                  <a:srgbClr val="FFFFFF"/>
                </a:solidFill>
                <a:latin typeface="Montserrat"/>
              </a:rPr>
              <a:t>GÉNÉRIQUE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F6C4DDFE-83A6-4B8A-8849-6D04DE5A23A8}"/>
              </a:ext>
            </a:extLst>
          </p:cNvPr>
          <p:cNvSpPr txBox="1"/>
          <p:nvPr/>
        </p:nvSpPr>
        <p:spPr>
          <a:xfrm>
            <a:off x="2286000" y="4025900"/>
            <a:ext cx="254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E8792F"/>
                </a:solidFill>
                <a:latin typeface="Montserrat"/>
              </a:rPr>
              <a:t>tests/generic/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47E962B7-AD6C-432A-92A9-1E4A7CFB496B}"/>
              </a:ext>
            </a:extLst>
          </p:cNvPr>
          <p:cNvSpPr txBox="1"/>
          <p:nvPr/>
        </p:nvSpPr>
        <p:spPr>
          <a:xfrm>
            <a:off x="711200" y="4483100"/>
            <a:ext cx="546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300" b="1">
                <a:solidFill>
                  <a:srgbClr val="160D3D"/>
                </a:solidFill>
                <a:latin typeface="Montserrat"/>
              </a:rPr>
              <a:t>Tests génériques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DD62EE5A-A63E-449F-8DE1-9D346148F77A}"/>
              </a:ext>
            </a:extLst>
          </p:cNvPr>
          <p:cNvSpPr txBox="1"/>
          <p:nvPr/>
        </p:nvSpPr>
        <p:spPr>
          <a:xfrm>
            <a:off x="711200" y="4826000"/>
            <a:ext cx="546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160D3D"/>
                </a:solidFill>
                <a:latin typeface="Montserrat"/>
              </a:rPr>
              <a:t>Macros Jinja réutilisables sur plusieurs modèles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C7F8638C-63C5-4660-A956-8181D41EBD75}"/>
              </a:ext>
            </a:extLst>
          </p:cNvPr>
          <p:cNvSpPr txBox="1"/>
          <p:nvPr/>
        </p:nvSpPr>
        <p:spPr>
          <a:xfrm>
            <a:off x="711200" y="5207000"/>
            <a:ext cx="546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>
                <a:solidFill>
                  <a:srgbClr val="5A4B7C"/>
                </a:solidFill>
                <a:latin typeface="Montserrat"/>
              </a:rPr>
              <a:t>→ Paramétrables (model, column_name…)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73BD244F-19F8-4F89-B2ED-ED8DFACEA439}"/>
              </a:ext>
            </a:extLst>
          </p:cNvPr>
          <p:cNvSpPr txBox="1"/>
          <p:nvPr/>
        </p:nvSpPr>
        <p:spPr>
          <a:xfrm>
            <a:off x="9260000" y="1676400"/>
            <a:ext cx="2387600" cy="2286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fr-FR" sz="800" b="1">
                <a:solidFill>
                  <a:srgbClr val="6B7BA8"/>
                </a:solidFill>
                <a:latin typeface="Montserrat"/>
              </a:rPr>
              <a:t>TESTS/SINGULAR/</a:t>
            </a:r>
          </a:p>
        </p:txBody>
      </p:sp>
    </p:spTree>
    <p:extLst>
      <p:ext uri="{BB962C8B-B14F-4D97-AF65-F5344CB8AC3E}">
        <p14:creationId xmlns:p14="http://schemas.microsoft.com/office/powerpoint/2010/main" val="14465473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5"/>
          </p:nvPr>
        </p:nvSpPr>
        <p:spPr>
          <a:xfrm>
            <a:off x="508000" y="0"/>
            <a:ext cx="11176000" cy="760021"/>
          </a:xfrm>
        </p:spPr>
        <p:txBody>
          <a:bodyPr/>
          <a:lstStyle/>
          <a:p>
            <a:pPr algn="ctr"/>
            <a:r>
              <a:rPr sz="2200" b="1">
                <a:solidFill>
                  <a:srgbClr val="160D3D"/>
                </a:solidFill>
                <a:latin typeface="Montserrat"/>
              </a:rPr>
              <a:t>Unit tests (dbt 1.8+)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00000" y="1397000"/>
            <a:ext cx="5200000" cy="4572000"/>
          </a:xfrm>
          <a:prstGeom prst="rect">
            <a:avLst/>
          </a:prstGeom>
          <a:solidFill>
            <a:srgbClr val="0A1730"/>
          </a:solidFill>
          <a:ln w="12700" cap="flat" cmpd="sng" algn="ctr">
            <a:noFill/>
            <a:prstDash val="solid"/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 anchorCtr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 lang="fr-FR" sz="900" i="1" dirty="0">
              <a:solidFill>
                <a:srgbClr val="6B7BA8"/>
              </a:solidFill>
              <a:latin typeface="Courier New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lang="fr-FR" sz="900" i="1" dirty="0">
              <a:solidFill>
                <a:srgbClr val="6B7BA8"/>
              </a:solidFill>
              <a:latin typeface="Courier New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lang="fr-FR" sz="900" i="1" dirty="0">
              <a:solidFill>
                <a:srgbClr val="6B7BA8"/>
              </a:solidFill>
              <a:latin typeface="Courier New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i="1" dirty="0">
                <a:solidFill>
                  <a:srgbClr val="6B7BA8"/>
                </a:solidFill>
                <a:latin typeface="Courier New"/>
              </a:rPr>
              <a:t># _marts__models.yml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b="1" dirty="0">
                <a:solidFill>
                  <a:srgbClr val="9D88FF"/>
                </a:solidFill>
                <a:latin typeface="Courier New"/>
              </a:rPr>
              <a:t>unit_tests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-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name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 test_clv_calculation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model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 agg_customer_lifetime_value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given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-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input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 ref(</a:t>
            </a:r>
            <a:r>
              <a:rPr lang="fr-FR" sz="900" dirty="0">
                <a:solidFill>
                  <a:srgbClr val="FFA76B"/>
                </a:solidFill>
                <a:latin typeface="Courier New"/>
              </a:rPr>
              <a:t>'fct_orders'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 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rows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    - {order_key: 100,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      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customer_key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 1,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      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net_amount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 500.00,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      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order_date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 </a:t>
            </a:r>
            <a:r>
              <a:rPr lang="fr-FR" sz="900" dirty="0">
                <a:solidFill>
                  <a:srgbClr val="FFA76B"/>
                </a:solidFill>
                <a:latin typeface="Courier New"/>
              </a:rPr>
              <a:t>"1995-01-01"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, ...}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    - {order_key: 101,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      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customer_key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 1,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      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net_amount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 300.00,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      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order_date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 </a:t>
            </a:r>
            <a:r>
              <a:rPr lang="fr-FR" sz="900" dirty="0">
                <a:solidFill>
                  <a:srgbClr val="FFA76B"/>
                </a:solidFill>
                <a:latin typeface="Courier New"/>
              </a:rPr>
              <a:t>"1995-06-01"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, ...}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-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input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 ref(</a:t>
            </a:r>
            <a:r>
              <a:rPr lang="fr-FR" sz="900" dirty="0">
                <a:solidFill>
                  <a:srgbClr val="FFA76B"/>
                </a:solidFill>
                <a:latin typeface="Courier New"/>
              </a:rPr>
              <a:t>'dim_customers'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 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rows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    - {customer_key: 1, ...}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expect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rows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  - {customer_key: 1,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    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total_orders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 2,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    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lifetime_value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 800.00}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$ dbt test --select test_type:unit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2559F3DD-F27B-4E22-B3BD-80A6976BF2F2}"/>
              </a:ext>
            </a:extLst>
          </p:cNvPr>
          <p:cNvSpPr txBox="1"/>
          <p:nvPr/>
        </p:nvSpPr>
        <p:spPr>
          <a:xfrm>
            <a:off x="508000" y="1079500"/>
            <a:ext cx="584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500" b="1">
                <a:solidFill>
                  <a:srgbClr val="160D3D"/>
                </a:solidFill>
                <a:latin typeface="Montserrat"/>
              </a:rPr>
              <a:t>Unit tests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1A880F00-B88D-4481-A41B-1459C20CC964}"/>
              </a:ext>
            </a:extLst>
          </p:cNvPr>
          <p:cNvSpPr/>
          <p:nvPr/>
        </p:nvSpPr>
        <p:spPr>
          <a:xfrm>
            <a:off x="2032000" y="1117600"/>
            <a:ext cx="1016000" cy="254000"/>
          </a:xfrm>
          <a:prstGeom prst="roundRect">
            <a:avLst/>
          </a:prstGeom>
          <a:solidFill>
            <a:srgbClr val="E879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7F904BB9-AEE7-4C0E-85D2-60500A86C2A4}"/>
              </a:ext>
            </a:extLst>
          </p:cNvPr>
          <p:cNvSpPr txBox="1"/>
          <p:nvPr/>
        </p:nvSpPr>
        <p:spPr>
          <a:xfrm>
            <a:off x="2032000" y="1143000"/>
            <a:ext cx="1016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900" b="1">
                <a:solidFill>
                  <a:srgbClr val="FFFFFF"/>
                </a:solidFill>
                <a:latin typeface="Montserrat"/>
              </a:rPr>
              <a:t>dbt 1.8+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2FAD6F13-9A2B-4A23-8F2E-2DD6CBE1647F}"/>
              </a:ext>
            </a:extLst>
          </p:cNvPr>
          <p:cNvSpPr/>
          <p:nvPr/>
        </p:nvSpPr>
        <p:spPr>
          <a:xfrm>
            <a:off x="508000" y="1524000"/>
            <a:ext cx="5842000" cy="1016000"/>
          </a:xfrm>
          <a:prstGeom prst="roundRect">
            <a:avLst/>
          </a:prstGeom>
          <a:solidFill>
            <a:srgbClr val="F7F4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44291DBC-7B14-4869-ABBB-FD1E9E088CE7}"/>
              </a:ext>
            </a:extLst>
          </p:cNvPr>
          <p:cNvSpPr txBox="1"/>
          <p:nvPr/>
        </p:nvSpPr>
        <p:spPr>
          <a:xfrm>
            <a:off x="711200" y="1651000"/>
            <a:ext cx="5461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b="1">
                <a:solidFill>
                  <a:srgbClr val="160D3D"/>
                </a:solidFill>
                <a:latin typeface="Montserrat"/>
              </a:rPr>
              <a:t>Principe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D151F067-3F42-46FE-A0EB-846FF0AA5C4E}"/>
              </a:ext>
            </a:extLst>
          </p:cNvPr>
          <p:cNvSpPr txBox="1"/>
          <p:nvPr/>
        </p:nvSpPr>
        <p:spPr>
          <a:xfrm>
            <a:off x="711200" y="1968500"/>
            <a:ext cx="546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160D3D"/>
                </a:solidFill>
                <a:latin typeface="Montserrat"/>
              </a:rPr>
              <a:t>Tester la logique SQL avec des données fictives, isolée de Snowflake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A6E4F640-7C8B-4EC5-A6AB-054ECBA1A3A4}"/>
              </a:ext>
            </a:extLst>
          </p:cNvPr>
          <p:cNvSpPr txBox="1"/>
          <p:nvPr/>
        </p:nvSpPr>
        <p:spPr>
          <a:xfrm>
            <a:off x="711200" y="2222500"/>
            <a:ext cx="546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160D3D"/>
                </a:solidFill>
                <a:latin typeface="Montserrat"/>
              </a:rPr>
              <a:t>Exécution rapide en CI, sans dépendre des données réelles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683B1A02-F0A0-4B81-AFF6-8701A65B9BE3}"/>
              </a:ext>
            </a:extLst>
          </p:cNvPr>
          <p:cNvSpPr/>
          <p:nvPr/>
        </p:nvSpPr>
        <p:spPr>
          <a:xfrm>
            <a:off x="508000" y="2730500"/>
            <a:ext cx="2794000" cy="2222500"/>
          </a:xfrm>
          <a:prstGeom prst="roundRect">
            <a:avLst/>
          </a:prstGeom>
          <a:solidFill>
            <a:srgbClr val="F7F4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C95497F9-85A3-4698-9D7F-5DE6AA474654}"/>
              </a:ext>
            </a:extLst>
          </p:cNvPr>
          <p:cNvSpPr/>
          <p:nvPr/>
        </p:nvSpPr>
        <p:spPr>
          <a:xfrm>
            <a:off x="711200" y="2921000"/>
            <a:ext cx="1016000" cy="330200"/>
          </a:xfrm>
          <a:prstGeom prst="roundRect">
            <a:avLst/>
          </a:prstGeom>
          <a:solidFill>
            <a:srgbClr val="160D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86F3A31C-87BC-482D-90D4-2A812B691DA2}"/>
              </a:ext>
            </a:extLst>
          </p:cNvPr>
          <p:cNvSpPr txBox="1"/>
          <p:nvPr/>
        </p:nvSpPr>
        <p:spPr>
          <a:xfrm>
            <a:off x="711200" y="2971800"/>
            <a:ext cx="1016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 b="1">
                <a:solidFill>
                  <a:srgbClr val="FFFFFF"/>
                </a:solidFill>
                <a:latin typeface="Montserrat"/>
              </a:rPr>
              <a:t>GIVEN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6D22DE26-0FE4-4739-83B4-F46F50A012F9}"/>
              </a:ext>
            </a:extLst>
          </p:cNvPr>
          <p:cNvSpPr txBox="1"/>
          <p:nvPr/>
        </p:nvSpPr>
        <p:spPr>
          <a:xfrm>
            <a:off x="711200" y="3365500"/>
            <a:ext cx="254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b="1">
                <a:solidFill>
                  <a:srgbClr val="160D3D"/>
                </a:solidFill>
                <a:latin typeface="Montserrat"/>
              </a:rPr>
              <a:t>Inputs mockés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ADDFCAD8-3A8B-452E-8B9B-70DCD8E3218A}"/>
              </a:ext>
            </a:extLst>
          </p:cNvPr>
          <p:cNvSpPr txBox="1"/>
          <p:nvPr/>
        </p:nvSpPr>
        <p:spPr>
          <a:xfrm>
            <a:off x="711200" y="3683000"/>
            <a:ext cx="254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>
                <a:solidFill>
                  <a:srgbClr val="160D3D"/>
                </a:solidFill>
                <a:latin typeface="Montserrat"/>
              </a:rPr>
              <a:t>ref() simulées, sources fictives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24B1B32C-5B5F-4B0F-9303-003D0F65F546}"/>
              </a:ext>
            </a:extLst>
          </p:cNvPr>
          <p:cNvSpPr txBox="1"/>
          <p:nvPr/>
        </p:nvSpPr>
        <p:spPr>
          <a:xfrm>
            <a:off x="711200" y="3975100"/>
            <a:ext cx="254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>
                <a:solidFill>
                  <a:srgbClr val="160D3D"/>
                </a:solidFill>
                <a:latin typeface="Montserrat"/>
              </a:rPr>
              <a:t>Format dict, csv ou sql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2B1D120C-BDD7-45C9-81A6-FFB1B43CB5E0}"/>
              </a:ext>
            </a:extLst>
          </p:cNvPr>
          <p:cNvSpPr txBox="1"/>
          <p:nvPr/>
        </p:nvSpPr>
        <p:spPr>
          <a:xfrm>
            <a:off x="711200" y="4267200"/>
            <a:ext cx="254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>
                <a:solidFill>
                  <a:srgbClr val="160D3D"/>
                </a:solidFill>
                <a:latin typeface="Montserrat"/>
              </a:rPr>
              <a:t>Définis ligne par ligne</a:t>
            </a:r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4E509860-C7CB-4912-A551-3B85059B9CE0}"/>
              </a:ext>
            </a:extLst>
          </p:cNvPr>
          <p:cNvSpPr/>
          <p:nvPr/>
        </p:nvSpPr>
        <p:spPr>
          <a:xfrm>
            <a:off x="3556000" y="2730500"/>
            <a:ext cx="2794000" cy="2222500"/>
          </a:xfrm>
          <a:prstGeom prst="roundRect">
            <a:avLst/>
          </a:prstGeom>
          <a:solidFill>
            <a:srgbClr val="F7F4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CFC6A602-4787-4E3D-8CB7-CB72357DD4FA}"/>
              </a:ext>
            </a:extLst>
          </p:cNvPr>
          <p:cNvSpPr/>
          <p:nvPr/>
        </p:nvSpPr>
        <p:spPr>
          <a:xfrm>
            <a:off x="3759200" y="2921000"/>
            <a:ext cx="1016000" cy="330200"/>
          </a:xfrm>
          <a:prstGeom prst="roundRect">
            <a:avLst/>
          </a:prstGeom>
          <a:solidFill>
            <a:srgbClr val="E879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BC4C0781-3E7E-4D03-8A0A-EBB9A9E3190B}"/>
              </a:ext>
            </a:extLst>
          </p:cNvPr>
          <p:cNvSpPr txBox="1"/>
          <p:nvPr/>
        </p:nvSpPr>
        <p:spPr>
          <a:xfrm>
            <a:off x="3759200" y="2971800"/>
            <a:ext cx="1016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 b="1">
                <a:solidFill>
                  <a:srgbClr val="FFFFFF"/>
                </a:solidFill>
                <a:latin typeface="Montserrat"/>
              </a:rPr>
              <a:t>EXPECT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569AE0D8-74CA-4EED-994D-B059DE5F3318}"/>
              </a:ext>
            </a:extLst>
          </p:cNvPr>
          <p:cNvSpPr txBox="1"/>
          <p:nvPr/>
        </p:nvSpPr>
        <p:spPr>
          <a:xfrm>
            <a:off x="3759200" y="3365500"/>
            <a:ext cx="254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b="1">
                <a:solidFill>
                  <a:srgbClr val="160D3D"/>
                </a:solidFill>
                <a:latin typeface="Montserrat"/>
              </a:rPr>
              <a:t>Résultat attendu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4A824F62-22E6-49C0-9823-EBD2E2FCCCEA}"/>
              </a:ext>
            </a:extLst>
          </p:cNvPr>
          <p:cNvSpPr txBox="1"/>
          <p:nvPr/>
        </p:nvSpPr>
        <p:spPr>
          <a:xfrm>
            <a:off x="3759200" y="3683000"/>
            <a:ext cx="254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>
                <a:solidFill>
                  <a:srgbClr val="160D3D"/>
                </a:solidFill>
                <a:latin typeface="Montserrat"/>
              </a:rPr>
              <a:t>Sortie exacte du modèle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BA91605E-99DE-4355-881B-EAE72BCE9384}"/>
              </a:ext>
            </a:extLst>
          </p:cNvPr>
          <p:cNvSpPr txBox="1"/>
          <p:nvPr/>
        </p:nvSpPr>
        <p:spPr>
          <a:xfrm>
            <a:off x="3759200" y="3975100"/>
            <a:ext cx="254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>
                <a:solidFill>
                  <a:srgbClr val="160D3D"/>
                </a:solidFill>
                <a:latin typeface="Montserrat"/>
              </a:rPr>
              <a:t>Comparaison ligne à ligne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0151BE69-3AD4-4654-8524-506C4F16276E}"/>
              </a:ext>
            </a:extLst>
          </p:cNvPr>
          <p:cNvSpPr txBox="1"/>
          <p:nvPr/>
        </p:nvSpPr>
        <p:spPr>
          <a:xfrm>
            <a:off x="3759200" y="4267200"/>
            <a:ext cx="254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>
                <a:solidFill>
                  <a:srgbClr val="160D3D"/>
                </a:solidFill>
                <a:latin typeface="Montserrat"/>
              </a:rPr>
              <a:t>Échec = données différentes</a:t>
            </a:r>
          </a:p>
        </p:txBody>
      </p:sp>
      <p:sp>
        <p:nvSpPr>
          <p:cNvPr id="26" name="Flèche : droite 25">
            <a:extLst>
              <a:ext uri="{FF2B5EF4-FFF2-40B4-BE49-F238E27FC236}">
                <a16:creationId xmlns:a16="http://schemas.microsoft.com/office/drawing/2014/main" id="{7EF8C031-7C25-4011-9C88-5770034A4E63}"/>
              </a:ext>
            </a:extLst>
          </p:cNvPr>
          <p:cNvSpPr/>
          <p:nvPr/>
        </p:nvSpPr>
        <p:spPr>
          <a:xfrm>
            <a:off x="3327400" y="3810000"/>
            <a:ext cx="203200" cy="254000"/>
          </a:xfrm>
          <a:prstGeom prst="rightArrow">
            <a:avLst/>
          </a:prstGeom>
          <a:solidFill>
            <a:srgbClr val="C9BDE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49D5EA58-7A21-4E05-811A-EE33A40D6C2B}"/>
              </a:ext>
            </a:extLst>
          </p:cNvPr>
          <p:cNvSpPr/>
          <p:nvPr/>
        </p:nvSpPr>
        <p:spPr>
          <a:xfrm>
            <a:off x="508000" y="5143500"/>
            <a:ext cx="5842000" cy="825500"/>
          </a:xfrm>
          <a:prstGeom prst="roundRect">
            <a:avLst/>
          </a:prstGeom>
          <a:solidFill>
            <a:srgbClr val="FFF0E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7196DAB0-C181-4C44-A20D-31236796C3BC}"/>
              </a:ext>
            </a:extLst>
          </p:cNvPr>
          <p:cNvSpPr txBox="1"/>
          <p:nvPr/>
        </p:nvSpPr>
        <p:spPr>
          <a:xfrm>
            <a:off x="711200" y="5308600"/>
            <a:ext cx="3175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b="1">
                <a:solidFill>
                  <a:srgbClr val="E8792F"/>
                </a:solidFill>
                <a:latin typeface="Montserrat"/>
              </a:rPr>
              <a:t>▶  dbt test --select &lt;model&gt;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5D9C00B5-C4DF-4192-BE2D-DD3D18715666}"/>
              </a:ext>
            </a:extLst>
          </p:cNvPr>
          <p:cNvSpPr txBox="1"/>
          <p:nvPr/>
        </p:nvSpPr>
        <p:spPr>
          <a:xfrm>
            <a:off x="711200" y="5613400"/>
            <a:ext cx="5461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>
                <a:solidFill>
                  <a:srgbClr val="160D3D"/>
                </a:solidFill>
                <a:latin typeface="Montserrat"/>
              </a:rPr>
              <a:t>Exécute tous les tests (génériques + singuliers + unit tests)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35D239E3-D287-45EB-A757-66843B0F65F3}"/>
              </a:ext>
            </a:extLst>
          </p:cNvPr>
          <p:cNvSpPr txBox="1"/>
          <p:nvPr/>
        </p:nvSpPr>
        <p:spPr>
          <a:xfrm>
            <a:off x="9260000" y="1524000"/>
            <a:ext cx="2387600" cy="2286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fr-FR" sz="800" b="1">
                <a:solidFill>
                  <a:srgbClr val="6B7BA8"/>
                </a:solidFill>
                <a:latin typeface="Montserrat"/>
              </a:rPr>
              <a:t>_MARTS__MODELS.YML</a:t>
            </a:r>
          </a:p>
        </p:txBody>
      </p:sp>
    </p:spTree>
    <p:extLst>
      <p:ext uri="{BB962C8B-B14F-4D97-AF65-F5344CB8AC3E}">
        <p14:creationId xmlns:p14="http://schemas.microsoft.com/office/powerpoint/2010/main" val="50940897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5"/>
          </p:nvPr>
        </p:nvSpPr>
        <p:spPr>
          <a:xfrm>
            <a:off x="508000" y="0"/>
            <a:ext cx="11176000" cy="760021"/>
          </a:xfrm>
        </p:spPr>
        <p:txBody>
          <a:bodyPr/>
          <a:lstStyle/>
          <a:p>
            <a:pPr algn="ctr"/>
            <a:r>
              <a:rPr sz="2200" b="1">
                <a:solidFill>
                  <a:srgbClr val="160D3D"/>
                </a:solidFill>
                <a:latin typeface="Montserrat"/>
              </a:rPr>
              <a:t>Exercice 4A</a:t>
            </a:r>
          </a:p>
        </p:txBody>
      </p:sp>
      <p:sp>
        <p:nvSpPr>
          <p:cNvPr id="39" name="Rectangle : coins arrondis 38">
            <a:extLst>
              <a:ext uri="{FF2B5EF4-FFF2-40B4-BE49-F238E27FC236}">
                <a16:creationId xmlns:a16="http://schemas.microsoft.com/office/drawing/2014/main" id="{B4FAA63B-3B4E-42FD-9583-C9A8D532C424}"/>
              </a:ext>
            </a:extLst>
          </p:cNvPr>
          <p:cNvSpPr/>
          <p:nvPr/>
        </p:nvSpPr>
        <p:spPr>
          <a:xfrm>
            <a:off x="508000" y="914400"/>
            <a:ext cx="11176000" cy="558800"/>
          </a:xfrm>
          <a:prstGeom prst="roundRect">
            <a:avLst/>
          </a:prstGeom>
          <a:solidFill>
            <a:srgbClr val="E879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470F99F8-AC60-4423-AF91-7A20F2016F26}"/>
              </a:ext>
            </a:extLst>
          </p:cNvPr>
          <p:cNvSpPr txBox="1"/>
          <p:nvPr/>
        </p:nvSpPr>
        <p:spPr>
          <a:xfrm>
            <a:off x="711200" y="990600"/>
            <a:ext cx="10922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 b="1">
                <a:solidFill>
                  <a:srgbClr val="FFFFFF"/>
                </a:solidFill>
                <a:latin typeface="Montserrat"/>
              </a:rPr>
              <a:t>EXERCICE 4A</a:t>
            </a:r>
          </a:p>
        </p:txBody>
      </p:sp>
      <p:sp>
        <p:nvSpPr>
          <p:cNvPr id="41" name="ZoneTexte 40">
            <a:extLst>
              <a:ext uri="{FF2B5EF4-FFF2-40B4-BE49-F238E27FC236}">
                <a16:creationId xmlns:a16="http://schemas.microsoft.com/office/drawing/2014/main" id="{C4B56D0B-3C21-4232-B2A6-1CE4E61BA9A6}"/>
              </a:ext>
            </a:extLst>
          </p:cNvPr>
          <p:cNvSpPr txBox="1"/>
          <p:nvPr/>
        </p:nvSpPr>
        <p:spPr>
          <a:xfrm>
            <a:off x="711200" y="1193800"/>
            <a:ext cx="10922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300" b="1">
                <a:solidFill>
                  <a:srgbClr val="FFFFFF"/>
                </a:solidFill>
                <a:latin typeface="Montserrat"/>
              </a:rPr>
              <a:t>Ecrire un test singulier</a:t>
            </a:r>
          </a:p>
        </p:txBody>
      </p:sp>
      <p:sp>
        <p:nvSpPr>
          <p:cNvPr id="42" name="Rectangle : coins arrondis 41">
            <a:extLst>
              <a:ext uri="{FF2B5EF4-FFF2-40B4-BE49-F238E27FC236}">
                <a16:creationId xmlns:a16="http://schemas.microsoft.com/office/drawing/2014/main" id="{73E555CB-D606-44BD-85E2-F1694DA226F8}"/>
              </a:ext>
            </a:extLst>
          </p:cNvPr>
          <p:cNvSpPr/>
          <p:nvPr/>
        </p:nvSpPr>
        <p:spPr>
          <a:xfrm>
            <a:off x="508000" y="1600200"/>
            <a:ext cx="11176000" cy="4597400"/>
          </a:xfrm>
          <a:prstGeom prst="roundRect">
            <a:avLst/>
          </a:prstGeom>
          <a:solidFill>
            <a:srgbClr val="F7F4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43" name="ZoneTexte 42">
            <a:extLst>
              <a:ext uri="{FF2B5EF4-FFF2-40B4-BE49-F238E27FC236}">
                <a16:creationId xmlns:a16="http://schemas.microsoft.com/office/drawing/2014/main" id="{DF5CB043-7D25-4797-BF8E-4FAD47064C71}"/>
              </a:ext>
            </a:extLst>
          </p:cNvPr>
          <p:cNvSpPr txBox="1"/>
          <p:nvPr/>
        </p:nvSpPr>
        <p:spPr>
          <a:xfrm>
            <a:off x="711200" y="1803400"/>
            <a:ext cx="1092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b="1">
                <a:solidFill>
                  <a:srgbClr val="160D3D"/>
                </a:solidFill>
                <a:latin typeface="Montserrat"/>
              </a:rPr>
              <a:t>Étapes</a:t>
            </a:r>
          </a:p>
        </p:txBody>
      </p:sp>
      <p:sp>
        <p:nvSpPr>
          <p:cNvPr id="44" name="Ellipse 43">
            <a:extLst>
              <a:ext uri="{FF2B5EF4-FFF2-40B4-BE49-F238E27FC236}">
                <a16:creationId xmlns:a16="http://schemas.microsoft.com/office/drawing/2014/main" id="{BB3A744E-9BA0-480A-8CDF-EBF919CB0F86}"/>
              </a:ext>
            </a:extLst>
          </p:cNvPr>
          <p:cNvSpPr/>
          <p:nvPr/>
        </p:nvSpPr>
        <p:spPr>
          <a:xfrm>
            <a:off x="711200" y="2717800"/>
            <a:ext cx="304800" cy="304800"/>
          </a:xfrm>
          <a:prstGeom prst="ellipse">
            <a:avLst/>
          </a:prstGeom>
          <a:solidFill>
            <a:srgbClr val="E879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fr-FR" sz="10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44820C01-47E4-4A06-9D29-539357FF9A67}"/>
              </a:ext>
            </a:extLst>
          </p:cNvPr>
          <p:cNvSpPr txBox="1"/>
          <p:nvPr/>
        </p:nvSpPr>
        <p:spPr>
          <a:xfrm>
            <a:off x="1168400" y="2730500"/>
            <a:ext cx="1016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>
                <a:solidFill>
                  <a:srgbClr val="160D3D"/>
                </a:solidFill>
                <a:latin typeface="Montserrat"/>
              </a:rPr>
              <a:t>Creer tests/singular/assert_positive_lifetime_value.sql</a:t>
            </a:r>
            <a:endParaRPr lang="fr-FR" sz="1200">
              <a:solidFill>
                <a:srgbClr val="160D3D"/>
              </a:solidFill>
              <a:latin typeface="Montserrat"/>
            </a:endParaRPr>
          </a:p>
        </p:txBody>
      </p:sp>
      <p:sp>
        <p:nvSpPr>
          <p:cNvPr id="46" name="Ellipse 45">
            <a:extLst>
              <a:ext uri="{FF2B5EF4-FFF2-40B4-BE49-F238E27FC236}">
                <a16:creationId xmlns:a16="http://schemas.microsoft.com/office/drawing/2014/main" id="{3817A8E4-ABAA-416C-A081-EEBCC2B87BCE}"/>
              </a:ext>
            </a:extLst>
          </p:cNvPr>
          <p:cNvSpPr/>
          <p:nvPr/>
        </p:nvSpPr>
        <p:spPr>
          <a:xfrm>
            <a:off x="711200" y="3276606"/>
            <a:ext cx="304800" cy="304800"/>
          </a:xfrm>
          <a:prstGeom prst="ellipse">
            <a:avLst/>
          </a:prstGeom>
          <a:solidFill>
            <a:srgbClr val="E879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fr-FR" sz="10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47" name="ZoneTexte 46">
            <a:extLst>
              <a:ext uri="{FF2B5EF4-FFF2-40B4-BE49-F238E27FC236}">
                <a16:creationId xmlns:a16="http://schemas.microsoft.com/office/drawing/2014/main" id="{33059231-9DA3-48DC-AB13-D2FC3EAD8691}"/>
              </a:ext>
            </a:extLst>
          </p:cNvPr>
          <p:cNvSpPr txBox="1"/>
          <p:nvPr/>
        </p:nvSpPr>
        <p:spPr>
          <a:xfrm>
            <a:off x="1168400" y="3293791"/>
            <a:ext cx="1016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dirty="0">
                <a:solidFill>
                  <a:srgbClr val="160D3D"/>
                </a:solidFill>
                <a:latin typeface="Montserrat"/>
              </a:rPr>
              <a:t>Le test doit </a:t>
            </a:r>
            <a:r>
              <a:rPr lang="fr-FR" sz="1200" dirty="0" err="1">
                <a:solidFill>
                  <a:srgbClr val="160D3D"/>
                </a:solidFill>
                <a:latin typeface="Montserrat"/>
              </a:rPr>
              <a:t>verifier</a:t>
            </a:r>
            <a:r>
              <a:rPr lang="fr-FR" sz="1200" dirty="0">
                <a:solidFill>
                  <a:srgbClr val="160D3D"/>
                </a:solidFill>
                <a:latin typeface="Montserrat"/>
              </a:rPr>
              <a:t> qu'aucun client n'a une </a:t>
            </a:r>
            <a:r>
              <a:rPr lang="fr-FR" sz="1200" dirty="0" err="1">
                <a:solidFill>
                  <a:srgbClr val="160D3D"/>
                </a:solidFill>
                <a:latin typeface="Montserrat"/>
              </a:rPr>
              <a:t>lifetime_value</a:t>
            </a:r>
            <a:r>
              <a:rPr lang="fr-FR" sz="1200" dirty="0">
                <a:solidFill>
                  <a:srgbClr val="160D3D"/>
                </a:solidFill>
                <a:latin typeface="Montserrat"/>
              </a:rPr>
              <a:t> </a:t>
            </a:r>
            <a:r>
              <a:rPr lang="fr-FR" sz="1200" dirty="0" err="1">
                <a:solidFill>
                  <a:srgbClr val="160D3D"/>
                </a:solidFill>
                <a:latin typeface="Montserrat"/>
              </a:rPr>
              <a:t>negative</a:t>
            </a:r>
            <a:endParaRPr lang="fr-FR" sz="1200" dirty="0">
              <a:solidFill>
                <a:srgbClr val="160D3D"/>
              </a:solidFill>
              <a:latin typeface="Montserrat"/>
            </a:endParaRPr>
          </a:p>
        </p:txBody>
      </p:sp>
      <p:sp>
        <p:nvSpPr>
          <p:cNvPr id="48" name="Ellipse 47">
            <a:extLst>
              <a:ext uri="{FF2B5EF4-FFF2-40B4-BE49-F238E27FC236}">
                <a16:creationId xmlns:a16="http://schemas.microsoft.com/office/drawing/2014/main" id="{EA90BEA0-F044-4F08-9008-112B98FF1BE2}"/>
              </a:ext>
            </a:extLst>
          </p:cNvPr>
          <p:cNvSpPr/>
          <p:nvPr/>
        </p:nvSpPr>
        <p:spPr>
          <a:xfrm>
            <a:off x="711200" y="3862307"/>
            <a:ext cx="304800" cy="304800"/>
          </a:xfrm>
          <a:prstGeom prst="ellipse">
            <a:avLst/>
          </a:prstGeom>
          <a:solidFill>
            <a:srgbClr val="E879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fr-FR" sz="1000" b="1" dirty="0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49" name="ZoneTexte 48">
            <a:extLst>
              <a:ext uri="{FF2B5EF4-FFF2-40B4-BE49-F238E27FC236}">
                <a16:creationId xmlns:a16="http://schemas.microsoft.com/office/drawing/2014/main" id="{BF29FC6E-B40D-4E30-AE6E-ED0A902C4A0D}"/>
              </a:ext>
            </a:extLst>
          </p:cNvPr>
          <p:cNvSpPr txBox="1"/>
          <p:nvPr/>
        </p:nvSpPr>
        <p:spPr>
          <a:xfrm>
            <a:off x="1168400" y="3892924"/>
            <a:ext cx="10160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dirty="0">
                <a:solidFill>
                  <a:srgbClr val="160D3D"/>
                </a:solidFill>
                <a:latin typeface="Montserrat"/>
              </a:rPr>
              <a:t>Lancer : </a:t>
            </a:r>
            <a:r>
              <a:rPr lang="fr-FR" sz="1200" dirty="0" err="1">
                <a:solidFill>
                  <a:srgbClr val="160D3D"/>
                </a:solidFill>
                <a:latin typeface="Montserrat"/>
              </a:rPr>
              <a:t>dbt</a:t>
            </a:r>
            <a:r>
              <a:rPr lang="fr-FR" sz="1200" dirty="0">
                <a:solidFill>
                  <a:srgbClr val="160D3D"/>
                </a:solidFill>
                <a:latin typeface="Montserrat"/>
              </a:rPr>
              <a:t> test --select </a:t>
            </a:r>
            <a:r>
              <a:rPr lang="fr-FR" sz="1200" dirty="0" err="1">
                <a:solidFill>
                  <a:srgbClr val="160D3D"/>
                </a:solidFill>
                <a:latin typeface="Montserrat"/>
              </a:rPr>
              <a:t>assert_positive_lifetime_value</a:t>
            </a:r>
            <a:r>
              <a:rPr lang="fr-FR" sz="1200" dirty="0">
                <a:solidFill>
                  <a:srgbClr val="160D3D"/>
                </a:solidFill>
                <a:latin typeface="Montserrat"/>
              </a:rPr>
              <a:t>. Le test doit passer (0 lignes </a:t>
            </a:r>
            <a:r>
              <a:rPr lang="fr-FR" sz="1200" dirty="0" err="1">
                <a:solidFill>
                  <a:srgbClr val="160D3D"/>
                </a:solidFill>
                <a:latin typeface="Montserrat"/>
              </a:rPr>
              <a:t>retournees</a:t>
            </a:r>
            <a:r>
              <a:rPr lang="fr-FR" sz="1200" dirty="0">
                <a:solidFill>
                  <a:srgbClr val="160D3D"/>
                </a:solidFill>
                <a:latin typeface="Montserrat"/>
              </a:rPr>
              <a:t>).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5"/>
          </p:nvPr>
        </p:nvSpPr>
        <p:spPr>
          <a:xfrm>
            <a:off x="508000" y="0"/>
            <a:ext cx="11176000" cy="760021"/>
          </a:xfrm>
        </p:spPr>
        <p:txBody>
          <a:bodyPr/>
          <a:lstStyle/>
          <a:p>
            <a:pPr algn="ctr"/>
            <a:r>
              <a:rPr sz="2200" b="1">
                <a:solidFill>
                  <a:srgbClr val="160D3D"/>
                </a:solidFill>
                <a:latin typeface="Montserrat"/>
              </a:rPr>
              <a:t>Exercice 4B</a:t>
            </a:r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B18D2043-60BD-4064-B7F3-8EC2345C046B}"/>
              </a:ext>
            </a:extLst>
          </p:cNvPr>
          <p:cNvSpPr/>
          <p:nvPr/>
        </p:nvSpPr>
        <p:spPr>
          <a:xfrm>
            <a:off x="508000" y="1358900"/>
            <a:ext cx="11176000" cy="558800"/>
          </a:xfrm>
          <a:prstGeom prst="roundRect">
            <a:avLst/>
          </a:prstGeom>
          <a:solidFill>
            <a:srgbClr val="E879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4887F9D3-3C96-40EE-93B3-A09099F54B3C}"/>
              </a:ext>
            </a:extLst>
          </p:cNvPr>
          <p:cNvSpPr txBox="1"/>
          <p:nvPr/>
        </p:nvSpPr>
        <p:spPr>
          <a:xfrm>
            <a:off x="711200" y="1435100"/>
            <a:ext cx="10922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 b="1">
                <a:solidFill>
                  <a:srgbClr val="FFFFFF"/>
                </a:solidFill>
                <a:latin typeface="Montserrat"/>
              </a:rPr>
              <a:t>EXERCICE 4B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6529C5B9-63BC-41A5-BF78-BC41754EBD30}"/>
              </a:ext>
            </a:extLst>
          </p:cNvPr>
          <p:cNvSpPr txBox="1"/>
          <p:nvPr/>
        </p:nvSpPr>
        <p:spPr>
          <a:xfrm>
            <a:off x="711200" y="1638300"/>
            <a:ext cx="10922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300" b="1">
                <a:solidFill>
                  <a:srgbClr val="FFFFFF"/>
                </a:solidFill>
                <a:latin typeface="Montserrat"/>
              </a:rPr>
              <a:t>Ecrire un unit test</a:t>
            </a:r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51936FCD-7390-48C3-AFD6-4BA39483F539}"/>
              </a:ext>
            </a:extLst>
          </p:cNvPr>
          <p:cNvSpPr/>
          <p:nvPr/>
        </p:nvSpPr>
        <p:spPr>
          <a:xfrm>
            <a:off x="508000" y="2044700"/>
            <a:ext cx="11176000" cy="3403600"/>
          </a:xfrm>
          <a:prstGeom prst="roundRect">
            <a:avLst/>
          </a:prstGeom>
          <a:solidFill>
            <a:srgbClr val="F7F4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76828E40-5830-47BB-A2B4-F9EEFAEF2E09}"/>
              </a:ext>
            </a:extLst>
          </p:cNvPr>
          <p:cNvSpPr txBox="1"/>
          <p:nvPr/>
        </p:nvSpPr>
        <p:spPr>
          <a:xfrm>
            <a:off x="711200" y="2171700"/>
            <a:ext cx="10922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b="1">
                <a:solidFill>
                  <a:srgbClr val="160D3D"/>
                </a:solidFill>
                <a:latin typeface="Montserrat"/>
              </a:rPr>
              <a:t>Étapes</a:t>
            </a:r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FC8F8F29-B01F-496B-AB8D-0FA19605A0C2}"/>
              </a:ext>
            </a:extLst>
          </p:cNvPr>
          <p:cNvSpPr/>
          <p:nvPr/>
        </p:nvSpPr>
        <p:spPr>
          <a:xfrm>
            <a:off x="711200" y="2667000"/>
            <a:ext cx="279400" cy="279400"/>
          </a:xfrm>
          <a:prstGeom prst="ellipse">
            <a:avLst/>
          </a:prstGeom>
          <a:solidFill>
            <a:srgbClr val="E879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fr-FR" sz="10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D40EF185-61EE-491F-85B6-D29F47998659}"/>
              </a:ext>
            </a:extLst>
          </p:cNvPr>
          <p:cNvSpPr txBox="1"/>
          <p:nvPr/>
        </p:nvSpPr>
        <p:spPr>
          <a:xfrm>
            <a:off x="1117600" y="2679700"/>
            <a:ext cx="1016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160D3D"/>
                </a:solidFill>
                <a:latin typeface="Montserrat"/>
              </a:rPr>
              <a:t>Ajouter un unit test pour agg_supplier_performance</a:t>
            </a:r>
          </a:p>
        </p:txBody>
      </p:sp>
      <p:sp>
        <p:nvSpPr>
          <p:cNvPr id="28" name="Ellipse 27">
            <a:extLst>
              <a:ext uri="{FF2B5EF4-FFF2-40B4-BE49-F238E27FC236}">
                <a16:creationId xmlns:a16="http://schemas.microsoft.com/office/drawing/2014/main" id="{2D2DD50F-81F1-4C80-B291-55AB2D53D30E}"/>
              </a:ext>
            </a:extLst>
          </p:cNvPr>
          <p:cNvSpPr/>
          <p:nvPr/>
        </p:nvSpPr>
        <p:spPr>
          <a:xfrm>
            <a:off x="711200" y="3225800"/>
            <a:ext cx="279400" cy="279400"/>
          </a:xfrm>
          <a:prstGeom prst="ellipse">
            <a:avLst/>
          </a:prstGeom>
          <a:solidFill>
            <a:srgbClr val="E879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fr-FR" sz="10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CF51EA38-81CD-4274-BA07-8D7B44F88C60}"/>
              </a:ext>
            </a:extLst>
          </p:cNvPr>
          <p:cNvSpPr txBox="1"/>
          <p:nvPr/>
        </p:nvSpPr>
        <p:spPr>
          <a:xfrm>
            <a:off x="1117600" y="3238500"/>
            <a:ext cx="1016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160D3D"/>
                </a:solidFill>
                <a:latin typeface="Montserrat"/>
              </a:rPr>
              <a:t>Verifier le calcul du return_rate</a:t>
            </a:r>
          </a:p>
        </p:txBody>
      </p:sp>
      <p:sp>
        <p:nvSpPr>
          <p:cNvPr id="30" name="Ellipse 29">
            <a:extLst>
              <a:ext uri="{FF2B5EF4-FFF2-40B4-BE49-F238E27FC236}">
                <a16:creationId xmlns:a16="http://schemas.microsoft.com/office/drawing/2014/main" id="{A26429C7-6AF6-47CD-97DF-AD6C0DF9742D}"/>
              </a:ext>
            </a:extLst>
          </p:cNvPr>
          <p:cNvSpPr/>
          <p:nvPr/>
        </p:nvSpPr>
        <p:spPr>
          <a:xfrm>
            <a:off x="711200" y="3784600"/>
            <a:ext cx="279400" cy="279400"/>
          </a:xfrm>
          <a:prstGeom prst="ellipse">
            <a:avLst/>
          </a:prstGeom>
          <a:solidFill>
            <a:srgbClr val="E879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fr-FR" sz="10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E395F37B-6D84-485E-9864-1F655C69CD78}"/>
              </a:ext>
            </a:extLst>
          </p:cNvPr>
          <p:cNvSpPr txBox="1"/>
          <p:nvPr/>
        </p:nvSpPr>
        <p:spPr>
          <a:xfrm>
            <a:off x="1117600" y="3797300"/>
            <a:ext cx="1016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160D3D"/>
                </a:solidFill>
                <a:latin typeface="Montserrat"/>
              </a:rPr>
              <a:t>Mock : 2 lignes dont 1 avec return_flag = 'R'</a:t>
            </a:r>
          </a:p>
        </p:txBody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6F98F733-84ED-46B6-8B2D-D1164E25D2DB}"/>
              </a:ext>
            </a:extLst>
          </p:cNvPr>
          <p:cNvSpPr/>
          <p:nvPr/>
        </p:nvSpPr>
        <p:spPr>
          <a:xfrm>
            <a:off x="711200" y="4343400"/>
            <a:ext cx="279400" cy="279400"/>
          </a:xfrm>
          <a:prstGeom prst="ellipse">
            <a:avLst/>
          </a:prstGeom>
          <a:solidFill>
            <a:srgbClr val="E879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fr-FR" sz="1000" b="1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924CDE3B-36C6-4AE5-A2B6-2251236EC60E}"/>
              </a:ext>
            </a:extLst>
          </p:cNvPr>
          <p:cNvSpPr txBox="1"/>
          <p:nvPr/>
        </p:nvSpPr>
        <p:spPr>
          <a:xfrm>
            <a:off x="1117600" y="4356100"/>
            <a:ext cx="1016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160D3D"/>
                </a:solidFill>
                <a:latin typeface="Montserrat"/>
              </a:rPr>
              <a:t>Attendu : return_rate = 0.5</a:t>
            </a:r>
          </a:p>
        </p:txBody>
      </p:sp>
      <p:sp>
        <p:nvSpPr>
          <p:cNvPr id="34" name="Ellipse 33">
            <a:extLst>
              <a:ext uri="{FF2B5EF4-FFF2-40B4-BE49-F238E27FC236}">
                <a16:creationId xmlns:a16="http://schemas.microsoft.com/office/drawing/2014/main" id="{9203C510-D358-44FB-A49D-0B7D2213D9B5}"/>
              </a:ext>
            </a:extLst>
          </p:cNvPr>
          <p:cNvSpPr/>
          <p:nvPr/>
        </p:nvSpPr>
        <p:spPr>
          <a:xfrm>
            <a:off x="711200" y="4902200"/>
            <a:ext cx="279400" cy="279400"/>
          </a:xfrm>
          <a:prstGeom prst="ellipse">
            <a:avLst/>
          </a:prstGeom>
          <a:solidFill>
            <a:srgbClr val="E879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fr-FR" sz="1000" b="1">
                <a:solidFill>
                  <a:srgbClr val="FFFFFF"/>
                </a:solidFill>
                <a:latin typeface="Montserrat"/>
              </a:rPr>
              <a:t>5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434BCEA6-AEF0-4E2C-8487-2B4D991B0E6A}"/>
              </a:ext>
            </a:extLst>
          </p:cNvPr>
          <p:cNvSpPr txBox="1"/>
          <p:nvPr/>
        </p:nvSpPr>
        <p:spPr>
          <a:xfrm>
            <a:off x="1117600" y="4914900"/>
            <a:ext cx="1016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>
                <a:solidFill>
                  <a:srgbClr val="160D3D"/>
                </a:solidFill>
                <a:latin typeface="Montserrat"/>
              </a:rPr>
              <a:t>Lancer : dbt test --select test_type:unit</a:t>
            </a:r>
            <a:endParaRPr lang="fr-FR" sz="1100">
              <a:solidFill>
                <a:srgbClr val="160D3D"/>
              </a:solidFill>
              <a:latin typeface="Montserrat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A2C08-A5AB-566B-9647-26D4C7C00E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08F4BA8E-5CB5-0132-20B0-7A86EB03C4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7700"/>
            <a:ext cx="12192000" cy="5562600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83785AB-6D39-7750-E5E0-5369669C830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8000" y="0"/>
            <a:ext cx="11176000" cy="760021"/>
          </a:xfrm>
        </p:spPr>
        <p:txBody>
          <a:bodyPr/>
          <a:lstStyle/>
          <a:p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3FA4719-69AC-045A-2F85-ACE7CC4847AC}"/>
              </a:ext>
            </a:extLst>
          </p:cNvPr>
          <p:cNvSpPr txBox="1"/>
          <p:nvPr/>
        </p:nvSpPr>
        <p:spPr>
          <a:xfrm>
            <a:off x="1143753" y="2203730"/>
            <a:ext cx="3000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0" b="1" dirty="0">
                <a:solidFill>
                  <a:schemeClr val="bg1"/>
                </a:solidFill>
                <a:latin typeface="Montserrat"/>
              </a:rPr>
              <a:t>0</a:t>
            </a:r>
            <a:r>
              <a:rPr lang="fr-FR" sz="12000" b="1" dirty="0">
                <a:solidFill>
                  <a:schemeClr val="bg1"/>
                </a:solidFill>
                <a:latin typeface="Montserrat"/>
              </a:rPr>
              <a:t>5</a:t>
            </a:r>
            <a:endParaRPr sz="12000" b="1" dirty="0">
              <a:solidFill>
                <a:schemeClr val="bg1"/>
              </a:solidFill>
              <a:latin typeface="Montserra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009A5C-5F3F-11F4-F792-F25FC89A2234}"/>
              </a:ext>
            </a:extLst>
          </p:cNvPr>
          <p:cNvSpPr txBox="1"/>
          <p:nvPr/>
        </p:nvSpPr>
        <p:spPr>
          <a:xfrm>
            <a:off x="3965846" y="2819009"/>
            <a:ext cx="7800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fr-FR" sz="4400" b="1" dirty="0">
                <a:solidFill>
                  <a:schemeClr val="bg1"/>
                </a:solidFill>
              </a:rPr>
              <a:t>Modélisation avancée</a:t>
            </a:r>
          </a:p>
        </p:txBody>
      </p:sp>
    </p:spTree>
    <p:extLst>
      <p:ext uri="{BB962C8B-B14F-4D97-AF65-F5344CB8AC3E}">
        <p14:creationId xmlns:p14="http://schemas.microsoft.com/office/powerpoint/2010/main" val="16718674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5"/>
          </p:nvPr>
        </p:nvSpPr>
        <p:spPr>
          <a:xfrm>
            <a:off x="508000" y="0"/>
            <a:ext cx="11176000" cy="760021"/>
          </a:xfrm>
        </p:spPr>
        <p:txBody>
          <a:bodyPr/>
          <a:lstStyle/>
          <a:p>
            <a:pPr algn="ctr"/>
            <a:r>
              <a:rPr sz="2200" b="1">
                <a:solidFill>
                  <a:srgbClr val="160D3D"/>
                </a:solidFill>
                <a:latin typeface="Montserrat"/>
              </a:rPr>
              <a:t>Seeds et fonction doc()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00000" y="1930400"/>
            <a:ext cx="5200000" cy="3492500"/>
          </a:xfrm>
          <a:prstGeom prst="rect">
            <a:avLst/>
          </a:prstGeom>
          <a:solidFill>
            <a:srgbClr val="0A1730"/>
          </a:solidFill>
          <a:ln w="12700" cap="flat" cmpd="sng" algn="ctr">
            <a:noFill/>
            <a:prstDash val="solid"/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 anchorCtr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 lang="fr-FR" sz="900" i="1" dirty="0">
              <a:solidFill>
                <a:srgbClr val="6B7BA8"/>
              </a:solidFill>
              <a:latin typeface="Courier New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lang="fr-FR" sz="900" i="1" dirty="0">
              <a:solidFill>
                <a:srgbClr val="6B7BA8"/>
              </a:solidFill>
              <a:latin typeface="Courier New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lang="fr-FR" sz="900" i="1" dirty="0">
              <a:solidFill>
                <a:srgbClr val="6B7BA8"/>
              </a:solidFill>
              <a:latin typeface="Courier New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i="1" dirty="0">
                <a:solidFill>
                  <a:srgbClr val="6B7BA8"/>
                </a:solidFill>
                <a:latin typeface="Courier New"/>
              </a:rPr>
              <a:t># seeds/order_priority_mapping.csv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order_priority,priority_label,rank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FFA76B"/>
                </a:solidFill>
                <a:latin typeface="Courier New"/>
              </a:rPr>
              <a:t>1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-URGENT,Urgent,</a:t>
            </a:r>
            <a:r>
              <a:rPr lang="fr-FR" sz="900" dirty="0">
                <a:solidFill>
                  <a:srgbClr val="FFA76B"/>
                </a:solidFill>
                <a:latin typeface="Courier New"/>
              </a:rPr>
              <a:t>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FFA76B"/>
                </a:solidFill>
                <a:latin typeface="Courier New"/>
              </a:rPr>
              <a:t>2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-HIGH,High,</a:t>
            </a:r>
            <a:r>
              <a:rPr lang="fr-FR" sz="900" dirty="0">
                <a:solidFill>
                  <a:srgbClr val="FFA76B"/>
                </a:solidFill>
                <a:latin typeface="Courier New"/>
              </a:rPr>
              <a:t>2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FFA76B"/>
                </a:solidFill>
                <a:latin typeface="Courier New"/>
              </a:rPr>
              <a:t>3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-MEDIUM,Medium,</a:t>
            </a:r>
            <a:r>
              <a:rPr lang="fr-FR" sz="900" dirty="0">
                <a:solidFill>
                  <a:srgbClr val="FFA76B"/>
                </a:solidFill>
                <a:latin typeface="Courier New"/>
              </a:rPr>
              <a:t>3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FFA76B"/>
                </a:solidFill>
                <a:latin typeface="Courier New"/>
              </a:rPr>
              <a:t>4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-NOT SPECIFIED,Not Specified,</a:t>
            </a:r>
            <a:r>
              <a:rPr lang="fr-FR" sz="900" dirty="0">
                <a:solidFill>
                  <a:srgbClr val="FFA76B"/>
                </a:solidFill>
                <a:latin typeface="Courier New"/>
              </a:rPr>
              <a:t>4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FFA76B"/>
                </a:solidFill>
                <a:latin typeface="Courier New"/>
              </a:rPr>
              <a:t>5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-LOW,Low,</a:t>
            </a:r>
            <a:r>
              <a:rPr lang="fr-FR" sz="900" dirty="0">
                <a:solidFill>
                  <a:srgbClr val="FFA76B"/>
                </a:solidFill>
                <a:latin typeface="Courier New"/>
              </a:rPr>
              <a:t>5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b="1" dirty="0">
                <a:solidFill>
                  <a:srgbClr val="6B7BA8"/>
                </a:solidFill>
                <a:latin typeface="Courier New"/>
              </a:rPr>
              <a:t>$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dbt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seed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i="1" dirty="0">
                <a:solidFill>
                  <a:srgbClr val="6B7BA8"/>
                </a:solidFill>
                <a:latin typeface="Courier New"/>
              </a:rPr>
              <a:t># _stg__docs.md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{% docs order_status %}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- **F** = Fulfilled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- **O** = Open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- **P** = Partial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{% enddocs %}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i="1" dirty="0">
                <a:solidFill>
                  <a:srgbClr val="6B7BA8"/>
                </a:solidFill>
                <a:latin typeface="Courier New"/>
              </a:rPr>
              <a:t># YAML : {{ doc('order_status') }}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C2CB0F7-50DD-4D79-82F9-6B21778D31BE}"/>
              </a:ext>
            </a:extLst>
          </p:cNvPr>
          <p:cNvSpPr txBox="1"/>
          <p:nvPr/>
        </p:nvSpPr>
        <p:spPr>
          <a:xfrm>
            <a:off x="508000" y="1079500"/>
            <a:ext cx="584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500" b="1">
                <a:solidFill>
                  <a:srgbClr val="160D3D"/>
                </a:solidFill>
                <a:latin typeface="Montserrat"/>
              </a:rPr>
              <a:t>Seeds et fonction doc()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1D2AB35E-452E-4D7F-9193-387985C6A030}"/>
              </a:ext>
            </a:extLst>
          </p:cNvPr>
          <p:cNvSpPr/>
          <p:nvPr/>
        </p:nvSpPr>
        <p:spPr>
          <a:xfrm>
            <a:off x="508000" y="1524000"/>
            <a:ext cx="5842000" cy="2095500"/>
          </a:xfrm>
          <a:prstGeom prst="roundRect">
            <a:avLst/>
          </a:prstGeom>
          <a:solidFill>
            <a:srgbClr val="F7F4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E7F50974-8DF1-4F45-B638-6F56076881D1}"/>
              </a:ext>
            </a:extLst>
          </p:cNvPr>
          <p:cNvSpPr/>
          <p:nvPr/>
        </p:nvSpPr>
        <p:spPr>
          <a:xfrm>
            <a:off x="711200" y="1714500"/>
            <a:ext cx="1016000" cy="330200"/>
          </a:xfrm>
          <a:prstGeom prst="roundRect">
            <a:avLst/>
          </a:prstGeom>
          <a:solidFill>
            <a:srgbClr val="160D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5CCFD7C3-6255-4FBC-AEA2-35450956063C}"/>
              </a:ext>
            </a:extLst>
          </p:cNvPr>
          <p:cNvSpPr txBox="1"/>
          <p:nvPr/>
        </p:nvSpPr>
        <p:spPr>
          <a:xfrm>
            <a:off x="711200" y="1765300"/>
            <a:ext cx="1016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 b="1">
                <a:solidFill>
                  <a:srgbClr val="FFFFFF"/>
                </a:solidFill>
                <a:latin typeface="Montserrat"/>
              </a:rPr>
              <a:t>SEEDS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41637C34-1A30-460E-AE9D-D4576FBDE6C9}"/>
              </a:ext>
            </a:extLst>
          </p:cNvPr>
          <p:cNvSpPr txBox="1"/>
          <p:nvPr/>
        </p:nvSpPr>
        <p:spPr>
          <a:xfrm>
            <a:off x="1905000" y="1752600"/>
            <a:ext cx="431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b="1">
                <a:solidFill>
                  <a:srgbClr val="160D3D"/>
                </a:solidFill>
                <a:latin typeface="Montserrat"/>
              </a:rPr>
              <a:t>Fichiers CSV → tables Snowflake</a:t>
            </a: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D14E674F-AC0B-4FED-8E58-2A2E00B03B63}"/>
              </a:ext>
            </a:extLst>
          </p:cNvPr>
          <p:cNvSpPr/>
          <p:nvPr/>
        </p:nvSpPr>
        <p:spPr>
          <a:xfrm>
            <a:off x="711200" y="2260600"/>
            <a:ext cx="1397000" cy="457200"/>
          </a:xfrm>
          <a:prstGeom prst="roundRect">
            <a:avLst/>
          </a:prstGeom>
          <a:solidFill>
            <a:srgbClr val="E8E3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72142BA2-B5FA-4C18-BFD2-45C7C060F17F}"/>
              </a:ext>
            </a:extLst>
          </p:cNvPr>
          <p:cNvSpPr txBox="1"/>
          <p:nvPr/>
        </p:nvSpPr>
        <p:spPr>
          <a:xfrm>
            <a:off x="711200" y="2374900"/>
            <a:ext cx="1397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 b="1">
                <a:solidFill>
                  <a:srgbClr val="160D3D"/>
                </a:solidFill>
                <a:latin typeface="Montserrat"/>
              </a:rPr>
              <a:t>seeds/*.csv</a:t>
            </a:r>
          </a:p>
        </p:txBody>
      </p:sp>
      <p:sp>
        <p:nvSpPr>
          <p:cNvPr id="12" name="Flèche : droite 11">
            <a:extLst>
              <a:ext uri="{FF2B5EF4-FFF2-40B4-BE49-F238E27FC236}">
                <a16:creationId xmlns:a16="http://schemas.microsoft.com/office/drawing/2014/main" id="{8F3B7B9E-2F99-41B2-A07E-D38481592158}"/>
              </a:ext>
            </a:extLst>
          </p:cNvPr>
          <p:cNvSpPr/>
          <p:nvPr/>
        </p:nvSpPr>
        <p:spPr>
          <a:xfrm>
            <a:off x="2184400" y="2362200"/>
            <a:ext cx="304800" cy="254000"/>
          </a:xfrm>
          <a:prstGeom prst="rightArrow">
            <a:avLst/>
          </a:prstGeom>
          <a:solidFill>
            <a:srgbClr val="C9BDE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9BC5B144-98E8-4378-AD20-178A4B8EE383}"/>
              </a:ext>
            </a:extLst>
          </p:cNvPr>
          <p:cNvSpPr/>
          <p:nvPr/>
        </p:nvSpPr>
        <p:spPr>
          <a:xfrm>
            <a:off x="2565400" y="2260600"/>
            <a:ext cx="1397000" cy="457200"/>
          </a:xfrm>
          <a:prstGeom prst="roundRect">
            <a:avLst/>
          </a:prstGeom>
          <a:solidFill>
            <a:srgbClr val="160D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DF777A65-937C-4032-AA5A-D37FD3589BD3}"/>
              </a:ext>
            </a:extLst>
          </p:cNvPr>
          <p:cNvSpPr txBox="1"/>
          <p:nvPr/>
        </p:nvSpPr>
        <p:spPr>
          <a:xfrm>
            <a:off x="2565400" y="2374900"/>
            <a:ext cx="1397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 b="1">
                <a:solidFill>
                  <a:srgbClr val="FFFFFF"/>
                </a:solidFill>
                <a:latin typeface="Montserrat"/>
              </a:rPr>
              <a:t>dbt seed</a:t>
            </a:r>
          </a:p>
        </p:txBody>
      </p:sp>
      <p:sp>
        <p:nvSpPr>
          <p:cNvPr id="15" name="Flèche : droite 14">
            <a:extLst>
              <a:ext uri="{FF2B5EF4-FFF2-40B4-BE49-F238E27FC236}">
                <a16:creationId xmlns:a16="http://schemas.microsoft.com/office/drawing/2014/main" id="{F280766C-DE02-4FC6-9D85-44189D8A252D}"/>
              </a:ext>
            </a:extLst>
          </p:cNvPr>
          <p:cNvSpPr/>
          <p:nvPr/>
        </p:nvSpPr>
        <p:spPr>
          <a:xfrm>
            <a:off x="4038600" y="2362200"/>
            <a:ext cx="304800" cy="254000"/>
          </a:xfrm>
          <a:prstGeom prst="rightArrow">
            <a:avLst/>
          </a:prstGeom>
          <a:solidFill>
            <a:srgbClr val="C9BDE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E9DCB133-E4F0-4416-9C52-573C6E047B38}"/>
              </a:ext>
            </a:extLst>
          </p:cNvPr>
          <p:cNvSpPr/>
          <p:nvPr/>
        </p:nvSpPr>
        <p:spPr>
          <a:xfrm>
            <a:off x="4419600" y="2260600"/>
            <a:ext cx="1778000" cy="457200"/>
          </a:xfrm>
          <a:prstGeom prst="roundRect">
            <a:avLst/>
          </a:prstGeom>
          <a:solidFill>
            <a:srgbClr val="E879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C493EF5B-7DA8-4AC1-853B-C60A5A18F1A5}"/>
              </a:ext>
            </a:extLst>
          </p:cNvPr>
          <p:cNvSpPr txBox="1"/>
          <p:nvPr/>
        </p:nvSpPr>
        <p:spPr>
          <a:xfrm>
            <a:off x="4419600" y="2374900"/>
            <a:ext cx="1778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 b="1">
                <a:solidFill>
                  <a:srgbClr val="FFFFFF"/>
                </a:solidFill>
                <a:latin typeface="Montserrat"/>
              </a:rPr>
              <a:t>Table de référence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8DCE0ADD-04F7-42C4-ACE6-6EE3A79DE936}"/>
              </a:ext>
            </a:extLst>
          </p:cNvPr>
          <p:cNvSpPr txBox="1"/>
          <p:nvPr/>
        </p:nvSpPr>
        <p:spPr>
          <a:xfrm>
            <a:off x="711200" y="2921000"/>
            <a:ext cx="546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>
                <a:solidFill>
                  <a:srgbClr val="5A4B7C"/>
                </a:solidFill>
                <a:latin typeface="Montserrat"/>
              </a:rPr>
              <a:t>Idéal pour les mappings, référentiels statiques (codes pays, libellés…)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252EEB3E-D89C-4B4F-AE66-E7EA0619F37A}"/>
              </a:ext>
            </a:extLst>
          </p:cNvPr>
          <p:cNvSpPr txBox="1"/>
          <p:nvPr/>
        </p:nvSpPr>
        <p:spPr>
          <a:xfrm>
            <a:off x="711200" y="3213100"/>
            <a:ext cx="546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>
                <a:solidFill>
                  <a:srgbClr val="5A4B7C"/>
                </a:solidFill>
                <a:latin typeface="Montserrat"/>
              </a:rPr>
              <a:t>À versionner avec le code (vs source dynamique)</a:t>
            </a:r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43F14752-858F-4AE5-A6F9-B382F7E5AF6B}"/>
              </a:ext>
            </a:extLst>
          </p:cNvPr>
          <p:cNvSpPr/>
          <p:nvPr/>
        </p:nvSpPr>
        <p:spPr>
          <a:xfrm>
            <a:off x="508000" y="3873500"/>
            <a:ext cx="5842000" cy="2095500"/>
          </a:xfrm>
          <a:prstGeom prst="roundRect">
            <a:avLst/>
          </a:prstGeom>
          <a:solidFill>
            <a:srgbClr val="FFF0E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A8C9357B-FDA7-466B-A789-6AFC6F0BB469}"/>
              </a:ext>
            </a:extLst>
          </p:cNvPr>
          <p:cNvSpPr/>
          <p:nvPr/>
        </p:nvSpPr>
        <p:spPr>
          <a:xfrm>
            <a:off x="711200" y="4064000"/>
            <a:ext cx="1016000" cy="330200"/>
          </a:xfrm>
          <a:prstGeom prst="roundRect">
            <a:avLst/>
          </a:prstGeom>
          <a:solidFill>
            <a:srgbClr val="E879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498576E7-D4A9-4C58-A641-F6A344013808}"/>
              </a:ext>
            </a:extLst>
          </p:cNvPr>
          <p:cNvSpPr txBox="1"/>
          <p:nvPr/>
        </p:nvSpPr>
        <p:spPr>
          <a:xfrm>
            <a:off x="711200" y="4114800"/>
            <a:ext cx="1016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 b="1">
                <a:solidFill>
                  <a:srgbClr val="FFFFFF"/>
                </a:solidFill>
                <a:latin typeface="Montserrat"/>
              </a:rPr>
              <a:t>DOC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4406922B-104A-4BDC-935D-18126171960B}"/>
              </a:ext>
            </a:extLst>
          </p:cNvPr>
          <p:cNvSpPr txBox="1"/>
          <p:nvPr/>
        </p:nvSpPr>
        <p:spPr>
          <a:xfrm>
            <a:off x="1905000" y="4102100"/>
            <a:ext cx="4318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b="1">
                <a:solidFill>
                  <a:srgbClr val="160D3D"/>
                </a:solidFill>
                <a:latin typeface="Montserrat"/>
              </a:rPr>
              <a:t>Fonction {{ doc(...) }}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E9682DF3-7A20-48AD-B7A9-7AB9695FB098}"/>
              </a:ext>
            </a:extLst>
          </p:cNvPr>
          <p:cNvSpPr txBox="1"/>
          <p:nvPr/>
        </p:nvSpPr>
        <p:spPr>
          <a:xfrm>
            <a:off x="711200" y="4546600"/>
            <a:ext cx="5461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160D3D"/>
                </a:solidFill>
                <a:latin typeface="Montserrat"/>
              </a:rPr>
              <a:t>Centralise les descriptions longues dans des fichiers Markdown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CF0D035B-A952-4575-BD79-878E7FD88223}"/>
              </a:ext>
            </a:extLst>
          </p:cNvPr>
          <p:cNvSpPr txBox="1"/>
          <p:nvPr/>
        </p:nvSpPr>
        <p:spPr>
          <a:xfrm>
            <a:off x="762000" y="4927600"/>
            <a:ext cx="1524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 b="1">
                <a:solidFill>
                  <a:srgbClr val="E8792F"/>
                </a:solidFill>
                <a:latin typeface="Montserrat"/>
              </a:rPr>
              <a:t>•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28EC9518-E2BB-4582-AA1E-4084A99AE67F}"/>
              </a:ext>
            </a:extLst>
          </p:cNvPr>
          <p:cNvSpPr txBox="1"/>
          <p:nvPr/>
        </p:nvSpPr>
        <p:spPr>
          <a:xfrm>
            <a:off x="952500" y="4927600"/>
            <a:ext cx="1651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 b="1">
                <a:solidFill>
                  <a:srgbClr val="160D3D"/>
                </a:solidFill>
                <a:latin typeface="Montserrat"/>
              </a:rPr>
              <a:t>docs/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93F48B7D-B157-42BE-905A-8CB97E70325A}"/>
              </a:ext>
            </a:extLst>
          </p:cNvPr>
          <p:cNvSpPr txBox="1"/>
          <p:nvPr/>
        </p:nvSpPr>
        <p:spPr>
          <a:xfrm>
            <a:off x="2730500" y="4927600"/>
            <a:ext cx="34925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>
                <a:solidFill>
                  <a:srgbClr val="160D3D"/>
                </a:solidFill>
                <a:latin typeface="Montserrat"/>
              </a:rPr>
              <a:t>Dossier dédié à la documentation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F613A1A7-9BCA-41D4-BD21-7493C2CC6C06}"/>
              </a:ext>
            </a:extLst>
          </p:cNvPr>
          <p:cNvSpPr txBox="1"/>
          <p:nvPr/>
        </p:nvSpPr>
        <p:spPr>
          <a:xfrm>
            <a:off x="762000" y="5257800"/>
            <a:ext cx="1524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 b="1">
                <a:solidFill>
                  <a:srgbClr val="E8792F"/>
                </a:solidFill>
                <a:latin typeface="Montserrat"/>
              </a:rPr>
              <a:t>•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7CD99E7C-39A8-47C8-8D6F-89B834A7B027}"/>
              </a:ext>
            </a:extLst>
          </p:cNvPr>
          <p:cNvSpPr txBox="1"/>
          <p:nvPr/>
        </p:nvSpPr>
        <p:spPr>
          <a:xfrm>
            <a:off x="952500" y="5257800"/>
            <a:ext cx="1651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 b="1">
                <a:solidFill>
                  <a:srgbClr val="160D3D"/>
                </a:solidFill>
                <a:latin typeface="Montserrat"/>
              </a:rPr>
              <a:t>{% docs ... %}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63427469-1D6F-4907-AF6C-0429F7380A6E}"/>
              </a:ext>
            </a:extLst>
          </p:cNvPr>
          <p:cNvSpPr txBox="1"/>
          <p:nvPr/>
        </p:nvSpPr>
        <p:spPr>
          <a:xfrm>
            <a:off x="2730500" y="5257800"/>
            <a:ext cx="34925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>
                <a:solidFill>
                  <a:srgbClr val="160D3D"/>
                </a:solidFill>
                <a:latin typeface="Montserrat"/>
              </a:rPr>
              <a:t>Bloc de doc nommé, réutilisable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96364F3D-C495-4FA5-BF14-0DD64638B42B}"/>
              </a:ext>
            </a:extLst>
          </p:cNvPr>
          <p:cNvSpPr txBox="1"/>
          <p:nvPr/>
        </p:nvSpPr>
        <p:spPr>
          <a:xfrm>
            <a:off x="762000" y="5588000"/>
            <a:ext cx="1524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 b="1">
                <a:solidFill>
                  <a:srgbClr val="E8792F"/>
                </a:solidFill>
                <a:latin typeface="Montserrat"/>
              </a:rPr>
              <a:t>•</a:t>
            </a: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6038621B-76FF-48F1-A461-AB6CED411A15}"/>
              </a:ext>
            </a:extLst>
          </p:cNvPr>
          <p:cNvSpPr txBox="1"/>
          <p:nvPr/>
        </p:nvSpPr>
        <p:spPr>
          <a:xfrm>
            <a:off x="952500" y="5588000"/>
            <a:ext cx="1651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 b="1">
                <a:solidFill>
                  <a:srgbClr val="160D3D"/>
                </a:solidFill>
                <a:latin typeface="Montserrat"/>
              </a:rPr>
              <a:t>{{ doc('nom') }}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F676E26B-AAF0-439F-930A-25B7C3BC0FD7}"/>
              </a:ext>
            </a:extLst>
          </p:cNvPr>
          <p:cNvSpPr txBox="1"/>
          <p:nvPr/>
        </p:nvSpPr>
        <p:spPr>
          <a:xfrm>
            <a:off x="2730500" y="5588000"/>
            <a:ext cx="34925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>
                <a:solidFill>
                  <a:srgbClr val="160D3D"/>
                </a:solidFill>
                <a:latin typeface="Montserrat"/>
              </a:rPr>
              <a:t>Référencement depuis les YAML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C92DB646-2E68-455D-9B64-54C107D0ADE5}"/>
              </a:ext>
            </a:extLst>
          </p:cNvPr>
          <p:cNvSpPr txBox="1"/>
          <p:nvPr/>
        </p:nvSpPr>
        <p:spPr>
          <a:xfrm>
            <a:off x="9260000" y="2057400"/>
            <a:ext cx="2387600" cy="2286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fr-FR" sz="800" b="1">
                <a:solidFill>
                  <a:srgbClr val="6B7BA8"/>
                </a:solidFill>
                <a:latin typeface="Montserrat"/>
              </a:rPr>
              <a:t>SEEDS/</a:t>
            </a:r>
          </a:p>
        </p:txBody>
      </p:sp>
    </p:spTree>
    <p:extLst>
      <p:ext uri="{BB962C8B-B14F-4D97-AF65-F5344CB8AC3E}">
        <p14:creationId xmlns:p14="http://schemas.microsoft.com/office/powerpoint/2010/main" val="251910234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5"/>
          </p:nvPr>
        </p:nvSpPr>
        <p:spPr>
          <a:xfrm>
            <a:off x="508000" y="0"/>
            <a:ext cx="11176000" cy="760021"/>
          </a:xfrm>
        </p:spPr>
        <p:txBody>
          <a:bodyPr/>
          <a:lstStyle/>
          <a:p>
            <a:pPr algn="ctr"/>
            <a:r>
              <a:rPr sz="2200" b="1">
                <a:solidFill>
                  <a:srgbClr val="160D3D"/>
                </a:solidFill>
                <a:latin typeface="Montserrat"/>
              </a:rPr>
              <a:t>Exercice 5A</a:t>
            </a:r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585631CC-B0CC-4419-9BB9-FA588A217412}"/>
              </a:ext>
            </a:extLst>
          </p:cNvPr>
          <p:cNvSpPr/>
          <p:nvPr/>
        </p:nvSpPr>
        <p:spPr>
          <a:xfrm>
            <a:off x="508000" y="1079500"/>
            <a:ext cx="11176000" cy="558800"/>
          </a:xfrm>
          <a:prstGeom prst="roundRect">
            <a:avLst/>
          </a:prstGeom>
          <a:solidFill>
            <a:srgbClr val="E879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0DDFFF5A-C390-4558-8CEE-B87C22BC4418}"/>
              </a:ext>
            </a:extLst>
          </p:cNvPr>
          <p:cNvSpPr txBox="1"/>
          <p:nvPr/>
        </p:nvSpPr>
        <p:spPr>
          <a:xfrm>
            <a:off x="711200" y="1155700"/>
            <a:ext cx="10922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 b="1">
                <a:solidFill>
                  <a:srgbClr val="FFFFFF"/>
                </a:solidFill>
                <a:latin typeface="Montserrat"/>
              </a:rPr>
              <a:t>EXERCICE 5A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D0EE80EC-C0BC-4C6B-AB96-CF1F39FA57F5}"/>
              </a:ext>
            </a:extLst>
          </p:cNvPr>
          <p:cNvSpPr txBox="1"/>
          <p:nvPr/>
        </p:nvSpPr>
        <p:spPr>
          <a:xfrm>
            <a:off x="711200" y="1358900"/>
            <a:ext cx="10922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300" b="1">
                <a:solidFill>
                  <a:srgbClr val="FFFFFF"/>
                </a:solidFill>
                <a:latin typeface="Montserrat"/>
              </a:rPr>
              <a:t>Creer un seed region_mapping</a:t>
            </a:r>
            <a:endParaRPr lang="fr-FR" sz="1300" b="1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26" name="Rectangle : coins arrondis 25">
            <a:extLst>
              <a:ext uri="{FF2B5EF4-FFF2-40B4-BE49-F238E27FC236}">
                <a16:creationId xmlns:a16="http://schemas.microsoft.com/office/drawing/2014/main" id="{82406958-58B0-4AE7-B526-05040502B81F}"/>
              </a:ext>
            </a:extLst>
          </p:cNvPr>
          <p:cNvSpPr/>
          <p:nvPr/>
        </p:nvSpPr>
        <p:spPr>
          <a:xfrm>
            <a:off x="508000" y="1765300"/>
            <a:ext cx="11176000" cy="3962400"/>
          </a:xfrm>
          <a:prstGeom prst="roundRect">
            <a:avLst/>
          </a:prstGeom>
          <a:solidFill>
            <a:srgbClr val="F7F4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036CA3D3-A98C-4D9F-B988-EC4DA6FFC6BA}"/>
              </a:ext>
            </a:extLst>
          </p:cNvPr>
          <p:cNvSpPr txBox="1"/>
          <p:nvPr/>
        </p:nvSpPr>
        <p:spPr>
          <a:xfrm>
            <a:off x="711200" y="1892300"/>
            <a:ext cx="10922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b="1">
                <a:solidFill>
                  <a:srgbClr val="160D3D"/>
                </a:solidFill>
                <a:latin typeface="Montserrat"/>
              </a:rPr>
              <a:t>Étapes</a:t>
            </a:r>
          </a:p>
        </p:txBody>
      </p:sp>
      <p:sp>
        <p:nvSpPr>
          <p:cNvPr id="28" name="Ellipse 27">
            <a:extLst>
              <a:ext uri="{FF2B5EF4-FFF2-40B4-BE49-F238E27FC236}">
                <a16:creationId xmlns:a16="http://schemas.microsoft.com/office/drawing/2014/main" id="{0F866730-85A6-49DE-8B3E-526222B1752A}"/>
              </a:ext>
            </a:extLst>
          </p:cNvPr>
          <p:cNvSpPr/>
          <p:nvPr/>
        </p:nvSpPr>
        <p:spPr>
          <a:xfrm>
            <a:off x="711200" y="2387600"/>
            <a:ext cx="279400" cy="279400"/>
          </a:xfrm>
          <a:prstGeom prst="ellipse">
            <a:avLst/>
          </a:prstGeom>
          <a:solidFill>
            <a:srgbClr val="E879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fr-FR" sz="10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7688DCBF-A58E-4853-BBD4-2252687A1B3B}"/>
              </a:ext>
            </a:extLst>
          </p:cNvPr>
          <p:cNvSpPr txBox="1"/>
          <p:nvPr/>
        </p:nvSpPr>
        <p:spPr>
          <a:xfrm>
            <a:off x="1117600" y="2400300"/>
            <a:ext cx="1016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>
                <a:solidFill>
                  <a:srgbClr val="160D3D"/>
                </a:solidFill>
                <a:latin typeface="Montserrat"/>
              </a:rPr>
              <a:t>Creer seeds/region_mapping.csv avec les colonnes : region_name, business_region</a:t>
            </a:r>
            <a:endParaRPr lang="fr-FR" sz="1100">
              <a:solidFill>
                <a:srgbClr val="160D3D"/>
              </a:solidFill>
              <a:latin typeface="Montserrat"/>
            </a:endParaRPr>
          </a:p>
        </p:txBody>
      </p:sp>
      <p:sp>
        <p:nvSpPr>
          <p:cNvPr id="30" name="Ellipse 29">
            <a:extLst>
              <a:ext uri="{FF2B5EF4-FFF2-40B4-BE49-F238E27FC236}">
                <a16:creationId xmlns:a16="http://schemas.microsoft.com/office/drawing/2014/main" id="{55B300C6-DA18-40FE-B197-CB79E56720EB}"/>
              </a:ext>
            </a:extLst>
          </p:cNvPr>
          <p:cNvSpPr/>
          <p:nvPr/>
        </p:nvSpPr>
        <p:spPr>
          <a:xfrm>
            <a:off x="711200" y="2946400"/>
            <a:ext cx="279400" cy="279400"/>
          </a:xfrm>
          <a:prstGeom prst="ellipse">
            <a:avLst/>
          </a:prstGeom>
          <a:solidFill>
            <a:srgbClr val="E879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fr-FR" sz="10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5012D2F3-223D-4F02-8B01-764E92854563}"/>
              </a:ext>
            </a:extLst>
          </p:cNvPr>
          <p:cNvSpPr txBox="1"/>
          <p:nvPr/>
        </p:nvSpPr>
        <p:spPr>
          <a:xfrm>
            <a:off x="1117600" y="2959100"/>
            <a:ext cx="1016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>
                <a:solidFill>
                  <a:srgbClr val="160D3D"/>
                </a:solidFill>
                <a:latin typeface="Montserrat"/>
              </a:rPr>
              <a:t>Mapper : AFRICA/EUROPE/MIDDLE EAST → EMEA</a:t>
            </a:r>
            <a:endParaRPr lang="fr-FR" sz="1100">
              <a:solidFill>
                <a:srgbClr val="160D3D"/>
              </a:solidFill>
              <a:latin typeface="Montserrat"/>
            </a:endParaRPr>
          </a:p>
        </p:txBody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A3BA48C4-9CA3-46F7-B6CD-B2F8766D8708}"/>
              </a:ext>
            </a:extLst>
          </p:cNvPr>
          <p:cNvSpPr/>
          <p:nvPr/>
        </p:nvSpPr>
        <p:spPr>
          <a:xfrm>
            <a:off x="711200" y="3505200"/>
            <a:ext cx="279400" cy="279400"/>
          </a:xfrm>
          <a:prstGeom prst="ellipse">
            <a:avLst/>
          </a:prstGeom>
          <a:solidFill>
            <a:srgbClr val="E879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fr-FR" sz="10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E8776ABD-98D2-4C0D-B6A8-2D31AC637F4C}"/>
              </a:ext>
            </a:extLst>
          </p:cNvPr>
          <p:cNvSpPr txBox="1"/>
          <p:nvPr/>
        </p:nvSpPr>
        <p:spPr>
          <a:xfrm>
            <a:off x="1117600" y="3517900"/>
            <a:ext cx="1016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>
                <a:solidFill>
                  <a:srgbClr val="160D3D"/>
                </a:solidFill>
                <a:latin typeface="Montserrat"/>
              </a:rPr>
              <a:t>Mapper : AMERICA → AMERICAS, ASIA → APAC</a:t>
            </a:r>
            <a:endParaRPr lang="fr-FR" sz="1100">
              <a:solidFill>
                <a:srgbClr val="160D3D"/>
              </a:solidFill>
              <a:latin typeface="Montserrat"/>
            </a:endParaRPr>
          </a:p>
        </p:txBody>
      </p:sp>
      <p:sp>
        <p:nvSpPr>
          <p:cNvPr id="34" name="Ellipse 33">
            <a:extLst>
              <a:ext uri="{FF2B5EF4-FFF2-40B4-BE49-F238E27FC236}">
                <a16:creationId xmlns:a16="http://schemas.microsoft.com/office/drawing/2014/main" id="{FC0C93BD-45D3-4A81-9234-8E92B2E0620B}"/>
              </a:ext>
            </a:extLst>
          </p:cNvPr>
          <p:cNvSpPr/>
          <p:nvPr/>
        </p:nvSpPr>
        <p:spPr>
          <a:xfrm>
            <a:off x="711200" y="4064000"/>
            <a:ext cx="279400" cy="279400"/>
          </a:xfrm>
          <a:prstGeom prst="ellipse">
            <a:avLst/>
          </a:prstGeom>
          <a:solidFill>
            <a:srgbClr val="E879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fr-FR" sz="1000" b="1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613A903C-5FAD-425B-A4B8-1E058FF76DFC}"/>
              </a:ext>
            </a:extLst>
          </p:cNvPr>
          <p:cNvSpPr txBox="1"/>
          <p:nvPr/>
        </p:nvSpPr>
        <p:spPr>
          <a:xfrm>
            <a:off x="1117600" y="4076700"/>
            <a:ext cx="1016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160D3D"/>
                </a:solidFill>
                <a:latin typeface="Montserrat"/>
              </a:rPr>
              <a:t>Charger : dbt seed</a:t>
            </a:r>
          </a:p>
        </p:txBody>
      </p:sp>
      <p:sp>
        <p:nvSpPr>
          <p:cNvPr id="36" name="Ellipse 35">
            <a:extLst>
              <a:ext uri="{FF2B5EF4-FFF2-40B4-BE49-F238E27FC236}">
                <a16:creationId xmlns:a16="http://schemas.microsoft.com/office/drawing/2014/main" id="{D7F890C0-CF90-44E1-B7A8-E268FB20414C}"/>
              </a:ext>
            </a:extLst>
          </p:cNvPr>
          <p:cNvSpPr/>
          <p:nvPr/>
        </p:nvSpPr>
        <p:spPr>
          <a:xfrm>
            <a:off x="711200" y="4622800"/>
            <a:ext cx="279400" cy="279400"/>
          </a:xfrm>
          <a:prstGeom prst="ellipse">
            <a:avLst/>
          </a:prstGeom>
          <a:solidFill>
            <a:srgbClr val="E879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fr-FR" sz="1000" b="1">
                <a:solidFill>
                  <a:srgbClr val="FFFFFF"/>
                </a:solidFill>
                <a:latin typeface="Montserrat"/>
              </a:rPr>
              <a:t>5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EAA961A4-A4D7-4E7D-9203-7EA3E5F93A83}"/>
              </a:ext>
            </a:extLst>
          </p:cNvPr>
          <p:cNvSpPr txBox="1"/>
          <p:nvPr/>
        </p:nvSpPr>
        <p:spPr>
          <a:xfrm>
            <a:off x="1117600" y="4635500"/>
            <a:ext cx="1016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160D3D"/>
                </a:solidFill>
                <a:latin typeface="Montserrat"/>
              </a:rPr>
              <a:t>Enrichir dim_customers.sql avec business_region</a:t>
            </a:r>
          </a:p>
        </p:txBody>
      </p:sp>
      <p:sp>
        <p:nvSpPr>
          <p:cNvPr id="38" name="Ellipse 37">
            <a:extLst>
              <a:ext uri="{FF2B5EF4-FFF2-40B4-BE49-F238E27FC236}">
                <a16:creationId xmlns:a16="http://schemas.microsoft.com/office/drawing/2014/main" id="{E7E5E321-C5F9-4DA4-99B9-4F3DD69F73E7}"/>
              </a:ext>
            </a:extLst>
          </p:cNvPr>
          <p:cNvSpPr/>
          <p:nvPr/>
        </p:nvSpPr>
        <p:spPr>
          <a:xfrm>
            <a:off x="711200" y="5181600"/>
            <a:ext cx="279400" cy="279400"/>
          </a:xfrm>
          <a:prstGeom prst="ellipse">
            <a:avLst/>
          </a:prstGeom>
          <a:solidFill>
            <a:srgbClr val="E879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fr-FR" sz="1000" b="1">
                <a:solidFill>
                  <a:srgbClr val="FFFFFF"/>
                </a:solidFill>
                <a:latin typeface="Montserrat"/>
              </a:rPr>
              <a:t>6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E73E5E40-F79D-4974-934B-2D7A8E51F810}"/>
              </a:ext>
            </a:extLst>
          </p:cNvPr>
          <p:cNvSpPr txBox="1"/>
          <p:nvPr/>
        </p:nvSpPr>
        <p:spPr>
          <a:xfrm>
            <a:off x="1117600" y="5194300"/>
            <a:ext cx="1016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>
                <a:solidFill>
                  <a:srgbClr val="160D3D"/>
                </a:solidFill>
                <a:latin typeface="Montserrat"/>
              </a:rPr>
              <a:t>Lancer : dbt run --select dim_customers</a:t>
            </a:r>
            <a:endParaRPr lang="fr-FR" sz="1100">
              <a:solidFill>
                <a:srgbClr val="160D3D"/>
              </a:solidFill>
              <a:latin typeface="Montserrat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5"/>
          </p:nvPr>
        </p:nvSpPr>
        <p:spPr>
          <a:xfrm>
            <a:off x="508000" y="0"/>
            <a:ext cx="11176000" cy="760021"/>
          </a:xfrm>
        </p:spPr>
        <p:txBody>
          <a:bodyPr/>
          <a:lstStyle/>
          <a:p>
            <a:pPr algn="ctr"/>
            <a:r>
              <a:rPr sz="2200" b="1">
                <a:solidFill>
                  <a:srgbClr val="160D3D"/>
                </a:solidFill>
                <a:latin typeface="Montserrat"/>
              </a:rPr>
              <a:t>Snapshots — SCD Type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00000" y="1778000"/>
            <a:ext cx="5200000" cy="3797300"/>
          </a:xfrm>
          <a:prstGeom prst="rect">
            <a:avLst/>
          </a:prstGeom>
          <a:solidFill>
            <a:srgbClr val="0A1730"/>
          </a:solidFill>
          <a:ln w="12700" cap="flat" cmpd="sng" algn="ctr">
            <a:noFill/>
            <a:prstDash val="solid"/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 anchorCtr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 lang="fr-FR" sz="900" i="1" dirty="0">
              <a:solidFill>
                <a:srgbClr val="6B7BA8"/>
              </a:solidFill>
              <a:latin typeface="Courier New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lang="fr-FR" sz="900" i="1" dirty="0">
              <a:solidFill>
                <a:srgbClr val="6B7BA8"/>
              </a:solidFill>
              <a:latin typeface="Courier New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lang="fr-FR" sz="900" i="1" dirty="0">
              <a:solidFill>
                <a:srgbClr val="6B7BA8"/>
              </a:solidFill>
              <a:latin typeface="Courier New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i="1" dirty="0">
                <a:solidFill>
                  <a:srgbClr val="6B7BA8"/>
                </a:solidFill>
                <a:latin typeface="Courier New"/>
              </a:rPr>
              <a:t>-- snapshots/snap_customers.sql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b="1" dirty="0">
                <a:solidFill>
                  <a:srgbClr val="FFB873"/>
                </a:solidFill>
                <a:latin typeface="Courier New"/>
              </a:rPr>
              <a:t>{% snapshot snap_customers %}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{{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config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(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  target_database=</a:t>
            </a:r>
            <a:r>
              <a:rPr lang="fr-FR" sz="900" dirty="0">
                <a:solidFill>
                  <a:srgbClr val="FFA76B"/>
                </a:solidFill>
                <a:latin typeface="Courier New"/>
              </a:rPr>
              <a:t>'ANALYTICS'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  target_schema=</a:t>
            </a:r>
            <a:r>
              <a:rPr lang="fr-FR" sz="900" dirty="0">
                <a:solidFill>
                  <a:srgbClr val="FFA76B"/>
                </a:solidFill>
                <a:latin typeface="Courier New"/>
              </a:rPr>
              <a:t>'SNAPSHOTS'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  unique_key=</a:t>
            </a:r>
            <a:r>
              <a:rPr lang="fr-FR" sz="900" dirty="0">
                <a:solidFill>
                  <a:srgbClr val="FFA76B"/>
                </a:solidFill>
                <a:latin typeface="Courier New"/>
              </a:rPr>
              <a:t>'customer_key'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  strategy=</a:t>
            </a:r>
            <a:r>
              <a:rPr lang="fr-FR" sz="900" dirty="0">
                <a:solidFill>
                  <a:srgbClr val="FFA76B"/>
                </a:solidFill>
                <a:latin typeface="Courier New"/>
              </a:rPr>
              <a:t>'check'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  check_cols=[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    </a:t>
            </a:r>
            <a:r>
              <a:rPr lang="fr-FR" sz="900" dirty="0">
                <a:solidFill>
                  <a:srgbClr val="FFA76B"/>
                </a:solidFill>
                <a:latin typeface="Courier New"/>
              </a:rPr>
              <a:t>'account_balance'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    </a:t>
            </a:r>
            <a:r>
              <a:rPr lang="fr-FR" sz="900" dirty="0">
                <a:solidFill>
                  <a:srgbClr val="FFA76B"/>
                </a:solidFill>
                <a:latin typeface="Courier New"/>
              </a:rPr>
              <a:t>'market_segment'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    </a:t>
            </a:r>
            <a:r>
              <a:rPr lang="fr-FR" sz="900" dirty="0">
                <a:solidFill>
                  <a:srgbClr val="FFA76B"/>
                </a:solidFill>
                <a:latin typeface="Courier New"/>
              </a:rPr>
              <a:t>'address'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, </a:t>
            </a:r>
            <a:r>
              <a:rPr lang="fr-FR" sz="900" dirty="0">
                <a:solidFill>
                  <a:srgbClr val="FFA76B"/>
                </a:solidFill>
                <a:latin typeface="Courier New"/>
              </a:rPr>
              <a:t>'phone'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  ],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}}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b="1" dirty="0">
                <a:solidFill>
                  <a:srgbClr val="9D88FF"/>
                </a:solidFill>
                <a:latin typeface="Courier New"/>
              </a:rPr>
              <a:t>select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*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b="1" dirty="0">
                <a:solidFill>
                  <a:srgbClr val="9D88FF"/>
                </a:solidFill>
                <a:latin typeface="Courier New"/>
              </a:rPr>
              <a:t>from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</a:t>
            </a:r>
            <a:r>
              <a:rPr lang="fr-FR" sz="900" b="1" dirty="0">
                <a:solidFill>
                  <a:srgbClr val="FFB873"/>
                </a:solidFill>
                <a:latin typeface="Courier New"/>
              </a:rPr>
              <a:t>{{ ref('stg_tpch__customers') }}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b="1" dirty="0">
                <a:solidFill>
                  <a:srgbClr val="FFB873"/>
                </a:solidFill>
                <a:latin typeface="Courier New"/>
              </a:rPr>
              <a:t>{% endsnapshot %}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$ dbt snapshot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4655987B-E484-4729-94EC-B7F06A7B04D2}"/>
              </a:ext>
            </a:extLst>
          </p:cNvPr>
          <p:cNvSpPr txBox="1"/>
          <p:nvPr/>
        </p:nvSpPr>
        <p:spPr>
          <a:xfrm>
            <a:off x="508000" y="1079500"/>
            <a:ext cx="584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500" b="1">
                <a:solidFill>
                  <a:srgbClr val="160D3D"/>
                </a:solidFill>
                <a:latin typeface="Montserrat"/>
              </a:rPr>
              <a:t>Capturer l'historique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A844EAC7-ADB6-4607-9243-25080017FCE0}"/>
              </a:ext>
            </a:extLst>
          </p:cNvPr>
          <p:cNvSpPr/>
          <p:nvPr/>
        </p:nvSpPr>
        <p:spPr>
          <a:xfrm>
            <a:off x="508000" y="1498600"/>
            <a:ext cx="5842000" cy="965200"/>
          </a:xfrm>
          <a:prstGeom prst="roundRect">
            <a:avLst/>
          </a:prstGeom>
          <a:solidFill>
            <a:srgbClr val="F7F4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3DB76BE5-BA5E-4F22-B40A-4761CE8199FA}"/>
              </a:ext>
            </a:extLst>
          </p:cNvPr>
          <p:cNvSpPr txBox="1"/>
          <p:nvPr/>
        </p:nvSpPr>
        <p:spPr>
          <a:xfrm>
            <a:off x="685800" y="1625600"/>
            <a:ext cx="54864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200" b="1">
                <a:solidFill>
                  <a:srgbClr val="160D3D"/>
                </a:solidFill>
                <a:latin typeface="Montserrat"/>
              </a:rPr>
              <a:t>Slowly Changing Dimension Type 2</a:t>
            </a:r>
            <a:endParaRPr lang="fr-FR" sz="1200" b="1">
              <a:solidFill>
                <a:srgbClr val="160D3D"/>
              </a:solidFill>
              <a:latin typeface="Montserrat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369FD65C-EDF8-4280-A0E1-6BC8A532A574}"/>
              </a:ext>
            </a:extLst>
          </p:cNvPr>
          <p:cNvSpPr txBox="1"/>
          <p:nvPr/>
        </p:nvSpPr>
        <p:spPr>
          <a:xfrm>
            <a:off x="685800" y="1879600"/>
            <a:ext cx="54864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160D3D"/>
                </a:solidFill>
                <a:latin typeface="Montserrat"/>
              </a:rPr>
              <a:t>Capturer les changements dans une dimension au fil du temps,
en historisant chaque version d'une ligne.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AB6CA091-2E82-4E2F-95A6-C3D3DE0226D4}"/>
              </a:ext>
            </a:extLst>
          </p:cNvPr>
          <p:cNvSpPr txBox="1"/>
          <p:nvPr/>
        </p:nvSpPr>
        <p:spPr>
          <a:xfrm>
            <a:off x="508000" y="2616200"/>
            <a:ext cx="5842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300" b="1">
                <a:solidFill>
                  <a:srgbClr val="160D3D"/>
                </a:solidFill>
                <a:latin typeface="Montserrat"/>
              </a:rPr>
              <a:t>Deux strategies</a:t>
            </a: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F3408AA0-E950-4630-B3C3-ED7E68A25671}"/>
              </a:ext>
            </a:extLst>
          </p:cNvPr>
          <p:cNvSpPr/>
          <p:nvPr/>
        </p:nvSpPr>
        <p:spPr>
          <a:xfrm>
            <a:off x="508000" y="2921000"/>
            <a:ext cx="2819400" cy="1397000"/>
          </a:xfrm>
          <a:prstGeom prst="roundRect">
            <a:avLst/>
          </a:prstGeom>
          <a:solidFill>
            <a:srgbClr val="F7F4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17679C15-AD49-4FE5-A6EB-546D6DBC322A}"/>
              </a:ext>
            </a:extLst>
          </p:cNvPr>
          <p:cNvSpPr txBox="1"/>
          <p:nvPr/>
        </p:nvSpPr>
        <p:spPr>
          <a:xfrm>
            <a:off x="685800" y="3048000"/>
            <a:ext cx="254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b="1">
                <a:solidFill>
                  <a:srgbClr val="160D3D"/>
                </a:solidFill>
                <a:latin typeface="Montserrat"/>
              </a:rPr>
              <a:t>check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626B6BCF-B5F7-429E-9C5E-E3F35452B090}"/>
              </a:ext>
            </a:extLst>
          </p:cNvPr>
          <p:cNvSpPr txBox="1"/>
          <p:nvPr/>
        </p:nvSpPr>
        <p:spPr>
          <a:xfrm>
            <a:off x="685800" y="3302000"/>
            <a:ext cx="2540000" cy="914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160D3D"/>
                </a:solidFill>
                <a:latin typeface="Montserrat"/>
              </a:rPr>
              <a:t>Compare les colonnes choisies
(check_cols).
Detecte tout changement de
valeur metier.</a:t>
            </a: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768724C2-DEF5-4883-B664-129DCD6C1DC0}"/>
              </a:ext>
            </a:extLst>
          </p:cNvPr>
          <p:cNvSpPr/>
          <p:nvPr/>
        </p:nvSpPr>
        <p:spPr>
          <a:xfrm>
            <a:off x="3530600" y="2921000"/>
            <a:ext cx="2819400" cy="1397000"/>
          </a:xfrm>
          <a:prstGeom prst="roundRect">
            <a:avLst/>
          </a:prstGeom>
          <a:solidFill>
            <a:srgbClr val="F7F4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B0568A6F-3BA6-4B40-B75E-A2F9AC560A58}"/>
              </a:ext>
            </a:extLst>
          </p:cNvPr>
          <p:cNvSpPr txBox="1"/>
          <p:nvPr/>
        </p:nvSpPr>
        <p:spPr>
          <a:xfrm>
            <a:off x="3708400" y="3048000"/>
            <a:ext cx="254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b="1">
                <a:solidFill>
                  <a:srgbClr val="160D3D"/>
                </a:solidFill>
                <a:latin typeface="Montserrat"/>
              </a:rPr>
              <a:t>timestamp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3ECFA079-D8FF-43AB-A90A-15EB6064D42A}"/>
              </a:ext>
            </a:extLst>
          </p:cNvPr>
          <p:cNvSpPr txBox="1"/>
          <p:nvPr/>
        </p:nvSpPr>
        <p:spPr>
          <a:xfrm>
            <a:off x="3708400" y="3302000"/>
            <a:ext cx="2540000" cy="914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160D3D"/>
                </a:solidFill>
                <a:latin typeface="Montserrat"/>
              </a:rPr>
              <a:t>Utilise un updated_at_field.
Plus simple si la source a
deja une date de mise a jour.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6A66FC98-3597-4919-9458-6FE46913BAFE}"/>
              </a:ext>
            </a:extLst>
          </p:cNvPr>
          <p:cNvSpPr txBox="1"/>
          <p:nvPr/>
        </p:nvSpPr>
        <p:spPr>
          <a:xfrm>
            <a:off x="508000" y="4495800"/>
            <a:ext cx="5842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300" b="1">
                <a:solidFill>
                  <a:srgbClr val="160D3D"/>
                </a:solidFill>
                <a:latin typeface="Montserrat"/>
              </a:rPr>
              <a:t>Colonnes ajoutees automatiquement</a:t>
            </a: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60BD14FE-A66E-4BE8-A0B1-F77139A9357A}"/>
              </a:ext>
            </a:extLst>
          </p:cNvPr>
          <p:cNvSpPr/>
          <p:nvPr/>
        </p:nvSpPr>
        <p:spPr>
          <a:xfrm>
            <a:off x="508000" y="4800600"/>
            <a:ext cx="5842000" cy="1397000"/>
          </a:xfrm>
          <a:prstGeom prst="roundRect">
            <a:avLst/>
          </a:prstGeom>
          <a:solidFill>
            <a:srgbClr val="F7F4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41285409-1BAC-461A-B88E-ECADB8DF3A3F}"/>
              </a:ext>
            </a:extLst>
          </p:cNvPr>
          <p:cNvSpPr txBox="1"/>
          <p:nvPr/>
        </p:nvSpPr>
        <p:spPr>
          <a:xfrm>
            <a:off x="685800" y="4927600"/>
            <a:ext cx="2540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 b="1">
                <a:solidFill>
                  <a:srgbClr val="E8792F"/>
                </a:solidFill>
                <a:latin typeface="Montserrat"/>
              </a:rPr>
              <a:t>dbt_valid_from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46A03C29-6B11-4351-B536-7E1D3FD40996}"/>
              </a:ext>
            </a:extLst>
          </p:cNvPr>
          <p:cNvSpPr txBox="1"/>
          <p:nvPr/>
        </p:nvSpPr>
        <p:spPr>
          <a:xfrm>
            <a:off x="685800" y="5130800"/>
            <a:ext cx="2540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>
                <a:solidFill>
                  <a:srgbClr val="160D3D"/>
                </a:solidFill>
                <a:latin typeface="Montserrat"/>
              </a:rPr>
              <a:t>Debut de validite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B401629C-DEB9-49ED-AA0F-C1913E51DD6A}"/>
              </a:ext>
            </a:extLst>
          </p:cNvPr>
          <p:cNvSpPr txBox="1"/>
          <p:nvPr/>
        </p:nvSpPr>
        <p:spPr>
          <a:xfrm>
            <a:off x="3429000" y="4927600"/>
            <a:ext cx="2540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 b="1">
                <a:solidFill>
                  <a:srgbClr val="E8792F"/>
                </a:solidFill>
                <a:latin typeface="Montserrat"/>
              </a:rPr>
              <a:t>dbt_valid_to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938409B5-AD3C-4B9B-99F9-090473957947}"/>
              </a:ext>
            </a:extLst>
          </p:cNvPr>
          <p:cNvSpPr txBox="1"/>
          <p:nvPr/>
        </p:nvSpPr>
        <p:spPr>
          <a:xfrm>
            <a:off x="3429000" y="5130800"/>
            <a:ext cx="2540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>
                <a:solidFill>
                  <a:srgbClr val="160D3D"/>
                </a:solidFill>
                <a:latin typeface="Montserrat"/>
              </a:rPr>
              <a:t>Fin (NULL si actif)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4D57829C-35C2-4197-953D-75124B4F6D69}"/>
              </a:ext>
            </a:extLst>
          </p:cNvPr>
          <p:cNvSpPr txBox="1"/>
          <p:nvPr/>
        </p:nvSpPr>
        <p:spPr>
          <a:xfrm>
            <a:off x="685800" y="5511800"/>
            <a:ext cx="2540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 b="1">
                <a:solidFill>
                  <a:srgbClr val="E8792F"/>
                </a:solidFill>
                <a:latin typeface="Montserrat"/>
              </a:rPr>
              <a:t>dbt_scd_id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91A61D9C-2F11-4AD8-99A3-734B8C2C13AA}"/>
              </a:ext>
            </a:extLst>
          </p:cNvPr>
          <p:cNvSpPr txBox="1"/>
          <p:nvPr/>
        </p:nvSpPr>
        <p:spPr>
          <a:xfrm>
            <a:off x="685800" y="5715000"/>
            <a:ext cx="2540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>
                <a:solidFill>
                  <a:srgbClr val="160D3D"/>
                </a:solidFill>
                <a:latin typeface="Montserrat"/>
              </a:rPr>
              <a:t>Identifiant version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1E651065-CF40-4034-AF56-37C15271D129}"/>
              </a:ext>
            </a:extLst>
          </p:cNvPr>
          <p:cNvSpPr txBox="1"/>
          <p:nvPr/>
        </p:nvSpPr>
        <p:spPr>
          <a:xfrm>
            <a:off x="3429000" y="5511800"/>
            <a:ext cx="2540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 b="1">
                <a:solidFill>
                  <a:srgbClr val="E8792F"/>
                </a:solidFill>
                <a:latin typeface="Montserrat"/>
              </a:rPr>
              <a:t>dbt_updated_at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01297486-BEAC-41E3-9191-EA4F94EC52C0}"/>
              </a:ext>
            </a:extLst>
          </p:cNvPr>
          <p:cNvSpPr txBox="1"/>
          <p:nvPr/>
        </p:nvSpPr>
        <p:spPr>
          <a:xfrm>
            <a:off x="3429000" y="5715000"/>
            <a:ext cx="2540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>
                <a:solidFill>
                  <a:srgbClr val="160D3D"/>
                </a:solidFill>
                <a:latin typeface="Montserrat"/>
              </a:rPr>
              <a:t>Date capture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3FD0BE84-4CBF-40F1-A180-2E4B2CE0D760}"/>
              </a:ext>
            </a:extLst>
          </p:cNvPr>
          <p:cNvSpPr txBox="1"/>
          <p:nvPr/>
        </p:nvSpPr>
        <p:spPr>
          <a:xfrm>
            <a:off x="9260000" y="1905000"/>
            <a:ext cx="2387600" cy="2286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fr-FR" sz="800" b="1">
                <a:solidFill>
                  <a:srgbClr val="6B7BA8"/>
                </a:solidFill>
                <a:latin typeface="Montserrat"/>
              </a:rPr>
              <a:t>SNAPSHOTS/</a:t>
            </a:r>
          </a:p>
        </p:txBody>
      </p:sp>
    </p:spTree>
    <p:extLst>
      <p:ext uri="{BB962C8B-B14F-4D97-AF65-F5344CB8AC3E}">
        <p14:creationId xmlns:p14="http://schemas.microsoft.com/office/powerpoint/2010/main" val="362317279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5"/>
          </p:nvPr>
        </p:nvSpPr>
        <p:spPr>
          <a:xfrm>
            <a:off x="508000" y="0"/>
            <a:ext cx="11176000" cy="760021"/>
          </a:xfrm>
        </p:spPr>
        <p:txBody>
          <a:bodyPr/>
          <a:lstStyle/>
          <a:p>
            <a:pPr algn="ctr"/>
            <a:r>
              <a:rPr sz="2200" b="1">
                <a:solidFill>
                  <a:srgbClr val="160D3D"/>
                </a:solidFill>
                <a:latin typeface="Montserrat"/>
              </a:rPr>
              <a:t>Exercice 5B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00000" y="2552700"/>
            <a:ext cx="5200000" cy="2260600"/>
          </a:xfrm>
          <a:prstGeom prst="rect">
            <a:avLst/>
          </a:prstGeom>
          <a:solidFill>
            <a:srgbClr val="0A1730"/>
          </a:solidFill>
          <a:ln w="12700" cap="flat" cmpd="sng" algn="ctr">
            <a:noFill/>
            <a:prstDash val="solid"/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 anchorCtr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 lang="fr-FR" sz="900" i="1" dirty="0">
              <a:solidFill>
                <a:srgbClr val="6B7BA8"/>
              </a:solidFill>
              <a:latin typeface="Courier New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lang="fr-FR" sz="900" i="1" dirty="0">
              <a:solidFill>
                <a:srgbClr val="6B7BA8"/>
              </a:solidFill>
              <a:latin typeface="Courier New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lang="fr-FR" sz="900" i="1" dirty="0">
              <a:solidFill>
                <a:srgbClr val="6B7BA8"/>
              </a:solidFill>
              <a:latin typeface="Courier New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i="1" dirty="0">
                <a:solidFill>
                  <a:srgbClr val="6B7BA8"/>
                </a:solidFill>
                <a:latin typeface="Courier New"/>
              </a:rPr>
              <a:t>-- Inspecter le resultat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b="1" dirty="0">
                <a:solidFill>
                  <a:srgbClr val="9D88FF"/>
                </a:solidFill>
                <a:latin typeface="Courier New"/>
              </a:rPr>
              <a:t>SELECT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customer_key,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customer_name,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market_segment,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dbt_valid_from,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dbt_valid_to,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dbt_updated_at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b="1" dirty="0">
                <a:solidFill>
                  <a:srgbClr val="9D88FF"/>
                </a:solidFill>
                <a:latin typeface="Courier New"/>
              </a:rPr>
              <a:t>FROM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ANALYTICS.SNAPSHOTS.SNAP_CUSTOMERS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b="1" dirty="0">
                <a:solidFill>
                  <a:srgbClr val="9D88FF"/>
                </a:solidFill>
                <a:latin typeface="Courier New"/>
              </a:rPr>
              <a:t>WHERE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customer_key = </a:t>
            </a:r>
            <a:r>
              <a:rPr lang="fr-FR" sz="900" dirty="0">
                <a:solidFill>
                  <a:srgbClr val="FFA76B"/>
                </a:solidFill>
                <a:latin typeface="Courier New"/>
              </a:rPr>
              <a:t>1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;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10BF2EFC-CC63-494F-9713-0ED81EF61642}"/>
              </a:ext>
            </a:extLst>
          </p:cNvPr>
          <p:cNvSpPr/>
          <p:nvPr/>
        </p:nvSpPr>
        <p:spPr>
          <a:xfrm>
            <a:off x="508000" y="1079500"/>
            <a:ext cx="1397000" cy="355600"/>
          </a:xfrm>
          <a:prstGeom prst="roundRect">
            <a:avLst/>
          </a:prstGeom>
          <a:solidFill>
            <a:srgbClr val="E879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8647FB82-7D91-4E40-87B4-6A9EFEE9B0E7}"/>
              </a:ext>
            </a:extLst>
          </p:cNvPr>
          <p:cNvSpPr txBox="1"/>
          <p:nvPr/>
        </p:nvSpPr>
        <p:spPr>
          <a:xfrm>
            <a:off x="508000" y="1130300"/>
            <a:ext cx="1397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 b="1">
                <a:solidFill>
                  <a:srgbClr val="FFFFFF"/>
                </a:solidFill>
                <a:latin typeface="Montserrat"/>
              </a:rPr>
              <a:t>EXERCICE 5B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19C1BD1A-3F13-41E1-A3BF-2CFBE88575F9}"/>
              </a:ext>
            </a:extLst>
          </p:cNvPr>
          <p:cNvSpPr txBox="1"/>
          <p:nvPr/>
        </p:nvSpPr>
        <p:spPr>
          <a:xfrm>
            <a:off x="2032000" y="1079500"/>
            <a:ext cx="43180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fr-FR" sz="1400" b="1">
                <a:solidFill>
                  <a:srgbClr val="160D3D"/>
                </a:solidFill>
                <a:latin typeface="Montserrat"/>
              </a:rPr>
              <a:t>Executer le snapshot 2 fois</a:t>
            </a: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6DAB2E5E-19E1-4155-A248-6D28D0F80BC1}"/>
              </a:ext>
            </a:extLst>
          </p:cNvPr>
          <p:cNvSpPr/>
          <p:nvPr/>
        </p:nvSpPr>
        <p:spPr>
          <a:xfrm>
            <a:off x="508000" y="1651000"/>
            <a:ext cx="5842000" cy="863600"/>
          </a:xfrm>
          <a:prstGeom prst="roundRect">
            <a:avLst/>
          </a:prstGeom>
          <a:solidFill>
            <a:srgbClr val="F7F4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F2F080F6-E688-40B9-8749-3833E12A1311}"/>
              </a:ext>
            </a:extLst>
          </p:cNvPr>
          <p:cNvSpPr/>
          <p:nvPr/>
        </p:nvSpPr>
        <p:spPr>
          <a:xfrm>
            <a:off x="711200" y="1879600"/>
            <a:ext cx="406400" cy="406400"/>
          </a:xfrm>
          <a:prstGeom prst="ellipse">
            <a:avLst/>
          </a:prstGeom>
          <a:solidFill>
            <a:srgbClr val="160D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1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683D52CE-33C1-405C-AE40-C7DEF03B5F12}"/>
              </a:ext>
            </a:extLst>
          </p:cNvPr>
          <p:cNvSpPr txBox="1"/>
          <p:nvPr/>
        </p:nvSpPr>
        <p:spPr>
          <a:xfrm>
            <a:off x="1270000" y="1803400"/>
            <a:ext cx="50292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b="1">
                <a:solidFill>
                  <a:srgbClr val="160D3D"/>
                </a:solidFill>
                <a:latin typeface="Montserrat"/>
              </a:rPr>
              <a:t>Premier dbt snapshot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7BFAD432-BF28-4FF3-8FB8-B14A5775E9FC}"/>
              </a:ext>
            </a:extLst>
          </p:cNvPr>
          <p:cNvSpPr txBox="1"/>
          <p:nvPr/>
        </p:nvSpPr>
        <p:spPr>
          <a:xfrm>
            <a:off x="1270000" y="2082800"/>
            <a:ext cx="50292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160D3D"/>
                </a:solidFill>
                <a:latin typeface="Montserrat"/>
              </a:rPr>
              <a:t>Lancer la commande, table snap_customers creee</a:t>
            </a: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5CE7FD98-3594-4B37-8372-4672087692DC}"/>
              </a:ext>
            </a:extLst>
          </p:cNvPr>
          <p:cNvSpPr/>
          <p:nvPr/>
        </p:nvSpPr>
        <p:spPr>
          <a:xfrm>
            <a:off x="508000" y="2641600"/>
            <a:ext cx="5842000" cy="863600"/>
          </a:xfrm>
          <a:prstGeom prst="roundRect">
            <a:avLst/>
          </a:prstGeom>
          <a:solidFill>
            <a:srgbClr val="F7F4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AC4EF1E9-F544-4D06-8B90-F92CA64BAFE8}"/>
              </a:ext>
            </a:extLst>
          </p:cNvPr>
          <p:cNvSpPr/>
          <p:nvPr/>
        </p:nvSpPr>
        <p:spPr>
          <a:xfrm>
            <a:off x="711200" y="2870200"/>
            <a:ext cx="406400" cy="406400"/>
          </a:xfrm>
          <a:prstGeom prst="ellipse">
            <a:avLst/>
          </a:prstGeom>
          <a:solidFill>
            <a:srgbClr val="160D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1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C40D6C5D-E911-4C88-98EF-990D23F4F5A0}"/>
              </a:ext>
            </a:extLst>
          </p:cNvPr>
          <p:cNvSpPr txBox="1"/>
          <p:nvPr/>
        </p:nvSpPr>
        <p:spPr>
          <a:xfrm>
            <a:off x="1270000" y="2794000"/>
            <a:ext cx="50292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b="1">
                <a:solidFill>
                  <a:srgbClr val="160D3D"/>
                </a:solidFill>
                <a:latin typeface="Montserrat"/>
              </a:rPr>
              <a:t>Inspecter ANALYTICS.SNAPSHOTS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A67A2430-4E4D-4292-A697-389488210C20}"/>
              </a:ext>
            </a:extLst>
          </p:cNvPr>
          <p:cNvSpPr txBox="1"/>
          <p:nvPr/>
        </p:nvSpPr>
        <p:spPr>
          <a:xfrm>
            <a:off x="1270000" y="3073400"/>
            <a:ext cx="50292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>
                <a:solidFill>
                  <a:srgbClr val="160D3D"/>
                </a:solidFill>
                <a:latin typeface="Montserrat"/>
              </a:rPr>
              <a:t>Verifier dbt_valid_from / dbt_valid_to / dbt_scd_id</a:t>
            </a:r>
            <a:endParaRPr lang="fr-FR" sz="1100">
              <a:solidFill>
                <a:srgbClr val="160D3D"/>
              </a:solidFill>
              <a:latin typeface="Montserrat"/>
            </a:endParaRP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506BE4A2-DC0B-4E91-9495-F8765762AFC4}"/>
              </a:ext>
            </a:extLst>
          </p:cNvPr>
          <p:cNvSpPr/>
          <p:nvPr/>
        </p:nvSpPr>
        <p:spPr>
          <a:xfrm>
            <a:off x="508000" y="3632200"/>
            <a:ext cx="5842000" cy="863600"/>
          </a:xfrm>
          <a:prstGeom prst="roundRect">
            <a:avLst/>
          </a:prstGeom>
          <a:solidFill>
            <a:srgbClr val="F7F4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C67426F0-DA0D-4CC2-A278-CC5574C1AD5D}"/>
              </a:ext>
            </a:extLst>
          </p:cNvPr>
          <p:cNvSpPr/>
          <p:nvPr/>
        </p:nvSpPr>
        <p:spPr>
          <a:xfrm>
            <a:off x="711200" y="3860800"/>
            <a:ext cx="406400" cy="406400"/>
          </a:xfrm>
          <a:prstGeom prst="ellipse">
            <a:avLst/>
          </a:prstGeom>
          <a:solidFill>
            <a:srgbClr val="160D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1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6940A367-2451-4D99-A8F1-4FCF62FBCC19}"/>
              </a:ext>
            </a:extLst>
          </p:cNvPr>
          <p:cNvSpPr txBox="1"/>
          <p:nvPr/>
        </p:nvSpPr>
        <p:spPr>
          <a:xfrm>
            <a:off x="1270000" y="3784600"/>
            <a:ext cx="50292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b="1">
                <a:solidFill>
                  <a:srgbClr val="160D3D"/>
                </a:solidFill>
                <a:latin typeface="Montserrat"/>
              </a:rPr>
              <a:t>Modifier une ligne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06B5D978-071F-4A50-A763-23CEBB4CF4D7}"/>
              </a:ext>
            </a:extLst>
          </p:cNvPr>
          <p:cNvSpPr txBox="1"/>
          <p:nvPr/>
        </p:nvSpPr>
        <p:spPr>
          <a:xfrm>
            <a:off x="1270000" y="4064000"/>
            <a:ext cx="50292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160D3D"/>
                </a:solidFill>
                <a:latin typeface="Montserrat"/>
              </a:rPr>
              <a:t>UPDATE pour changer un attribut metier</a:t>
            </a:r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CF07E41F-A2D5-431B-BC7D-E72B6FC700F1}"/>
              </a:ext>
            </a:extLst>
          </p:cNvPr>
          <p:cNvSpPr/>
          <p:nvPr/>
        </p:nvSpPr>
        <p:spPr>
          <a:xfrm>
            <a:off x="508000" y="4622800"/>
            <a:ext cx="5842000" cy="863600"/>
          </a:xfrm>
          <a:prstGeom prst="roundRect">
            <a:avLst/>
          </a:prstGeom>
          <a:solidFill>
            <a:srgbClr val="F7F4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9743BC26-AEE5-414F-BBBB-0FA367D49BA6}"/>
              </a:ext>
            </a:extLst>
          </p:cNvPr>
          <p:cNvSpPr/>
          <p:nvPr/>
        </p:nvSpPr>
        <p:spPr>
          <a:xfrm>
            <a:off x="711200" y="4851400"/>
            <a:ext cx="406400" cy="406400"/>
          </a:xfrm>
          <a:prstGeom prst="ellipse">
            <a:avLst/>
          </a:prstGeom>
          <a:solidFill>
            <a:srgbClr val="160D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100" b="1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F0302459-BAD3-4BB2-8667-1CDA079A7D1E}"/>
              </a:ext>
            </a:extLst>
          </p:cNvPr>
          <p:cNvSpPr txBox="1"/>
          <p:nvPr/>
        </p:nvSpPr>
        <p:spPr>
          <a:xfrm>
            <a:off x="1270000" y="4775200"/>
            <a:ext cx="50292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b="1">
                <a:solidFill>
                  <a:srgbClr val="160D3D"/>
                </a:solidFill>
                <a:latin typeface="Montserrat"/>
              </a:rPr>
              <a:t>Deuxieme dbt snapshot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107084F3-9CCB-4A17-92C1-8922708FA43E}"/>
              </a:ext>
            </a:extLst>
          </p:cNvPr>
          <p:cNvSpPr txBox="1"/>
          <p:nvPr/>
        </p:nvSpPr>
        <p:spPr>
          <a:xfrm>
            <a:off x="1270000" y="5054600"/>
            <a:ext cx="50292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160D3D"/>
                </a:solidFill>
                <a:latin typeface="Montserrat"/>
              </a:rPr>
              <a:t>Une nouvelle ligne s'ajoute, l'ancienne se ferme</a:t>
            </a:r>
          </a:p>
        </p:txBody>
      </p:sp>
      <p:sp>
        <p:nvSpPr>
          <p:cNvPr id="26" name="Rectangle : coins arrondis 25">
            <a:extLst>
              <a:ext uri="{FF2B5EF4-FFF2-40B4-BE49-F238E27FC236}">
                <a16:creationId xmlns:a16="http://schemas.microsoft.com/office/drawing/2014/main" id="{3B49F898-214B-4FF1-B630-D4EE4CE0549B}"/>
              </a:ext>
            </a:extLst>
          </p:cNvPr>
          <p:cNvSpPr/>
          <p:nvPr/>
        </p:nvSpPr>
        <p:spPr>
          <a:xfrm>
            <a:off x="508000" y="5613400"/>
            <a:ext cx="5842000" cy="660400"/>
          </a:xfrm>
          <a:prstGeom prst="roundRect">
            <a:avLst/>
          </a:prstGeom>
          <a:solidFill>
            <a:srgbClr val="FFF0E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326D2C3A-5E71-464F-B21E-86EEA4341B38}"/>
              </a:ext>
            </a:extLst>
          </p:cNvPr>
          <p:cNvSpPr txBox="1"/>
          <p:nvPr/>
        </p:nvSpPr>
        <p:spPr>
          <a:xfrm>
            <a:off x="685800" y="5715000"/>
            <a:ext cx="54864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 b="1">
                <a:solidFill>
                  <a:srgbClr val="E8792F"/>
                </a:solidFill>
                <a:latin typeface="Montserrat"/>
              </a:rPr>
              <a:t>→ Resultat attendu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6DDB0023-5BA2-4CA5-B7EA-B55CBB60D07B}"/>
              </a:ext>
            </a:extLst>
          </p:cNvPr>
          <p:cNvSpPr txBox="1"/>
          <p:nvPr/>
        </p:nvSpPr>
        <p:spPr>
          <a:xfrm>
            <a:off x="685800" y="5943600"/>
            <a:ext cx="54864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160D3D"/>
                </a:solidFill>
                <a:latin typeface="Montserrat"/>
              </a:rPr>
              <a:t>2 lignes pour le client modifie, une version historique + une version courante.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96714447-9132-42DF-8F0E-4CFBC146AF72}"/>
              </a:ext>
            </a:extLst>
          </p:cNvPr>
          <p:cNvSpPr txBox="1"/>
          <p:nvPr/>
        </p:nvSpPr>
        <p:spPr>
          <a:xfrm>
            <a:off x="9260000" y="2679700"/>
            <a:ext cx="2387600" cy="2286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fr-FR" sz="800" b="1">
                <a:solidFill>
                  <a:srgbClr val="6B7BA8"/>
                </a:solidFill>
                <a:latin typeface="Montserrat"/>
              </a:rPr>
              <a:t>INSPECTION SQL</a:t>
            </a:r>
          </a:p>
        </p:txBody>
      </p:sp>
    </p:spTree>
    <p:extLst>
      <p:ext uri="{BB962C8B-B14F-4D97-AF65-F5344CB8AC3E}">
        <p14:creationId xmlns:p14="http://schemas.microsoft.com/office/powerpoint/2010/main" val="386513118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5"/>
          </p:nvPr>
        </p:nvSpPr>
        <p:spPr>
          <a:xfrm>
            <a:off x="508000" y="0"/>
            <a:ext cx="11176000" cy="760021"/>
          </a:xfrm>
        </p:spPr>
        <p:txBody>
          <a:bodyPr/>
          <a:lstStyle/>
          <a:p>
            <a:pPr algn="ctr"/>
            <a:r>
              <a:rPr sz="2200" b="1">
                <a:solidFill>
                  <a:srgbClr val="160D3D"/>
                </a:solidFill>
                <a:latin typeface="Montserrat"/>
              </a:rPr>
              <a:t>Modeles incrementaux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00000" y="1320800"/>
            <a:ext cx="5200000" cy="4724400"/>
          </a:xfrm>
          <a:prstGeom prst="rect">
            <a:avLst/>
          </a:prstGeom>
          <a:solidFill>
            <a:srgbClr val="0A1730"/>
          </a:solidFill>
          <a:ln w="12700" cap="flat" cmpd="sng" algn="ctr">
            <a:noFill/>
            <a:prstDash val="solid"/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 anchorCtr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 lang="fr-FR" sz="900" i="1" dirty="0">
              <a:solidFill>
                <a:srgbClr val="6B7BA8"/>
              </a:solidFill>
              <a:latin typeface="Courier New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lang="fr-FR" sz="900" i="1" dirty="0">
              <a:solidFill>
                <a:srgbClr val="6B7BA8"/>
              </a:solidFill>
              <a:latin typeface="Courier New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lang="fr-FR" sz="900" i="1" dirty="0">
              <a:solidFill>
                <a:srgbClr val="6B7BA8"/>
              </a:solidFill>
              <a:latin typeface="Courier New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i="1" dirty="0">
                <a:solidFill>
                  <a:srgbClr val="6B7BA8"/>
                </a:solidFill>
                <a:latin typeface="Courier New"/>
              </a:rPr>
              <a:t>-- fct_order_items.sql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{{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config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(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  materialized=</a:t>
            </a:r>
            <a:r>
              <a:rPr lang="fr-FR" sz="900" dirty="0">
                <a:solidFill>
                  <a:srgbClr val="FFA76B"/>
                </a:solidFill>
                <a:latin typeface="Courier New"/>
              </a:rPr>
              <a:t>'incremental'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  unique_key=</a:t>
            </a:r>
            <a:r>
              <a:rPr lang="fr-FR" sz="900" dirty="0">
                <a:solidFill>
                  <a:srgbClr val="FFA76B"/>
                </a:solidFill>
                <a:latin typeface="Courier New"/>
              </a:rPr>
              <a:t>'line_item_key'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  incremental_strategy=</a:t>
            </a:r>
            <a:r>
              <a:rPr lang="fr-FR" sz="900" dirty="0">
                <a:solidFill>
                  <a:srgbClr val="FFA76B"/>
                </a:solidFill>
                <a:latin typeface="Courier New"/>
              </a:rPr>
              <a:t>'merge'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}}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b="1" dirty="0">
                <a:solidFill>
                  <a:srgbClr val="9D88FF"/>
                </a:solidFill>
                <a:latin typeface="Courier New"/>
              </a:rPr>
              <a:t>with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order_items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as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(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select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*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from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</a:t>
            </a:r>
            <a:r>
              <a:rPr lang="fr-FR" sz="900" b="1" dirty="0">
                <a:solidFill>
                  <a:srgbClr val="FFB873"/>
                </a:solidFill>
                <a:latin typeface="Courier New"/>
              </a:rPr>
              <a:t>{{ ref('int_order_items') }}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b="1" dirty="0">
                <a:solidFill>
                  <a:srgbClr val="9D88FF"/>
                </a:solidFill>
                <a:latin typeface="Courier New"/>
              </a:rPr>
              <a:t>select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*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b="1" dirty="0">
                <a:solidFill>
                  <a:srgbClr val="9D88FF"/>
                </a:solidFill>
                <a:latin typeface="Courier New"/>
              </a:rPr>
              <a:t>from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order_items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b="1" dirty="0">
                <a:solidFill>
                  <a:srgbClr val="FFB873"/>
                </a:solidFill>
                <a:latin typeface="Courier New"/>
              </a:rPr>
              <a:t>{% if is_incremental() %}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where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ship_date &gt; (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select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</a:t>
            </a:r>
            <a:r>
              <a:rPr lang="fr-FR" sz="900" b="1" dirty="0">
                <a:solidFill>
                  <a:srgbClr val="7DB3FF"/>
                </a:solidFill>
                <a:latin typeface="Courier New"/>
              </a:rPr>
              <a:t>max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(ship_date)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from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</a:t>
            </a:r>
            <a:r>
              <a:rPr lang="fr-FR" sz="900" b="1" dirty="0">
                <a:solidFill>
                  <a:srgbClr val="FFB873"/>
                </a:solidFill>
                <a:latin typeface="Courier New"/>
              </a:rPr>
              <a:t>{{ this }}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b="1" dirty="0">
                <a:solidFill>
                  <a:srgbClr val="FFB873"/>
                </a:solidFill>
                <a:latin typeface="Courier New"/>
              </a:rPr>
              <a:t>{% endif %}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i="1" dirty="0">
                <a:solidFill>
                  <a:srgbClr val="6B7BA8"/>
                </a:solidFill>
                <a:latin typeface="Courier New"/>
              </a:rPr>
              <a:t>-- Premier run 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$ dbt run </a:t>
            </a:r>
            <a:r>
              <a:rPr lang="fr-FR" sz="900" i="1" dirty="0">
                <a:solidFill>
                  <a:srgbClr val="6B7BA8"/>
                </a:solidFill>
                <a:latin typeface="Courier New"/>
              </a:rPr>
              <a:t>--select fct_order_items --empty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</a:t>
            </a:r>
            <a:r>
              <a:rPr lang="fr-FR" sz="900" i="1" dirty="0">
                <a:solidFill>
                  <a:srgbClr val="6B7BA8"/>
                </a:solidFill>
                <a:latin typeface="Courier New"/>
              </a:rPr>
              <a:t>--full-refresh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i="1" dirty="0">
                <a:solidFill>
                  <a:srgbClr val="6B7BA8"/>
                </a:solidFill>
                <a:latin typeface="Courier New"/>
              </a:rPr>
              <a:t>-- Runs suivants 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$ dbt run </a:t>
            </a:r>
            <a:r>
              <a:rPr lang="fr-FR" sz="900" i="1" dirty="0">
                <a:solidFill>
                  <a:srgbClr val="6B7BA8"/>
                </a:solidFill>
                <a:latin typeface="Courier New"/>
              </a:rPr>
              <a:t>--select fct_order_items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C491E0E5-6705-4ADA-9AEB-72832ECF9912}"/>
              </a:ext>
            </a:extLst>
          </p:cNvPr>
          <p:cNvSpPr txBox="1"/>
          <p:nvPr/>
        </p:nvSpPr>
        <p:spPr>
          <a:xfrm>
            <a:off x="508000" y="1079500"/>
            <a:ext cx="584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500" b="1">
                <a:solidFill>
                  <a:srgbClr val="160D3D"/>
                </a:solidFill>
                <a:latin typeface="Montserrat"/>
              </a:rPr>
              <a:t>Traiter uniquement les nouvelles donnees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19F0F4ED-A362-456C-9B4A-1C3F89574F50}"/>
              </a:ext>
            </a:extLst>
          </p:cNvPr>
          <p:cNvSpPr/>
          <p:nvPr/>
        </p:nvSpPr>
        <p:spPr>
          <a:xfrm>
            <a:off x="508000" y="1498600"/>
            <a:ext cx="5842000" cy="762000"/>
          </a:xfrm>
          <a:prstGeom prst="roundRect">
            <a:avLst/>
          </a:prstGeom>
          <a:solidFill>
            <a:srgbClr val="F7F4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4DC8DF22-D24F-4C40-8963-07D3A534326E}"/>
              </a:ext>
            </a:extLst>
          </p:cNvPr>
          <p:cNvSpPr txBox="1"/>
          <p:nvPr/>
        </p:nvSpPr>
        <p:spPr>
          <a:xfrm>
            <a:off x="685800" y="1600200"/>
            <a:ext cx="54864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b="1">
                <a:solidFill>
                  <a:srgbClr val="160D3D"/>
                </a:solidFill>
                <a:latin typeface="Montserrat"/>
              </a:rPr>
              <a:t>Principe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A37C100A-B627-4BE3-9DB5-B88B4A6D197F}"/>
              </a:ext>
            </a:extLst>
          </p:cNvPr>
          <p:cNvSpPr txBox="1"/>
          <p:nvPr/>
        </p:nvSpPr>
        <p:spPr>
          <a:xfrm>
            <a:off x="685800" y="1828800"/>
            <a:ext cx="54864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 dirty="0">
                <a:solidFill>
                  <a:srgbClr val="160D3D"/>
                </a:solidFill>
                <a:latin typeface="Montserrat"/>
              </a:rPr>
              <a:t>Au lieu de retraiter toute la table, on ajoute/met a jour seulement les lignes </a:t>
            </a:r>
            <a:r>
              <a:rPr lang="fr-FR" sz="1100" dirty="0" err="1">
                <a:solidFill>
                  <a:srgbClr val="160D3D"/>
                </a:solidFill>
                <a:latin typeface="Montserrat"/>
              </a:rPr>
              <a:t>recentes</a:t>
            </a:r>
            <a:r>
              <a:rPr lang="fr-FR" sz="1100" dirty="0">
                <a:solidFill>
                  <a:srgbClr val="160D3D"/>
                </a:solidFill>
                <a:latin typeface="Montserrat"/>
              </a:rPr>
              <a:t>.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9655E0F1-2538-4604-8B06-71FD868E3EB3}"/>
              </a:ext>
            </a:extLst>
          </p:cNvPr>
          <p:cNvSpPr txBox="1"/>
          <p:nvPr/>
        </p:nvSpPr>
        <p:spPr>
          <a:xfrm>
            <a:off x="508000" y="2336800"/>
            <a:ext cx="5842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300" b="1">
                <a:solidFill>
                  <a:srgbClr val="160D3D"/>
                </a:solidFill>
                <a:latin typeface="Montserrat"/>
              </a:rPr>
              <a:t>Concepts cles</a:t>
            </a: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63D40206-AED5-450B-9880-E06E1671888B}"/>
              </a:ext>
            </a:extLst>
          </p:cNvPr>
          <p:cNvSpPr/>
          <p:nvPr/>
        </p:nvSpPr>
        <p:spPr>
          <a:xfrm>
            <a:off x="508000" y="2641600"/>
            <a:ext cx="2819400" cy="1041400"/>
          </a:xfrm>
          <a:prstGeom prst="roundRect">
            <a:avLst/>
          </a:prstGeom>
          <a:solidFill>
            <a:srgbClr val="F7F4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33DBBC4B-D3CC-4ADC-ADD6-9F4D681FA141}"/>
              </a:ext>
            </a:extLst>
          </p:cNvPr>
          <p:cNvSpPr txBox="1"/>
          <p:nvPr/>
        </p:nvSpPr>
        <p:spPr>
          <a:xfrm>
            <a:off x="685800" y="2768600"/>
            <a:ext cx="254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b="1">
                <a:solidFill>
                  <a:srgbClr val="E8792F"/>
                </a:solidFill>
                <a:latin typeface="Montserrat"/>
              </a:rPr>
              <a:t>is_incremental()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44D544F5-7988-4908-A139-0923C4F0CCFB}"/>
              </a:ext>
            </a:extLst>
          </p:cNvPr>
          <p:cNvSpPr txBox="1"/>
          <p:nvPr/>
        </p:nvSpPr>
        <p:spPr>
          <a:xfrm>
            <a:off x="685800" y="3022600"/>
            <a:ext cx="2540000" cy="584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>
                <a:solidFill>
                  <a:srgbClr val="160D3D"/>
                </a:solidFill>
                <a:latin typeface="Montserrat"/>
              </a:rPr>
              <a:t>Vrai si la table existe deja
(2eme run et suivants)</a:t>
            </a: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C4EB0447-33B8-41BE-B61D-C70F94EE0D32}"/>
              </a:ext>
            </a:extLst>
          </p:cNvPr>
          <p:cNvSpPr/>
          <p:nvPr/>
        </p:nvSpPr>
        <p:spPr>
          <a:xfrm>
            <a:off x="3530600" y="2641600"/>
            <a:ext cx="2819400" cy="1041400"/>
          </a:xfrm>
          <a:prstGeom prst="roundRect">
            <a:avLst/>
          </a:prstGeom>
          <a:solidFill>
            <a:srgbClr val="F7F4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6C25CB4A-DC8F-48EC-B629-3A395028B294}"/>
              </a:ext>
            </a:extLst>
          </p:cNvPr>
          <p:cNvSpPr txBox="1"/>
          <p:nvPr/>
        </p:nvSpPr>
        <p:spPr>
          <a:xfrm>
            <a:off x="3708400" y="2768600"/>
            <a:ext cx="254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b="1">
                <a:solidFill>
                  <a:srgbClr val="E8792F"/>
                </a:solidFill>
                <a:latin typeface="Montserrat"/>
              </a:rPr>
              <a:t>{{ this }}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99DC97FE-3019-4701-875E-060B465D9A0B}"/>
              </a:ext>
            </a:extLst>
          </p:cNvPr>
          <p:cNvSpPr txBox="1"/>
          <p:nvPr/>
        </p:nvSpPr>
        <p:spPr>
          <a:xfrm>
            <a:off x="3708400" y="3022600"/>
            <a:ext cx="2540000" cy="584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>
                <a:solidFill>
                  <a:srgbClr val="160D3D"/>
                </a:solidFill>
                <a:latin typeface="Montserrat"/>
              </a:rPr>
              <a:t>Reference la table actuelle
pour filtrer le delta</a:t>
            </a: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9288EC17-2A26-4266-8B9C-7BA932EEA67B}"/>
              </a:ext>
            </a:extLst>
          </p:cNvPr>
          <p:cNvSpPr/>
          <p:nvPr/>
        </p:nvSpPr>
        <p:spPr>
          <a:xfrm>
            <a:off x="508000" y="3810000"/>
            <a:ext cx="2819400" cy="1041400"/>
          </a:xfrm>
          <a:prstGeom prst="roundRect">
            <a:avLst/>
          </a:prstGeom>
          <a:solidFill>
            <a:srgbClr val="F7F4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A104AAE8-5F91-43E6-B528-3E7C7AF68686}"/>
              </a:ext>
            </a:extLst>
          </p:cNvPr>
          <p:cNvSpPr txBox="1"/>
          <p:nvPr/>
        </p:nvSpPr>
        <p:spPr>
          <a:xfrm>
            <a:off x="685800" y="3937000"/>
            <a:ext cx="254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b="1">
                <a:solidFill>
                  <a:srgbClr val="E8792F"/>
                </a:solidFill>
                <a:latin typeface="Montserrat"/>
              </a:rPr>
              <a:t>unique_key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E0A95211-B33D-4454-B43C-4F076C8012AC}"/>
              </a:ext>
            </a:extLst>
          </p:cNvPr>
          <p:cNvSpPr txBox="1"/>
          <p:nvPr/>
        </p:nvSpPr>
        <p:spPr>
          <a:xfrm>
            <a:off x="685800" y="4191000"/>
            <a:ext cx="2540000" cy="584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>
                <a:solidFill>
                  <a:srgbClr val="160D3D"/>
                </a:solidFill>
                <a:latin typeface="Montserrat"/>
              </a:rPr>
              <a:t>Cle pour merge / upsert
(eviter les doublons)</a:t>
            </a:r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E24390E9-943A-4BC3-B821-B09546528658}"/>
              </a:ext>
            </a:extLst>
          </p:cNvPr>
          <p:cNvSpPr/>
          <p:nvPr/>
        </p:nvSpPr>
        <p:spPr>
          <a:xfrm>
            <a:off x="3530600" y="3810000"/>
            <a:ext cx="2819400" cy="1041400"/>
          </a:xfrm>
          <a:prstGeom prst="roundRect">
            <a:avLst/>
          </a:prstGeom>
          <a:solidFill>
            <a:srgbClr val="F7F4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A6FB3637-4F2E-4B82-9EB1-7B685F7A8BA2}"/>
              </a:ext>
            </a:extLst>
          </p:cNvPr>
          <p:cNvSpPr txBox="1"/>
          <p:nvPr/>
        </p:nvSpPr>
        <p:spPr>
          <a:xfrm>
            <a:off x="3708400" y="3937000"/>
            <a:ext cx="2540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b="1">
                <a:solidFill>
                  <a:srgbClr val="E8792F"/>
                </a:solidFill>
                <a:latin typeface="Montserrat"/>
              </a:rPr>
              <a:t>incremental_strategy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6B90D79B-4D62-49B4-98CE-CBACFC0B56DE}"/>
              </a:ext>
            </a:extLst>
          </p:cNvPr>
          <p:cNvSpPr txBox="1"/>
          <p:nvPr/>
        </p:nvSpPr>
        <p:spPr>
          <a:xfrm>
            <a:off x="3708400" y="4191000"/>
            <a:ext cx="2540000" cy="584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>
                <a:solidFill>
                  <a:srgbClr val="160D3D"/>
                </a:solidFill>
                <a:latin typeface="Montserrat"/>
              </a:rPr>
              <a:t>append / merge / delete+insert
selon le besoin</a:t>
            </a:r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DBE9CB4B-37D5-4F6F-BD6B-1E23335711F3}"/>
              </a:ext>
            </a:extLst>
          </p:cNvPr>
          <p:cNvSpPr/>
          <p:nvPr/>
        </p:nvSpPr>
        <p:spPr>
          <a:xfrm>
            <a:off x="508000" y="5029200"/>
            <a:ext cx="5842000" cy="914400"/>
          </a:xfrm>
          <a:prstGeom prst="roundRect">
            <a:avLst/>
          </a:prstGeom>
          <a:solidFill>
            <a:srgbClr val="FFF0E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4A37E02B-51FB-48E6-940C-D38B4C8C8B15}"/>
              </a:ext>
            </a:extLst>
          </p:cNvPr>
          <p:cNvSpPr txBox="1"/>
          <p:nvPr/>
        </p:nvSpPr>
        <p:spPr>
          <a:xfrm>
            <a:off x="685800" y="5156200"/>
            <a:ext cx="54864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 b="1">
                <a:solidFill>
                  <a:srgbClr val="E8792F"/>
                </a:solidFill>
                <a:latin typeface="Montserrat"/>
              </a:rPr>
              <a:t>→ Quand l'utiliser ?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BAA1EDD3-4E41-46B0-99CE-EECEC78E7052}"/>
              </a:ext>
            </a:extLst>
          </p:cNvPr>
          <p:cNvSpPr txBox="1"/>
          <p:nvPr/>
        </p:nvSpPr>
        <p:spPr>
          <a:xfrm>
            <a:off x="685800" y="5384800"/>
            <a:ext cx="54864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160D3D"/>
                </a:solidFill>
                <a:latin typeface="Montserrat"/>
              </a:rPr>
              <a:t>Tables tres volumineuses (millions+ lignes) ou couteuses a recalculer.
Les commandes / line items en sont des candidats typiques.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C182DF9B-540D-4137-A484-2F048C03F9FA}"/>
              </a:ext>
            </a:extLst>
          </p:cNvPr>
          <p:cNvSpPr txBox="1"/>
          <p:nvPr/>
        </p:nvSpPr>
        <p:spPr>
          <a:xfrm>
            <a:off x="9260000" y="1447800"/>
            <a:ext cx="2387600" cy="2286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fr-FR" sz="800" b="1">
                <a:solidFill>
                  <a:srgbClr val="6B7BA8"/>
                </a:solidFill>
                <a:latin typeface="Montserrat"/>
              </a:rPr>
              <a:t>FCT_ORDER_ITEMS.SQL</a:t>
            </a:r>
          </a:p>
        </p:txBody>
      </p:sp>
    </p:spTree>
    <p:extLst>
      <p:ext uri="{BB962C8B-B14F-4D97-AF65-F5344CB8AC3E}">
        <p14:creationId xmlns:p14="http://schemas.microsoft.com/office/powerpoint/2010/main" val="107794544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5"/>
          </p:nvPr>
        </p:nvSpPr>
        <p:spPr>
          <a:xfrm>
            <a:off x="508000" y="0"/>
            <a:ext cx="11176000" cy="760021"/>
          </a:xfrm>
        </p:spPr>
        <p:txBody>
          <a:bodyPr/>
          <a:lstStyle/>
          <a:p>
            <a:pPr algn="ctr"/>
            <a:r>
              <a:rPr sz="2200" b="1">
                <a:solidFill>
                  <a:srgbClr val="160D3D"/>
                </a:solidFill>
                <a:latin typeface="Montserrat"/>
              </a:rPr>
              <a:t>Model Governance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00000" y="1854200"/>
            <a:ext cx="5200000" cy="3644900"/>
          </a:xfrm>
          <a:prstGeom prst="rect">
            <a:avLst/>
          </a:prstGeom>
          <a:solidFill>
            <a:srgbClr val="0A1730"/>
          </a:solidFill>
          <a:ln w="12700" cap="flat" cmpd="sng" algn="ctr">
            <a:noFill/>
            <a:prstDash val="solid"/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 anchorCtr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 lang="fr-FR" sz="900" i="1" dirty="0">
              <a:solidFill>
                <a:srgbClr val="6B7BA8"/>
              </a:solidFill>
              <a:latin typeface="Courier New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lang="fr-FR" sz="900" i="1" dirty="0">
              <a:solidFill>
                <a:srgbClr val="6B7BA8"/>
              </a:solidFill>
              <a:latin typeface="Courier New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lang="fr-FR" sz="900" i="1" dirty="0">
              <a:solidFill>
                <a:srgbClr val="6B7BA8"/>
              </a:solidFill>
              <a:latin typeface="Courier New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i="1" dirty="0">
                <a:solidFill>
                  <a:srgbClr val="6B7BA8"/>
                </a:solidFill>
                <a:latin typeface="Courier New"/>
              </a:rPr>
              <a:t># dbt_project.yml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b="1" dirty="0">
                <a:solidFill>
                  <a:srgbClr val="9D88FF"/>
                </a:solidFill>
                <a:latin typeface="Courier New"/>
              </a:rPr>
              <a:t>groups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-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name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 finance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owner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name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 </a:t>
            </a:r>
            <a:r>
              <a:rPr lang="fr-FR" sz="900" dirty="0">
                <a:solidFill>
                  <a:srgbClr val="FFA76B"/>
                </a:solidFill>
                <a:latin typeface="Courier New"/>
              </a:rPr>
              <a:t>"Equipe Finance"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email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 </a:t>
            </a:r>
            <a:r>
              <a:rPr lang="fr-FR" sz="900" dirty="0">
                <a:solidFill>
                  <a:srgbClr val="FFA76B"/>
                </a:solidFill>
                <a:latin typeface="Courier New"/>
              </a:rPr>
              <a:t>"finance@co.com"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i="1" dirty="0">
                <a:solidFill>
                  <a:srgbClr val="6B7BA8"/>
                </a:solidFill>
                <a:latin typeface="Courier New"/>
              </a:rPr>
              <a:t># _marts__models.yml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-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name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 fct_orders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group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 finance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access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 public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config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contract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enforced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 true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columns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-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name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 order_key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data_type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 number(38,0)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-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name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 net_amount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data_type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 number(12,2)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6A51BD9D-D966-4355-A4F1-66CA0340ADD1}"/>
              </a:ext>
            </a:extLst>
          </p:cNvPr>
          <p:cNvSpPr txBox="1"/>
          <p:nvPr/>
        </p:nvSpPr>
        <p:spPr>
          <a:xfrm>
            <a:off x="508000" y="1079500"/>
            <a:ext cx="584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500" b="1">
                <a:solidFill>
                  <a:srgbClr val="160D3D"/>
                </a:solidFill>
                <a:latin typeface="Montserrat"/>
              </a:rPr>
              <a:t>Structurer et proteger les modeles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95ECCD86-A337-4E34-A5DC-4AACFFCDD864}"/>
              </a:ext>
            </a:extLst>
          </p:cNvPr>
          <p:cNvSpPr/>
          <p:nvPr/>
        </p:nvSpPr>
        <p:spPr>
          <a:xfrm>
            <a:off x="508000" y="1498600"/>
            <a:ext cx="5842000" cy="2032000"/>
          </a:xfrm>
          <a:prstGeom prst="roundRect">
            <a:avLst/>
          </a:prstGeom>
          <a:solidFill>
            <a:srgbClr val="F7F4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57E53F58-06A8-4E44-A083-251BF8225B07}"/>
              </a:ext>
            </a:extLst>
          </p:cNvPr>
          <p:cNvSpPr txBox="1"/>
          <p:nvPr/>
        </p:nvSpPr>
        <p:spPr>
          <a:xfrm>
            <a:off x="685800" y="1625600"/>
            <a:ext cx="54864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b="1">
                <a:solidFill>
                  <a:srgbClr val="160D3D"/>
                </a:solidFill>
                <a:latin typeface="Montserrat"/>
              </a:rPr>
              <a:t>Groupes et acces (dbt 1.5+)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0ABD2130-1A9C-44C8-AFDB-D9D9B1200BEB}"/>
              </a:ext>
            </a:extLst>
          </p:cNvPr>
          <p:cNvSpPr txBox="1"/>
          <p:nvPr/>
        </p:nvSpPr>
        <p:spPr>
          <a:xfrm>
            <a:off x="685800" y="1905000"/>
            <a:ext cx="5486400" cy="406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160D3D"/>
                </a:solidFill>
                <a:latin typeface="Montserrat"/>
              </a:rPr>
              <a:t>Definir un groupe avec son owner (equipe, email), puis attribuer un niveau d'acces a chaque modele.</a:t>
            </a: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5BAEF239-6142-4DE7-A420-811B6248100F}"/>
              </a:ext>
            </a:extLst>
          </p:cNvPr>
          <p:cNvSpPr/>
          <p:nvPr/>
        </p:nvSpPr>
        <p:spPr>
          <a:xfrm>
            <a:off x="685800" y="2489200"/>
            <a:ext cx="1752600" cy="812800"/>
          </a:xfrm>
          <a:prstGeom prst="roundRect">
            <a:avLst/>
          </a:prstGeom>
          <a:solidFill>
            <a:srgbClr val="E8E3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96F270C6-148C-454C-A590-EFB14372D3CF}"/>
              </a:ext>
            </a:extLst>
          </p:cNvPr>
          <p:cNvSpPr txBox="1"/>
          <p:nvPr/>
        </p:nvSpPr>
        <p:spPr>
          <a:xfrm>
            <a:off x="787400" y="2616200"/>
            <a:ext cx="15494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b="1">
                <a:solidFill>
                  <a:srgbClr val="160D3D"/>
                </a:solidFill>
                <a:latin typeface="Montserrat"/>
              </a:rPr>
              <a:t>public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C0872BEB-1AF5-4E4B-B6C1-92DD58ED58A5}"/>
              </a:ext>
            </a:extLst>
          </p:cNvPr>
          <p:cNvSpPr txBox="1"/>
          <p:nvPr/>
        </p:nvSpPr>
        <p:spPr>
          <a:xfrm>
            <a:off x="787400" y="2895600"/>
            <a:ext cx="15494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>
                <a:solidFill>
                  <a:srgbClr val="160D3D"/>
                </a:solidFill>
                <a:latin typeface="Montserrat"/>
              </a:rPr>
              <a:t>Tout le monde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DE81B6D3-AB71-4765-BCCB-98148EEF63F7}"/>
              </a:ext>
            </a:extLst>
          </p:cNvPr>
          <p:cNvSpPr/>
          <p:nvPr/>
        </p:nvSpPr>
        <p:spPr>
          <a:xfrm>
            <a:off x="2565400" y="2489200"/>
            <a:ext cx="1752600" cy="812800"/>
          </a:xfrm>
          <a:prstGeom prst="roundRect">
            <a:avLst/>
          </a:prstGeom>
          <a:solidFill>
            <a:srgbClr val="C9BDE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B5578293-97BA-4F50-968B-B4EFCAE4F709}"/>
              </a:ext>
            </a:extLst>
          </p:cNvPr>
          <p:cNvSpPr txBox="1"/>
          <p:nvPr/>
        </p:nvSpPr>
        <p:spPr>
          <a:xfrm>
            <a:off x="2667000" y="2616200"/>
            <a:ext cx="15494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b="1">
                <a:solidFill>
                  <a:srgbClr val="160D3D"/>
                </a:solidFill>
                <a:latin typeface="Montserrat"/>
              </a:rPr>
              <a:t>protected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6B9E62A7-F13E-4ED9-AB72-8E3806CF7CC5}"/>
              </a:ext>
            </a:extLst>
          </p:cNvPr>
          <p:cNvSpPr txBox="1"/>
          <p:nvPr/>
        </p:nvSpPr>
        <p:spPr>
          <a:xfrm>
            <a:off x="2667000" y="2895600"/>
            <a:ext cx="15494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>
                <a:solidFill>
                  <a:srgbClr val="160D3D"/>
                </a:solidFill>
                <a:latin typeface="Montserrat"/>
              </a:rPr>
              <a:t>Meme groupe</a:t>
            </a: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C84CD24A-523D-41EB-A203-CB5C93F3339B}"/>
              </a:ext>
            </a:extLst>
          </p:cNvPr>
          <p:cNvSpPr/>
          <p:nvPr/>
        </p:nvSpPr>
        <p:spPr>
          <a:xfrm>
            <a:off x="4445000" y="2489200"/>
            <a:ext cx="1752600" cy="812800"/>
          </a:xfrm>
          <a:prstGeom prst="roundRect">
            <a:avLst/>
          </a:prstGeom>
          <a:solidFill>
            <a:srgbClr val="160D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6479F73E-A2BF-48E2-9C1D-D6C62A6B042F}"/>
              </a:ext>
            </a:extLst>
          </p:cNvPr>
          <p:cNvSpPr txBox="1"/>
          <p:nvPr/>
        </p:nvSpPr>
        <p:spPr>
          <a:xfrm>
            <a:off x="4546600" y="2616200"/>
            <a:ext cx="15494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b="1">
                <a:solidFill>
                  <a:srgbClr val="FFFFFF"/>
                </a:solidFill>
                <a:latin typeface="Montserrat"/>
              </a:rPr>
              <a:t>private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9DC46CE3-F35C-4D5E-8D44-3D979050D1BD}"/>
              </a:ext>
            </a:extLst>
          </p:cNvPr>
          <p:cNvSpPr txBox="1"/>
          <p:nvPr/>
        </p:nvSpPr>
        <p:spPr>
          <a:xfrm>
            <a:off x="4546600" y="2895600"/>
            <a:ext cx="15494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>
                <a:solidFill>
                  <a:srgbClr val="FFFFFF"/>
                </a:solidFill>
                <a:latin typeface="Montserrat"/>
              </a:rPr>
              <a:t>Modele unique</a:t>
            </a: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B3E34D22-28AA-4AD7-9B43-2D19D14CBA2C}"/>
              </a:ext>
            </a:extLst>
          </p:cNvPr>
          <p:cNvSpPr/>
          <p:nvPr/>
        </p:nvSpPr>
        <p:spPr>
          <a:xfrm>
            <a:off x="508000" y="3733800"/>
            <a:ext cx="5842000" cy="1016000"/>
          </a:xfrm>
          <a:prstGeom prst="roundRect">
            <a:avLst/>
          </a:prstGeom>
          <a:solidFill>
            <a:srgbClr val="F7F4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06B4DB2B-A06F-4C52-90CE-8782D738B7D0}"/>
              </a:ext>
            </a:extLst>
          </p:cNvPr>
          <p:cNvSpPr txBox="1"/>
          <p:nvPr/>
        </p:nvSpPr>
        <p:spPr>
          <a:xfrm>
            <a:off x="685800" y="3860800"/>
            <a:ext cx="54864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b="1">
                <a:solidFill>
                  <a:srgbClr val="160D3D"/>
                </a:solidFill>
                <a:latin typeface="Montserrat"/>
              </a:rPr>
              <a:t>Contrats de modeles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D93A6E39-26DC-4574-8A19-6041B64866BB}"/>
              </a:ext>
            </a:extLst>
          </p:cNvPr>
          <p:cNvSpPr txBox="1"/>
          <p:nvPr/>
        </p:nvSpPr>
        <p:spPr>
          <a:xfrm>
            <a:off x="685800" y="4114800"/>
            <a:ext cx="54864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160D3D"/>
                </a:solidFill>
                <a:latin typeface="Montserrat"/>
              </a:rPr>
              <a:t>Forcer le schema (noms et types des colonnes).
Le build echoue si le contrat n'est pas respecte.</a:t>
            </a:r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E3B78029-648B-4F38-BB7D-BCDEE39EC175}"/>
              </a:ext>
            </a:extLst>
          </p:cNvPr>
          <p:cNvSpPr/>
          <p:nvPr/>
        </p:nvSpPr>
        <p:spPr>
          <a:xfrm>
            <a:off x="508000" y="4953000"/>
            <a:ext cx="5842000" cy="1016000"/>
          </a:xfrm>
          <a:prstGeom prst="roundRect">
            <a:avLst/>
          </a:prstGeom>
          <a:solidFill>
            <a:srgbClr val="F7F4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00B95A50-6A5B-4850-8038-B4A56B2B6A31}"/>
              </a:ext>
            </a:extLst>
          </p:cNvPr>
          <p:cNvSpPr txBox="1"/>
          <p:nvPr/>
        </p:nvSpPr>
        <p:spPr>
          <a:xfrm>
            <a:off x="685800" y="5080000"/>
            <a:ext cx="54864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b="1">
                <a:solidFill>
                  <a:srgbClr val="160D3D"/>
                </a:solidFill>
                <a:latin typeface="Montserrat"/>
              </a:rPr>
              <a:t>Versions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77073E45-BACE-4566-A0D1-ED97050D15DB}"/>
              </a:ext>
            </a:extLst>
          </p:cNvPr>
          <p:cNvSpPr txBox="1"/>
          <p:nvPr/>
        </p:nvSpPr>
        <p:spPr>
          <a:xfrm>
            <a:off x="685800" y="5334000"/>
            <a:ext cx="54864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160D3D"/>
                </a:solidFill>
                <a:latin typeface="Montserrat"/>
              </a:rPr>
              <a:t>Faire evoluer un modele sans casser les consommateurs en aval.
Deprecation progressive avec deprecation_date.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7821B772-0F5C-4FFE-9225-E8489ABB55E7}"/>
              </a:ext>
            </a:extLst>
          </p:cNvPr>
          <p:cNvSpPr txBox="1"/>
          <p:nvPr/>
        </p:nvSpPr>
        <p:spPr>
          <a:xfrm>
            <a:off x="9260000" y="1981200"/>
            <a:ext cx="2387600" cy="2286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fr-FR" sz="800" b="1">
                <a:solidFill>
                  <a:srgbClr val="6B7BA8"/>
                </a:solidFill>
                <a:latin typeface="Montserrat"/>
              </a:rPr>
              <a:t>DBT_PROJECT.YML</a:t>
            </a:r>
          </a:p>
        </p:txBody>
      </p:sp>
    </p:spTree>
    <p:extLst>
      <p:ext uri="{BB962C8B-B14F-4D97-AF65-F5344CB8AC3E}">
        <p14:creationId xmlns:p14="http://schemas.microsoft.com/office/powerpoint/2010/main" val="137410111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EBF627-0874-C65D-4E56-15E77FE97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F6CB987F-1B6C-6F02-F3C5-B3917E64B8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7700"/>
            <a:ext cx="12192000" cy="5562600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646A88A-AC71-7DD3-3747-3C64E6CE5F7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8000" y="0"/>
            <a:ext cx="11176000" cy="760021"/>
          </a:xfrm>
        </p:spPr>
        <p:txBody>
          <a:bodyPr/>
          <a:lstStyle/>
          <a:p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22A0518-9EC8-1EC5-D492-7BAF6F8183A2}"/>
              </a:ext>
            </a:extLst>
          </p:cNvPr>
          <p:cNvSpPr txBox="1"/>
          <p:nvPr/>
        </p:nvSpPr>
        <p:spPr>
          <a:xfrm>
            <a:off x="1143753" y="2203730"/>
            <a:ext cx="3000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0" b="1" dirty="0">
                <a:solidFill>
                  <a:schemeClr val="bg1"/>
                </a:solidFill>
                <a:latin typeface="Montserrat"/>
              </a:rPr>
              <a:t>0</a:t>
            </a:r>
            <a:r>
              <a:rPr lang="fr-FR" sz="12000" b="1" dirty="0">
                <a:solidFill>
                  <a:schemeClr val="bg1"/>
                </a:solidFill>
                <a:latin typeface="Montserrat"/>
              </a:rPr>
              <a:t>6</a:t>
            </a:r>
            <a:endParaRPr sz="12000" b="1" dirty="0">
              <a:solidFill>
                <a:schemeClr val="bg1"/>
              </a:solidFill>
              <a:latin typeface="Montserra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C30DED-E7C8-7F33-A100-3DAD7E154876}"/>
              </a:ext>
            </a:extLst>
          </p:cNvPr>
          <p:cNvSpPr txBox="1"/>
          <p:nvPr/>
        </p:nvSpPr>
        <p:spPr>
          <a:xfrm>
            <a:off x="4042046" y="2424303"/>
            <a:ext cx="7800000" cy="14978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fr-FR" sz="4400" b="1" dirty="0">
                <a:solidFill>
                  <a:schemeClr val="bg1"/>
                </a:solidFill>
              </a:rPr>
              <a:t>Commandes et
</a:t>
            </a:r>
            <a:r>
              <a:rPr lang="fr-FR" sz="4400" b="1" dirty="0" err="1">
                <a:solidFill>
                  <a:schemeClr val="bg1"/>
                </a:solidFill>
              </a:rPr>
              <a:t>selecteurs</a:t>
            </a:r>
            <a:endParaRPr lang="fr-FR" sz="4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0800613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5"/>
          </p:nvPr>
        </p:nvSpPr>
        <p:spPr>
          <a:xfrm>
            <a:off x="508000" y="0"/>
            <a:ext cx="11176000" cy="760021"/>
          </a:xfrm>
        </p:spPr>
        <p:txBody>
          <a:bodyPr/>
          <a:lstStyle/>
          <a:p>
            <a:pPr algn="ctr"/>
            <a:r>
              <a:rPr sz="2200" b="1">
                <a:solidFill>
                  <a:srgbClr val="160D3D"/>
                </a:solidFill>
                <a:latin typeface="Montserrat"/>
              </a:rPr>
              <a:t>Commandes essentielles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C9138E95-FD04-4AAF-8197-926E8C06B899}"/>
              </a:ext>
            </a:extLst>
          </p:cNvPr>
          <p:cNvSpPr txBox="1"/>
          <p:nvPr/>
        </p:nvSpPr>
        <p:spPr>
          <a:xfrm>
            <a:off x="508000" y="1016000"/>
            <a:ext cx="1117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500" b="1">
                <a:solidFill>
                  <a:srgbClr val="160D3D"/>
                </a:solidFill>
                <a:latin typeface="Montserrat"/>
              </a:rPr>
              <a:t>Les commandes essentielles dbt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757C8C4F-A126-4662-A3CA-04E9A314343F}"/>
              </a:ext>
            </a:extLst>
          </p:cNvPr>
          <p:cNvSpPr/>
          <p:nvPr/>
        </p:nvSpPr>
        <p:spPr>
          <a:xfrm>
            <a:off x="508000" y="1447800"/>
            <a:ext cx="11176000" cy="2286000"/>
          </a:xfrm>
          <a:prstGeom prst="roundRect">
            <a:avLst/>
          </a:prstGeom>
          <a:solidFill>
            <a:srgbClr val="F7F4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A48001AE-5669-42BB-B4E8-502693991E9A}"/>
              </a:ext>
            </a:extLst>
          </p:cNvPr>
          <p:cNvSpPr txBox="1"/>
          <p:nvPr/>
        </p:nvSpPr>
        <p:spPr>
          <a:xfrm>
            <a:off x="685800" y="1574800"/>
            <a:ext cx="1092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300" b="1">
                <a:solidFill>
                  <a:srgbClr val="160D3D"/>
                </a:solidFill>
                <a:latin typeface="Montserrat"/>
              </a:rPr>
              <a:t>Cycle de developpement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B0564575-45C1-4EED-83BE-729942886338}"/>
              </a:ext>
            </a:extLst>
          </p:cNvPr>
          <p:cNvSpPr/>
          <p:nvPr/>
        </p:nvSpPr>
        <p:spPr>
          <a:xfrm>
            <a:off x="685800" y="1955800"/>
            <a:ext cx="3454400" cy="16256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0E464423-EF20-431D-9A43-FED2F68A478F}"/>
              </a:ext>
            </a:extLst>
          </p:cNvPr>
          <p:cNvSpPr txBox="1"/>
          <p:nvPr/>
        </p:nvSpPr>
        <p:spPr>
          <a:xfrm>
            <a:off x="838200" y="2057400"/>
            <a:ext cx="31496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 b="1">
                <a:solidFill>
                  <a:srgbClr val="E8792F"/>
                </a:solidFill>
                <a:latin typeface="Montserrat"/>
              </a:rPr>
              <a:t>Initialisation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838AAF8-596D-41B2-AED9-17FA6A52C59C}"/>
              </a:ext>
            </a:extLst>
          </p:cNvPr>
          <p:cNvSpPr/>
          <p:nvPr/>
        </p:nvSpPr>
        <p:spPr>
          <a:xfrm>
            <a:off x="838200" y="2336800"/>
            <a:ext cx="3149600" cy="304800"/>
          </a:xfrm>
          <a:prstGeom prst="rect">
            <a:avLst/>
          </a:prstGeom>
          <a:solidFill>
            <a:srgbClr val="160D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100" b="1">
                <a:solidFill>
                  <a:srgbClr val="FFFFFF"/>
                </a:solidFill>
                <a:latin typeface="Consolas"/>
              </a:rPr>
              <a:t>dbt debug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C519783-93D2-4C20-83E0-01234D7EB9AA}"/>
              </a:ext>
            </a:extLst>
          </p:cNvPr>
          <p:cNvSpPr/>
          <p:nvPr/>
        </p:nvSpPr>
        <p:spPr>
          <a:xfrm>
            <a:off x="838200" y="2717800"/>
            <a:ext cx="3149600" cy="304800"/>
          </a:xfrm>
          <a:prstGeom prst="rect">
            <a:avLst/>
          </a:prstGeom>
          <a:solidFill>
            <a:srgbClr val="160D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100" b="1">
                <a:solidFill>
                  <a:srgbClr val="FFFFFF"/>
                </a:solidFill>
                <a:latin typeface="Consolas"/>
              </a:rPr>
              <a:t>dbt deps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86C9C66-0FEC-4BC0-9022-0CB343F4497F}"/>
              </a:ext>
            </a:extLst>
          </p:cNvPr>
          <p:cNvSpPr/>
          <p:nvPr/>
        </p:nvSpPr>
        <p:spPr>
          <a:xfrm>
            <a:off x="838200" y="3098800"/>
            <a:ext cx="3149600" cy="304800"/>
          </a:xfrm>
          <a:prstGeom prst="rect">
            <a:avLst/>
          </a:prstGeom>
          <a:solidFill>
            <a:srgbClr val="160D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100" b="1">
                <a:solidFill>
                  <a:srgbClr val="FFFFFF"/>
                </a:solidFill>
                <a:latin typeface="Consolas"/>
              </a:rPr>
              <a:t>dbt seed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55DF4174-F691-433F-9357-A4F04236FA5B}"/>
              </a:ext>
            </a:extLst>
          </p:cNvPr>
          <p:cNvSpPr/>
          <p:nvPr/>
        </p:nvSpPr>
        <p:spPr>
          <a:xfrm>
            <a:off x="4292600" y="1955800"/>
            <a:ext cx="3454400" cy="16256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E87CF744-E18C-45FC-925D-943052D24CA4}"/>
              </a:ext>
            </a:extLst>
          </p:cNvPr>
          <p:cNvSpPr txBox="1"/>
          <p:nvPr/>
        </p:nvSpPr>
        <p:spPr>
          <a:xfrm>
            <a:off x="4445000" y="2057400"/>
            <a:ext cx="31496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 b="1">
                <a:solidFill>
                  <a:srgbClr val="E8792F"/>
                </a:solidFill>
                <a:latin typeface="Montserrat"/>
              </a:rPr>
              <a:t>Build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BB05E66-76CF-4411-A656-61D3B2F3E47C}"/>
              </a:ext>
            </a:extLst>
          </p:cNvPr>
          <p:cNvSpPr/>
          <p:nvPr/>
        </p:nvSpPr>
        <p:spPr>
          <a:xfrm>
            <a:off x="4445000" y="2336800"/>
            <a:ext cx="3149600" cy="304800"/>
          </a:xfrm>
          <a:prstGeom prst="rect">
            <a:avLst/>
          </a:prstGeom>
          <a:solidFill>
            <a:srgbClr val="160D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100" b="1">
                <a:solidFill>
                  <a:srgbClr val="FFFFFF"/>
                </a:solidFill>
                <a:latin typeface="Consolas"/>
              </a:rPr>
              <a:t>dbt run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CFB2238-77D9-44F3-9CAC-7EFCC18342EE}"/>
              </a:ext>
            </a:extLst>
          </p:cNvPr>
          <p:cNvSpPr/>
          <p:nvPr/>
        </p:nvSpPr>
        <p:spPr>
          <a:xfrm>
            <a:off x="4445000" y="2717800"/>
            <a:ext cx="3149600" cy="304800"/>
          </a:xfrm>
          <a:prstGeom prst="rect">
            <a:avLst/>
          </a:prstGeom>
          <a:solidFill>
            <a:srgbClr val="160D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100" b="1">
                <a:solidFill>
                  <a:srgbClr val="FFFFFF"/>
                </a:solidFill>
                <a:latin typeface="Consolas"/>
              </a:rPr>
              <a:t>dbt test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6677AAA-3E74-4F36-94E1-77DE93BFF197}"/>
              </a:ext>
            </a:extLst>
          </p:cNvPr>
          <p:cNvSpPr/>
          <p:nvPr/>
        </p:nvSpPr>
        <p:spPr>
          <a:xfrm>
            <a:off x="4445000" y="3098800"/>
            <a:ext cx="3149600" cy="304800"/>
          </a:xfrm>
          <a:prstGeom prst="rect">
            <a:avLst/>
          </a:prstGeom>
          <a:solidFill>
            <a:srgbClr val="160D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100" b="1">
                <a:solidFill>
                  <a:srgbClr val="FFFFFF"/>
                </a:solidFill>
                <a:latin typeface="Consolas"/>
              </a:rPr>
              <a:t>dbt build</a:t>
            </a: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A17BAB00-B165-44B1-AAC8-8DBB2F5F3E9E}"/>
              </a:ext>
            </a:extLst>
          </p:cNvPr>
          <p:cNvSpPr/>
          <p:nvPr/>
        </p:nvSpPr>
        <p:spPr>
          <a:xfrm>
            <a:off x="7899400" y="1955800"/>
            <a:ext cx="3454400" cy="1625600"/>
          </a:xfrm>
          <a:prstGeom prst="roundRect">
            <a:avLst/>
          </a:prstGeom>
          <a:solidFill>
            <a:srgbClr val="FFFF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B14F9D25-9A74-46CD-88D8-D93BF3297C06}"/>
              </a:ext>
            </a:extLst>
          </p:cNvPr>
          <p:cNvSpPr txBox="1"/>
          <p:nvPr/>
        </p:nvSpPr>
        <p:spPr>
          <a:xfrm>
            <a:off x="8051800" y="2057400"/>
            <a:ext cx="31496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 b="1">
                <a:solidFill>
                  <a:srgbClr val="E8792F"/>
                </a:solidFill>
                <a:latin typeface="Montserrat"/>
              </a:rPr>
              <a:t>Inspection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C687F31-F726-4ECD-A38E-FE8F04A1CB8C}"/>
              </a:ext>
            </a:extLst>
          </p:cNvPr>
          <p:cNvSpPr/>
          <p:nvPr/>
        </p:nvSpPr>
        <p:spPr>
          <a:xfrm>
            <a:off x="8051800" y="2336800"/>
            <a:ext cx="3149600" cy="304800"/>
          </a:xfrm>
          <a:prstGeom prst="rect">
            <a:avLst/>
          </a:prstGeom>
          <a:solidFill>
            <a:srgbClr val="160D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100" b="1">
                <a:solidFill>
                  <a:srgbClr val="FFFFFF"/>
                </a:solidFill>
                <a:latin typeface="Consolas"/>
              </a:rPr>
              <a:t>dbt compile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BF11DC0E-99AE-44F9-ADB3-21E9910FE67F}"/>
              </a:ext>
            </a:extLst>
          </p:cNvPr>
          <p:cNvSpPr/>
          <p:nvPr/>
        </p:nvSpPr>
        <p:spPr>
          <a:xfrm>
            <a:off x="8051800" y="2717800"/>
            <a:ext cx="3149600" cy="304800"/>
          </a:xfrm>
          <a:prstGeom prst="rect">
            <a:avLst/>
          </a:prstGeom>
          <a:solidFill>
            <a:srgbClr val="160D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100" b="1">
                <a:solidFill>
                  <a:srgbClr val="FFFFFF"/>
                </a:solidFill>
                <a:latin typeface="Consolas"/>
              </a:rPr>
              <a:t>dbt snapshot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0295FFE-51F5-4582-A89C-7A7E959AF0C5}"/>
              </a:ext>
            </a:extLst>
          </p:cNvPr>
          <p:cNvSpPr/>
          <p:nvPr/>
        </p:nvSpPr>
        <p:spPr>
          <a:xfrm>
            <a:off x="8051800" y="3098800"/>
            <a:ext cx="3149600" cy="304800"/>
          </a:xfrm>
          <a:prstGeom prst="rect">
            <a:avLst/>
          </a:prstGeom>
          <a:solidFill>
            <a:srgbClr val="160D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100" b="1">
                <a:solidFill>
                  <a:srgbClr val="FFFFFF"/>
                </a:solidFill>
                <a:latin typeface="Consolas"/>
              </a:rPr>
              <a:t>dbt clean</a:t>
            </a:r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EE9E0C42-4B82-4A40-9EA5-A64BD64C5602}"/>
              </a:ext>
            </a:extLst>
          </p:cNvPr>
          <p:cNvSpPr/>
          <p:nvPr/>
        </p:nvSpPr>
        <p:spPr>
          <a:xfrm>
            <a:off x="508000" y="3937000"/>
            <a:ext cx="5334000" cy="1905000"/>
          </a:xfrm>
          <a:prstGeom prst="roundRect">
            <a:avLst/>
          </a:prstGeom>
          <a:solidFill>
            <a:srgbClr val="FFF0E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DFE48DBF-6143-4BDA-AB68-FD043EB8E258}"/>
              </a:ext>
            </a:extLst>
          </p:cNvPr>
          <p:cNvSpPr txBox="1"/>
          <p:nvPr/>
        </p:nvSpPr>
        <p:spPr>
          <a:xfrm>
            <a:off x="685800" y="4064000"/>
            <a:ext cx="50038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300" b="1">
                <a:solidFill>
                  <a:srgbClr val="E8792F"/>
                </a:solidFill>
                <a:latin typeface="Montserrat"/>
              </a:rPr>
              <a:t>Documentation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B1310DA-8E19-4137-928B-7D57A5BF95EB}"/>
              </a:ext>
            </a:extLst>
          </p:cNvPr>
          <p:cNvSpPr/>
          <p:nvPr/>
        </p:nvSpPr>
        <p:spPr>
          <a:xfrm>
            <a:off x="685800" y="4445000"/>
            <a:ext cx="5003800" cy="355600"/>
          </a:xfrm>
          <a:prstGeom prst="rect">
            <a:avLst/>
          </a:prstGeom>
          <a:solidFill>
            <a:srgbClr val="E879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100" b="1">
                <a:solidFill>
                  <a:srgbClr val="FFFFFF"/>
                </a:solidFill>
                <a:latin typeface="Consolas"/>
              </a:rPr>
              <a:t>dbt docs generate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BB7D910-AC95-4AB0-8B66-37020E19AD7C}"/>
              </a:ext>
            </a:extLst>
          </p:cNvPr>
          <p:cNvSpPr/>
          <p:nvPr/>
        </p:nvSpPr>
        <p:spPr>
          <a:xfrm>
            <a:off x="685800" y="4902200"/>
            <a:ext cx="5003800" cy="355600"/>
          </a:xfrm>
          <a:prstGeom prst="rect">
            <a:avLst/>
          </a:prstGeom>
          <a:solidFill>
            <a:srgbClr val="E879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100" b="1">
                <a:solidFill>
                  <a:srgbClr val="FFFFFF"/>
                </a:solidFill>
                <a:latin typeface="Consolas"/>
              </a:rPr>
              <a:t>dbt docs serve</a:t>
            </a:r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FC195957-CD45-4D6C-9CB7-94D153097F26}"/>
              </a:ext>
            </a:extLst>
          </p:cNvPr>
          <p:cNvSpPr txBox="1"/>
          <p:nvPr/>
        </p:nvSpPr>
        <p:spPr>
          <a:xfrm>
            <a:off x="685800" y="5359400"/>
            <a:ext cx="50038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160D3D"/>
                </a:solidFill>
                <a:latin typeface="Montserrat"/>
              </a:rPr>
              <a:t>Genere et sert localement la doc HTML interactive</a:t>
            </a:r>
          </a:p>
        </p:txBody>
      </p:sp>
      <p:sp>
        <p:nvSpPr>
          <p:cNvPr id="27" name="Rectangle : coins arrondis 26">
            <a:extLst>
              <a:ext uri="{FF2B5EF4-FFF2-40B4-BE49-F238E27FC236}">
                <a16:creationId xmlns:a16="http://schemas.microsoft.com/office/drawing/2014/main" id="{165CFC8B-28D9-43BB-9843-A6FEA3175482}"/>
              </a:ext>
            </a:extLst>
          </p:cNvPr>
          <p:cNvSpPr/>
          <p:nvPr/>
        </p:nvSpPr>
        <p:spPr>
          <a:xfrm>
            <a:off x="6350000" y="3937000"/>
            <a:ext cx="5334000" cy="1905000"/>
          </a:xfrm>
          <a:prstGeom prst="roundRect">
            <a:avLst/>
          </a:prstGeom>
          <a:solidFill>
            <a:srgbClr val="F7F4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04191EE3-481E-4B46-B5D7-E1FDAA10F9F7}"/>
              </a:ext>
            </a:extLst>
          </p:cNvPr>
          <p:cNvSpPr txBox="1"/>
          <p:nvPr/>
        </p:nvSpPr>
        <p:spPr>
          <a:xfrm>
            <a:off x="6527800" y="4064000"/>
            <a:ext cx="50038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300" b="1">
                <a:solidFill>
                  <a:srgbClr val="160D3D"/>
                </a:solidFill>
                <a:latin typeface="Montserrat"/>
              </a:rPr>
              <a:t>Autres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DB864FE-2404-4427-A0F0-D60CDC02BA25}"/>
              </a:ext>
            </a:extLst>
          </p:cNvPr>
          <p:cNvSpPr/>
          <p:nvPr/>
        </p:nvSpPr>
        <p:spPr>
          <a:xfrm>
            <a:off x="6527800" y="4419600"/>
            <a:ext cx="2133600" cy="304800"/>
          </a:xfrm>
          <a:prstGeom prst="rect">
            <a:avLst/>
          </a:prstGeom>
          <a:solidFill>
            <a:srgbClr val="160D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100" b="1">
                <a:solidFill>
                  <a:srgbClr val="FFFFFF"/>
                </a:solidFill>
                <a:latin typeface="Consolas"/>
              </a:rPr>
              <a:t>dbt ls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BB876AB1-311F-4FBB-A462-4135C264728B}"/>
              </a:ext>
            </a:extLst>
          </p:cNvPr>
          <p:cNvSpPr txBox="1"/>
          <p:nvPr/>
        </p:nvSpPr>
        <p:spPr>
          <a:xfrm>
            <a:off x="8763000" y="4445000"/>
            <a:ext cx="28448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160D3D"/>
                </a:solidFill>
                <a:latin typeface="Montserrat"/>
              </a:rPr>
              <a:t>Lister les modeles selectionnes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B1DE2E5-F4F4-431C-8489-96E042D67106}"/>
              </a:ext>
            </a:extLst>
          </p:cNvPr>
          <p:cNvSpPr/>
          <p:nvPr/>
        </p:nvSpPr>
        <p:spPr>
          <a:xfrm>
            <a:off x="6527800" y="4927600"/>
            <a:ext cx="2133600" cy="304800"/>
          </a:xfrm>
          <a:prstGeom prst="rect">
            <a:avLst/>
          </a:prstGeom>
          <a:solidFill>
            <a:srgbClr val="160D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100" b="1">
                <a:solidFill>
                  <a:srgbClr val="FFFFFF"/>
                </a:solidFill>
                <a:latin typeface="Consolas"/>
              </a:rPr>
              <a:t>dbt show</a:t>
            </a: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36B19D3A-8998-4C0D-86BA-5B17F65DB4B8}"/>
              </a:ext>
            </a:extLst>
          </p:cNvPr>
          <p:cNvSpPr txBox="1"/>
          <p:nvPr/>
        </p:nvSpPr>
        <p:spPr>
          <a:xfrm>
            <a:off x="8763000" y="4953000"/>
            <a:ext cx="28448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160D3D"/>
                </a:solidFill>
                <a:latin typeface="Montserrat"/>
              </a:rPr>
              <a:t>Previsualiser le resultat d'un select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A4E097A-1521-43B8-BA93-016AD4B3FE83}"/>
              </a:ext>
            </a:extLst>
          </p:cNvPr>
          <p:cNvSpPr/>
          <p:nvPr/>
        </p:nvSpPr>
        <p:spPr>
          <a:xfrm>
            <a:off x="6527800" y="5435600"/>
            <a:ext cx="2133600" cy="304800"/>
          </a:xfrm>
          <a:prstGeom prst="rect">
            <a:avLst/>
          </a:prstGeom>
          <a:solidFill>
            <a:srgbClr val="160D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100" b="1">
                <a:solidFill>
                  <a:srgbClr val="FFFFFF"/>
                </a:solidFill>
                <a:latin typeface="Consolas"/>
              </a:rPr>
              <a:t>dbt source freshness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FBC0AA3E-618C-4580-BE5D-E747FCC341BC}"/>
              </a:ext>
            </a:extLst>
          </p:cNvPr>
          <p:cNvSpPr txBox="1"/>
          <p:nvPr/>
        </p:nvSpPr>
        <p:spPr>
          <a:xfrm>
            <a:off x="8763000" y="5461000"/>
            <a:ext cx="28448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160D3D"/>
                </a:solidFill>
                <a:latin typeface="Montserrat"/>
              </a:rPr>
              <a:t>Verifier la fraicheur des sources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5"/>
          </p:nvPr>
        </p:nvSpPr>
        <p:spPr>
          <a:xfrm>
            <a:off x="508000" y="0"/>
            <a:ext cx="11176000" cy="760021"/>
          </a:xfrm>
        </p:spPr>
        <p:txBody>
          <a:bodyPr/>
          <a:lstStyle/>
          <a:p>
            <a:pPr algn="ctr"/>
            <a:r>
              <a:rPr sz="2200" b="1">
                <a:solidFill>
                  <a:srgbClr val="160D3D"/>
                </a:solidFill>
                <a:latin typeface="Montserrat"/>
              </a:rPr>
              <a:t>Selecteurs de graphe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00000" y="1930400"/>
            <a:ext cx="5200000" cy="3492500"/>
          </a:xfrm>
          <a:prstGeom prst="rect">
            <a:avLst/>
          </a:prstGeom>
          <a:solidFill>
            <a:srgbClr val="0A1730"/>
          </a:solidFill>
          <a:ln w="12700" cap="flat" cmpd="sng" algn="ctr">
            <a:noFill/>
            <a:prstDash val="solid"/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 anchorCtr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 lang="fr-FR" sz="900" i="1" dirty="0">
              <a:solidFill>
                <a:srgbClr val="6B7BA8"/>
              </a:solidFill>
              <a:latin typeface="Courier New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lang="fr-FR" sz="900" i="1" dirty="0">
              <a:solidFill>
                <a:srgbClr val="6B7BA8"/>
              </a:solidFill>
              <a:latin typeface="Courier New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lang="fr-FR" sz="900" i="1" dirty="0">
              <a:solidFill>
                <a:srgbClr val="6B7BA8"/>
              </a:solidFill>
              <a:latin typeface="Courier New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i="1" dirty="0">
                <a:solidFill>
                  <a:srgbClr val="6B7BA8"/>
                </a:solidFill>
                <a:latin typeface="Courier New"/>
              </a:rPr>
              <a:t># Exemples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b="1" dirty="0">
                <a:solidFill>
                  <a:srgbClr val="9D88FF"/>
                </a:solidFill>
                <a:latin typeface="Courier New"/>
              </a:rPr>
              <a:t>dbt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run --select stg_tpch__orders+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b="1" dirty="0">
                <a:solidFill>
                  <a:srgbClr val="9D88FF"/>
                </a:solidFill>
                <a:latin typeface="Courier New"/>
              </a:rPr>
              <a:t>dbt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run --select +fct_orders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b="1" dirty="0">
                <a:solidFill>
                  <a:srgbClr val="9D88FF"/>
                </a:solidFill>
                <a:latin typeface="Courier New"/>
              </a:rPr>
              <a:t>dbt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run --select staging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b="1" dirty="0">
                <a:solidFill>
                  <a:srgbClr val="9D88FF"/>
                </a:solidFill>
                <a:latin typeface="Courier New"/>
              </a:rPr>
              <a:t>dbt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run --select stg_tpch__orders+</a:t>
            </a:r>
            <a:r>
              <a:rPr lang="fr-FR" sz="900" dirty="0">
                <a:solidFill>
                  <a:srgbClr val="FFA76B"/>
                </a:solidFill>
                <a:latin typeface="Courier New"/>
              </a:rPr>
              <a:t>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b="1" dirty="0">
                <a:solidFill>
                  <a:srgbClr val="9D88FF"/>
                </a:solidFill>
                <a:latin typeface="Courier New"/>
              </a:rPr>
              <a:t>dbt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run --select marts \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--exclude agg_supplier_performance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b="1" dirty="0">
                <a:solidFill>
                  <a:srgbClr val="9D88FF"/>
                </a:solidFill>
                <a:latin typeface="Courier New"/>
              </a:rPr>
              <a:t>dbt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run --select tag:daily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b="1" dirty="0">
                <a:solidFill>
                  <a:srgbClr val="9D88FF"/>
                </a:solidFill>
                <a:latin typeface="Courier New"/>
              </a:rPr>
              <a:t>dbt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test --select tag:critical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i="1" dirty="0">
                <a:solidFill>
                  <a:srgbClr val="6B7BA8"/>
                </a:solidFill>
                <a:latin typeface="Courier New"/>
              </a:rPr>
              <a:t># Lister les ressources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b="1" dirty="0">
                <a:solidFill>
                  <a:srgbClr val="9D88FF"/>
                </a:solidFill>
                <a:latin typeface="Courier New"/>
              </a:rPr>
              <a:t>dbt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ls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--select \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+agg_customer_lifetime_value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i="1" dirty="0">
                <a:solidFill>
                  <a:srgbClr val="6B7BA8"/>
                </a:solidFill>
                <a:latin typeface="Courier New"/>
              </a:rPr>
              <a:t># Compiler pour voir le SQL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b="1" dirty="0">
                <a:solidFill>
                  <a:srgbClr val="9D88FF"/>
                </a:solidFill>
                <a:latin typeface="Courier New"/>
              </a:rPr>
              <a:t>dbt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compile --select fct_orders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06D5D363-E706-4068-8769-7BE68BE813F0}"/>
              </a:ext>
            </a:extLst>
          </p:cNvPr>
          <p:cNvSpPr txBox="1"/>
          <p:nvPr/>
        </p:nvSpPr>
        <p:spPr>
          <a:xfrm>
            <a:off x="508000" y="1079500"/>
            <a:ext cx="584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500" b="1">
                <a:solidFill>
                  <a:srgbClr val="160D3D"/>
                </a:solidFill>
                <a:latin typeface="Montserrat"/>
              </a:rPr>
              <a:t>Lancer uniquement ce qu'il faut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D06E9BAC-0A2D-466D-9F68-588973489405}"/>
              </a:ext>
            </a:extLst>
          </p:cNvPr>
          <p:cNvSpPr txBox="1"/>
          <p:nvPr/>
        </p:nvSpPr>
        <p:spPr>
          <a:xfrm>
            <a:off x="508000" y="1498600"/>
            <a:ext cx="5842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300" b="1">
                <a:solidFill>
                  <a:srgbClr val="160D3D"/>
                </a:solidFill>
                <a:latin typeface="Montserrat"/>
              </a:rPr>
              <a:t>Operateurs de graphe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7B5D5AD2-6AC8-4CBC-81CF-DE62223A01C9}"/>
              </a:ext>
            </a:extLst>
          </p:cNvPr>
          <p:cNvSpPr/>
          <p:nvPr/>
        </p:nvSpPr>
        <p:spPr>
          <a:xfrm>
            <a:off x="508000" y="1828800"/>
            <a:ext cx="5842000" cy="660400"/>
          </a:xfrm>
          <a:prstGeom prst="roundRect">
            <a:avLst/>
          </a:prstGeom>
          <a:solidFill>
            <a:srgbClr val="F7F4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35134A3-117C-4EA9-8D61-B5D213A00125}"/>
              </a:ext>
            </a:extLst>
          </p:cNvPr>
          <p:cNvSpPr/>
          <p:nvPr/>
        </p:nvSpPr>
        <p:spPr>
          <a:xfrm>
            <a:off x="685800" y="1981200"/>
            <a:ext cx="1270000" cy="355600"/>
          </a:xfrm>
          <a:prstGeom prst="rect">
            <a:avLst/>
          </a:prstGeom>
          <a:solidFill>
            <a:srgbClr val="160D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200" b="1">
                <a:solidFill>
                  <a:srgbClr val="FFFFFF"/>
                </a:solidFill>
                <a:latin typeface="Consolas"/>
              </a:rPr>
              <a:t>model+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9110CCD6-B1D7-4625-AA6A-090BCEC71C73}"/>
              </a:ext>
            </a:extLst>
          </p:cNvPr>
          <p:cNvSpPr txBox="1"/>
          <p:nvPr/>
        </p:nvSpPr>
        <p:spPr>
          <a:xfrm>
            <a:off x="2108200" y="1930400"/>
            <a:ext cx="42164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b="1">
                <a:solidFill>
                  <a:srgbClr val="160D3D"/>
                </a:solidFill>
                <a:latin typeface="Montserrat"/>
              </a:rPr>
              <a:t>Descendants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75411905-E54E-46E8-BAD4-141EAAA6F2BD}"/>
              </a:ext>
            </a:extLst>
          </p:cNvPr>
          <p:cNvSpPr txBox="1"/>
          <p:nvPr/>
        </p:nvSpPr>
        <p:spPr>
          <a:xfrm>
            <a:off x="2108200" y="2159000"/>
            <a:ext cx="42164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>
                <a:solidFill>
                  <a:srgbClr val="160D3D"/>
                </a:solidFill>
                <a:latin typeface="Montserrat"/>
              </a:rPr>
              <a:t>Le modele et tout en aval</a:t>
            </a: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4FB1B0DB-76DD-4D09-B56B-F8772AEB83B0}"/>
              </a:ext>
            </a:extLst>
          </p:cNvPr>
          <p:cNvSpPr/>
          <p:nvPr/>
        </p:nvSpPr>
        <p:spPr>
          <a:xfrm>
            <a:off x="508000" y="2590800"/>
            <a:ext cx="5842000" cy="660400"/>
          </a:xfrm>
          <a:prstGeom prst="roundRect">
            <a:avLst/>
          </a:prstGeom>
          <a:solidFill>
            <a:srgbClr val="F7F4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B5DE02E-FD0A-4051-9EB3-6B5D1B196EC7}"/>
              </a:ext>
            </a:extLst>
          </p:cNvPr>
          <p:cNvSpPr/>
          <p:nvPr/>
        </p:nvSpPr>
        <p:spPr>
          <a:xfrm>
            <a:off x="685800" y="2743200"/>
            <a:ext cx="1270000" cy="355600"/>
          </a:xfrm>
          <a:prstGeom prst="rect">
            <a:avLst/>
          </a:prstGeom>
          <a:solidFill>
            <a:srgbClr val="160D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200" b="1">
                <a:solidFill>
                  <a:srgbClr val="FFFFFF"/>
                </a:solidFill>
                <a:latin typeface="Consolas"/>
              </a:rPr>
              <a:t>+model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A2E25B63-C57B-4760-B899-5E7927069E1D}"/>
              </a:ext>
            </a:extLst>
          </p:cNvPr>
          <p:cNvSpPr txBox="1"/>
          <p:nvPr/>
        </p:nvSpPr>
        <p:spPr>
          <a:xfrm>
            <a:off x="2108200" y="2692400"/>
            <a:ext cx="42164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b="1">
                <a:solidFill>
                  <a:srgbClr val="160D3D"/>
                </a:solidFill>
                <a:latin typeface="Montserrat"/>
              </a:rPr>
              <a:t>Ancetres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4335B522-246B-41F0-A6C8-6CF829057F87}"/>
              </a:ext>
            </a:extLst>
          </p:cNvPr>
          <p:cNvSpPr txBox="1"/>
          <p:nvPr/>
        </p:nvSpPr>
        <p:spPr>
          <a:xfrm>
            <a:off x="2108200" y="2921000"/>
            <a:ext cx="42164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>
                <a:solidFill>
                  <a:srgbClr val="160D3D"/>
                </a:solidFill>
                <a:latin typeface="Montserrat"/>
              </a:rPr>
              <a:t>Tout en amont et le modele</a:t>
            </a: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F61ECD7F-A746-43C4-AAE6-AEB66CABAE5D}"/>
              </a:ext>
            </a:extLst>
          </p:cNvPr>
          <p:cNvSpPr/>
          <p:nvPr/>
        </p:nvSpPr>
        <p:spPr>
          <a:xfrm>
            <a:off x="508000" y="3352800"/>
            <a:ext cx="5842000" cy="660400"/>
          </a:xfrm>
          <a:prstGeom prst="roundRect">
            <a:avLst/>
          </a:prstGeom>
          <a:solidFill>
            <a:srgbClr val="F7F4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02FF465-7CF9-4801-AF11-EBDFBE766380}"/>
              </a:ext>
            </a:extLst>
          </p:cNvPr>
          <p:cNvSpPr/>
          <p:nvPr/>
        </p:nvSpPr>
        <p:spPr>
          <a:xfrm>
            <a:off x="685800" y="3505200"/>
            <a:ext cx="1270000" cy="355600"/>
          </a:xfrm>
          <a:prstGeom prst="rect">
            <a:avLst/>
          </a:prstGeom>
          <a:solidFill>
            <a:srgbClr val="160D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200" b="1">
                <a:solidFill>
                  <a:srgbClr val="FFFFFF"/>
                </a:solidFill>
                <a:latin typeface="Consolas"/>
              </a:rPr>
              <a:t>model+1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1EB8563F-0F57-4869-838E-EBB98D51B83A}"/>
              </a:ext>
            </a:extLst>
          </p:cNvPr>
          <p:cNvSpPr txBox="1"/>
          <p:nvPr/>
        </p:nvSpPr>
        <p:spPr>
          <a:xfrm>
            <a:off x="2108200" y="3454400"/>
            <a:ext cx="42164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b="1">
                <a:solidFill>
                  <a:srgbClr val="160D3D"/>
                </a:solidFill>
                <a:latin typeface="Montserrat"/>
              </a:rPr>
              <a:t>Enfants directs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A66908E4-071C-491C-B864-1E280B2BC239}"/>
              </a:ext>
            </a:extLst>
          </p:cNvPr>
          <p:cNvSpPr txBox="1"/>
          <p:nvPr/>
        </p:nvSpPr>
        <p:spPr>
          <a:xfrm>
            <a:off x="2108200" y="3683000"/>
            <a:ext cx="42164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>
                <a:solidFill>
                  <a:srgbClr val="160D3D"/>
                </a:solidFill>
                <a:latin typeface="Montserrat"/>
              </a:rPr>
              <a:t>Profondeur limitee a 1</a:t>
            </a:r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C7E9A071-0044-4CB4-9310-BDA5EF35A0EB}"/>
              </a:ext>
            </a:extLst>
          </p:cNvPr>
          <p:cNvSpPr/>
          <p:nvPr/>
        </p:nvSpPr>
        <p:spPr>
          <a:xfrm>
            <a:off x="508000" y="4114800"/>
            <a:ext cx="5842000" cy="660400"/>
          </a:xfrm>
          <a:prstGeom prst="roundRect">
            <a:avLst/>
          </a:prstGeom>
          <a:solidFill>
            <a:srgbClr val="F7F4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B08F208-288D-4932-9AC5-4AA7266AC3E1}"/>
              </a:ext>
            </a:extLst>
          </p:cNvPr>
          <p:cNvSpPr/>
          <p:nvPr/>
        </p:nvSpPr>
        <p:spPr>
          <a:xfrm>
            <a:off x="685800" y="4267200"/>
            <a:ext cx="1270000" cy="355600"/>
          </a:xfrm>
          <a:prstGeom prst="rect">
            <a:avLst/>
          </a:prstGeom>
          <a:solidFill>
            <a:srgbClr val="160D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200" b="1">
                <a:solidFill>
                  <a:srgbClr val="FFFFFF"/>
                </a:solidFill>
                <a:latin typeface="Consolas"/>
              </a:rPr>
              <a:t>@model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9F26D1BD-8338-4E14-927D-1A9FD86A799D}"/>
              </a:ext>
            </a:extLst>
          </p:cNvPr>
          <p:cNvSpPr txBox="1"/>
          <p:nvPr/>
        </p:nvSpPr>
        <p:spPr>
          <a:xfrm>
            <a:off x="2108200" y="4216400"/>
            <a:ext cx="42164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b="1">
                <a:solidFill>
                  <a:srgbClr val="160D3D"/>
                </a:solidFill>
                <a:latin typeface="Montserrat"/>
              </a:rPr>
              <a:t>Famille complete</a:t>
            </a: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5E30932E-5576-44B2-9D21-E5B3CC36761C}"/>
              </a:ext>
            </a:extLst>
          </p:cNvPr>
          <p:cNvSpPr txBox="1"/>
          <p:nvPr/>
        </p:nvSpPr>
        <p:spPr>
          <a:xfrm>
            <a:off x="2108200" y="4445000"/>
            <a:ext cx="42164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>
                <a:solidFill>
                  <a:srgbClr val="160D3D"/>
                </a:solidFill>
                <a:latin typeface="Montserrat"/>
              </a:rPr>
              <a:t>Ancetres + descendants + ancetres des descendants</a:t>
            </a:r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97446682-73BA-4C5E-8CE6-F8692A88B508}"/>
              </a:ext>
            </a:extLst>
          </p:cNvPr>
          <p:cNvSpPr/>
          <p:nvPr/>
        </p:nvSpPr>
        <p:spPr>
          <a:xfrm>
            <a:off x="508000" y="4953000"/>
            <a:ext cx="5842000" cy="990600"/>
          </a:xfrm>
          <a:prstGeom prst="roundRect">
            <a:avLst/>
          </a:prstGeom>
          <a:solidFill>
            <a:srgbClr val="FFF0E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111C4958-2D0A-4A11-8D69-F15EDC579A5B}"/>
              </a:ext>
            </a:extLst>
          </p:cNvPr>
          <p:cNvSpPr txBox="1"/>
          <p:nvPr/>
        </p:nvSpPr>
        <p:spPr>
          <a:xfrm>
            <a:off x="685800" y="5080000"/>
            <a:ext cx="54864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b="1">
                <a:solidFill>
                  <a:srgbClr val="E8792F"/>
                </a:solidFill>
                <a:latin typeface="Montserrat"/>
              </a:rPr>
              <a:t>Filtrer aussi par tag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11F54471-32E8-4C0B-A5DE-765B55F49861}"/>
              </a:ext>
            </a:extLst>
          </p:cNvPr>
          <p:cNvSpPr txBox="1"/>
          <p:nvPr/>
        </p:nvSpPr>
        <p:spPr>
          <a:xfrm>
            <a:off x="685800" y="5334000"/>
            <a:ext cx="5486400" cy="584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>
                <a:solidFill>
                  <a:srgbClr val="160D3D"/>
                </a:solidFill>
                <a:latin typeface="Montserrat"/>
              </a:rPr>
              <a:t>dbt run --select tag:daily lance uniquement les modeles tagges 'daily'.
Utile pour les schedules : tag:hourly, tag:nightly, tag:critical...</a:t>
            </a:r>
            <a:endParaRPr lang="fr-FR" sz="1100">
              <a:solidFill>
                <a:srgbClr val="160D3D"/>
              </a:solidFill>
              <a:latin typeface="Montserrat"/>
            </a:endParaRP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522BC896-EFEE-4CB9-A366-561EAD447AB2}"/>
              </a:ext>
            </a:extLst>
          </p:cNvPr>
          <p:cNvSpPr txBox="1"/>
          <p:nvPr/>
        </p:nvSpPr>
        <p:spPr>
          <a:xfrm>
            <a:off x="9260000" y="2057400"/>
            <a:ext cx="2387600" cy="2286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fr-FR" sz="800" b="1">
                <a:solidFill>
                  <a:srgbClr val="6B7BA8"/>
                </a:solidFill>
                <a:latin typeface="Montserrat"/>
              </a:rPr>
              <a:t>TERMINAL</a:t>
            </a:r>
          </a:p>
        </p:txBody>
      </p:sp>
    </p:spTree>
    <p:extLst>
      <p:ext uri="{BB962C8B-B14F-4D97-AF65-F5344CB8AC3E}">
        <p14:creationId xmlns:p14="http://schemas.microsoft.com/office/powerpoint/2010/main" val="1249853692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5"/>
          </p:nvPr>
        </p:nvSpPr>
        <p:spPr>
          <a:xfrm>
            <a:off x="508000" y="0"/>
            <a:ext cx="11176000" cy="760021"/>
          </a:xfrm>
        </p:spPr>
        <p:txBody>
          <a:bodyPr/>
          <a:lstStyle/>
          <a:p>
            <a:pPr algn="ctr"/>
            <a:r>
              <a:rPr sz="2200" b="1">
                <a:solidFill>
                  <a:srgbClr val="160D3D"/>
                </a:solidFill>
                <a:latin typeface="Montserrat"/>
              </a:rPr>
              <a:t>Exercice 6A</a:t>
            </a:r>
          </a:p>
        </p:txBody>
      </p:sp>
      <p:sp>
        <p:nvSpPr>
          <p:cNvPr id="32" name="Rectangle : coins arrondis 31">
            <a:extLst>
              <a:ext uri="{FF2B5EF4-FFF2-40B4-BE49-F238E27FC236}">
                <a16:creationId xmlns:a16="http://schemas.microsoft.com/office/drawing/2014/main" id="{C5867522-7761-4F83-B897-90226E5DC8E0}"/>
              </a:ext>
            </a:extLst>
          </p:cNvPr>
          <p:cNvSpPr/>
          <p:nvPr/>
        </p:nvSpPr>
        <p:spPr>
          <a:xfrm>
            <a:off x="508000" y="990600"/>
            <a:ext cx="11176000" cy="558800"/>
          </a:xfrm>
          <a:prstGeom prst="roundRect">
            <a:avLst/>
          </a:prstGeom>
          <a:solidFill>
            <a:srgbClr val="E879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0EE61DC5-82FC-4D3C-8358-187B671BD0ED}"/>
              </a:ext>
            </a:extLst>
          </p:cNvPr>
          <p:cNvSpPr txBox="1"/>
          <p:nvPr/>
        </p:nvSpPr>
        <p:spPr>
          <a:xfrm>
            <a:off x="711200" y="1066800"/>
            <a:ext cx="10922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 b="1">
                <a:solidFill>
                  <a:srgbClr val="FFFFFF"/>
                </a:solidFill>
                <a:latin typeface="Montserrat"/>
              </a:rPr>
              <a:t>EXERCICE 6A</a:t>
            </a:r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80FE7167-2E73-4DF5-81A6-60594CE1DB94}"/>
              </a:ext>
            </a:extLst>
          </p:cNvPr>
          <p:cNvSpPr txBox="1"/>
          <p:nvPr/>
        </p:nvSpPr>
        <p:spPr>
          <a:xfrm>
            <a:off x="711200" y="1270000"/>
            <a:ext cx="10922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300" b="1">
                <a:solidFill>
                  <a:srgbClr val="FFFFFF"/>
                </a:solidFill>
                <a:latin typeface="Montserrat"/>
              </a:rPr>
              <a:t>Challenges selecteurs</a:t>
            </a:r>
          </a:p>
        </p:txBody>
      </p:sp>
      <p:sp>
        <p:nvSpPr>
          <p:cNvPr id="35" name="Rectangle : coins arrondis 34">
            <a:extLst>
              <a:ext uri="{FF2B5EF4-FFF2-40B4-BE49-F238E27FC236}">
                <a16:creationId xmlns:a16="http://schemas.microsoft.com/office/drawing/2014/main" id="{FED5C6D2-F7AD-4A5B-ABF6-C7D4F00E2A3E}"/>
              </a:ext>
            </a:extLst>
          </p:cNvPr>
          <p:cNvSpPr/>
          <p:nvPr/>
        </p:nvSpPr>
        <p:spPr>
          <a:xfrm>
            <a:off x="508000" y="1676400"/>
            <a:ext cx="11176000" cy="4140200"/>
          </a:xfrm>
          <a:prstGeom prst="roundRect">
            <a:avLst/>
          </a:prstGeom>
          <a:solidFill>
            <a:srgbClr val="F7F4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3D3AFF4A-000A-4042-ACAE-48FACBCD7248}"/>
              </a:ext>
            </a:extLst>
          </p:cNvPr>
          <p:cNvSpPr txBox="1"/>
          <p:nvPr/>
        </p:nvSpPr>
        <p:spPr>
          <a:xfrm>
            <a:off x="711200" y="1854200"/>
            <a:ext cx="1092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b="1">
                <a:solidFill>
                  <a:srgbClr val="160D3D"/>
                </a:solidFill>
                <a:latin typeface="Montserrat"/>
              </a:rPr>
              <a:t>Étapes</a:t>
            </a:r>
          </a:p>
        </p:txBody>
      </p:sp>
      <p:sp>
        <p:nvSpPr>
          <p:cNvPr id="37" name="Ellipse 36">
            <a:extLst>
              <a:ext uri="{FF2B5EF4-FFF2-40B4-BE49-F238E27FC236}">
                <a16:creationId xmlns:a16="http://schemas.microsoft.com/office/drawing/2014/main" id="{4C4E4C14-23D2-4BD1-A878-41A844EF18A1}"/>
              </a:ext>
            </a:extLst>
          </p:cNvPr>
          <p:cNvSpPr/>
          <p:nvPr/>
        </p:nvSpPr>
        <p:spPr>
          <a:xfrm>
            <a:off x="711200" y="2286000"/>
            <a:ext cx="279400" cy="279400"/>
          </a:xfrm>
          <a:prstGeom prst="ellipse">
            <a:avLst/>
          </a:prstGeom>
          <a:solidFill>
            <a:srgbClr val="E879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fr-FR" sz="10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C4BE0F9D-1B72-4A92-8A97-47AC75DB7559}"/>
              </a:ext>
            </a:extLst>
          </p:cNvPr>
          <p:cNvSpPr txBox="1"/>
          <p:nvPr/>
        </p:nvSpPr>
        <p:spPr>
          <a:xfrm>
            <a:off x="1117600" y="2298700"/>
            <a:ext cx="1016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>
                <a:solidFill>
                  <a:srgbClr val="160D3D"/>
                </a:solidFill>
                <a:latin typeface="Montserrat"/>
              </a:rPr>
              <a:t>Lister tous les ancetres de agg_customer_lifetime_value dbt ls --select +agg_customer_lifetime_value</a:t>
            </a:r>
            <a:endParaRPr lang="fr-FR" sz="1100">
              <a:solidFill>
                <a:srgbClr val="160D3D"/>
              </a:solidFill>
              <a:latin typeface="Montserrat"/>
            </a:endParaRPr>
          </a:p>
        </p:txBody>
      </p:sp>
      <p:sp>
        <p:nvSpPr>
          <p:cNvPr id="39" name="Ellipse 38">
            <a:extLst>
              <a:ext uri="{FF2B5EF4-FFF2-40B4-BE49-F238E27FC236}">
                <a16:creationId xmlns:a16="http://schemas.microsoft.com/office/drawing/2014/main" id="{F92776D6-1BE8-4AE4-954A-037F71822A48}"/>
              </a:ext>
            </a:extLst>
          </p:cNvPr>
          <p:cNvSpPr/>
          <p:nvPr/>
        </p:nvSpPr>
        <p:spPr>
          <a:xfrm>
            <a:off x="711200" y="2768600"/>
            <a:ext cx="279400" cy="279400"/>
          </a:xfrm>
          <a:prstGeom prst="ellipse">
            <a:avLst/>
          </a:prstGeom>
          <a:solidFill>
            <a:srgbClr val="E879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fr-FR" sz="10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40" name="ZoneTexte 39">
            <a:extLst>
              <a:ext uri="{FF2B5EF4-FFF2-40B4-BE49-F238E27FC236}">
                <a16:creationId xmlns:a16="http://schemas.microsoft.com/office/drawing/2014/main" id="{5E1D2B96-0190-4A52-A38D-4745DF5DFB8F}"/>
              </a:ext>
            </a:extLst>
          </p:cNvPr>
          <p:cNvSpPr txBox="1"/>
          <p:nvPr/>
        </p:nvSpPr>
        <p:spPr>
          <a:xfrm>
            <a:off x="1117600" y="2781300"/>
            <a:ext cx="1016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160D3D"/>
                </a:solidFill>
                <a:latin typeface="Montserrat"/>
              </a:rPr>
              <a:t>Executer intermediate et leurs marts directs dbt run --select intermediate+1</a:t>
            </a:r>
          </a:p>
        </p:txBody>
      </p:sp>
      <p:sp>
        <p:nvSpPr>
          <p:cNvPr id="41" name="Ellipse 40">
            <a:extLst>
              <a:ext uri="{FF2B5EF4-FFF2-40B4-BE49-F238E27FC236}">
                <a16:creationId xmlns:a16="http://schemas.microsoft.com/office/drawing/2014/main" id="{32FC61DF-9D31-4297-9E90-31A5FC7F9213}"/>
              </a:ext>
            </a:extLst>
          </p:cNvPr>
          <p:cNvSpPr/>
          <p:nvPr/>
        </p:nvSpPr>
        <p:spPr>
          <a:xfrm>
            <a:off x="711200" y="3251200"/>
            <a:ext cx="279400" cy="279400"/>
          </a:xfrm>
          <a:prstGeom prst="ellipse">
            <a:avLst/>
          </a:prstGeom>
          <a:solidFill>
            <a:srgbClr val="E879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fr-FR" sz="10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5BC8A2F0-F592-4E00-AB59-957F6319C95F}"/>
              </a:ext>
            </a:extLst>
          </p:cNvPr>
          <p:cNvSpPr txBox="1"/>
          <p:nvPr/>
        </p:nvSpPr>
        <p:spPr>
          <a:xfrm>
            <a:off x="1117600" y="3263900"/>
            <a:ext cx="1016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160D3D"/>
                </a:solidFill>
                <a:latin typeface="Montserrat"/>
              </a:rPr>
              <a:t>Tester uniquement les marts dbt test --select marts</a:t>
            </a:r>
          </a:p>
        </p:txBody>
      </p:sp>
      <p:sp>
        <p:nvSpPr>
          <p:cNvPr id="43" name="Ellipse 42">
            <a:extLst>
              <a:ext uri="{FF2B5EF4-FFF2-40B4-BE49-F238E27FC236}">
                <a16:creationId xmlns:a16="http://schemas.microsoft.com/office/drawing/2014/main" id="{2733E351-557D-447B-94F8-1C24855B9451}"/>
              </a:ext>
            </a:extLst>
          </p:cNvPr>
          <p:cNvSpPr/>
          <p:nvPr/>
        </p:nvSpPr>
        <p:spPr>
          <a:xfrm>
            <a:off x="711200" y="3733800"/>
            <a:ext cx="279400" cy="279400"/>
          </a:xfrm>
          <a:prstGeom prst="ellipse">
            <a:avLst/>
          </a:prstGeom>
          <a:solidFill>
            <a:srgbClr val="E879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fr-FR" sz="1000" b="1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756CD621-8DA7-4C03-8F6A-949179244CA1}"/>
              </a:ext>
            </a:extLst>
          </p:cNvPr>
          <p:cNvSpPr txBox="1"/>
          <p:nvPr/>
        </p:nvSpPr>
        <p:spPr>
          <a:xfrm>
            <a:off x="1117600" y="3746500"/>
            <a:ext cx="1016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>
                <a:solidFill>
                  <a:srgbClr val="160D3D"/>
                </a:solidFill>
                <a:latin typeface="Montserrat"/>
              </a:rPr>
              <a:t>Compiler fct_orders et inspecter le SQL genere dbt compile --select fct_orders Regarder target/compiled/.../fct_orders.sql</a:t>
            </a:r>
            <a:endParaRPr lang="fr-FR" sz="1100">
              <a:solidFill>
                <a:srgbClr val="160D3D"/>
              </a:solidFill>
              <a:latin typeface="Montserrat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5"/>
          </p:nvPr>
        </p:nvSpPr>
        <p:spPr>
          <a:xfrm>
            <a:off x="508000" y="0"/>
            <a:ext cx="11176000" cy="760021"/>
          </a:xfrm>
        </p:spPr>
        <p:txBody>
          <a:bodyPr/>
          <a:lstStyle/>
          <a:p>
            <a:pPr algn="ctr"/>
            <a:r>
              <a:rPr sz="2200" b="1">
                <a:solidFill>
                  <a:srgbClr val="160D3D"/>
                </a:solidFill>
                <a:latin typeface="Montserrat"/>
              </a:rPr>
              <a:t>Exercice 6B</a:t>
            </a:r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5D5844D0-1CA0-4071-8508-AFB83CBB63CC}"/>
              </a:ext>
            </a:extLst>
          </p:cNvPr>
          <p:cNvSpPr/>
          <p:nvPr/>
        </p:nvSpPr>
        <p:spPr>
          <a:xfrm>
            <a:off x="508000" y="1358900"/>
            <a:ext cx="11176000" cy="558800"/>
          </a:xfrm>
          <a:prstGeom prst="roundRect">
            <a:avLst/>
          </a:prstGeom>
          <a:solidFill>
            <a:srgbClr val="E879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CD6C6A71-EA45-479A-982B-01426475758D}"/>
              </a:ext>
            </a:extLst>
          </p:cNvPr>
          <p:cNvSpPr txBox="1"/>
          <p:nvPr/>
        </p:nvSpPr>
        <p:spPr>
          <a:xfrm>
            <a:off x="711200" y="1435100"/>
            <a:ext cx="10922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 b="1">
                <a:solidFill>
                  <a:srgbClr val="FFFFFF"/>
                </a:solidFill>
                <a:latin typeface="Montserrat"/>
              </a:rPr>
              <a:t>EXERCICE 6B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D54F9B7F-B5AE-4ADB-8FF2-40556A28D488}"/>
              </a:ext>
            </a:extLst>
          </p:cNvPr>
          <p:cNvSpPr txBox="1"/>
          <p:nvPr/>
        </p:nvSpPr>
        <p:spPr>
          <a:xfrm>
            <a:off x="711200" y="1638300"/>
            <a:ext cx="10922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300" b="1">
                <a:solidFill>
                  <a:srgbClr val="FFFFFF"/>
                </a:solidFill>
                <a:latin typeface="Montserrat"/>
              </a:rPr>
              <a:t>Explorer la documentation</a:t>
            </a:r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C0E1C03B-78FD-4BE6-884A-6D137716A052}"/>
              </a:ext>
            </a:extLst>
          </p:cNvPr>
          <p:cNvSpPr/>
          <p:nvPr/>
        </p:nvSpPr>
        <p:spPr>
          <a:xfrm>
            <a:off x="508000" y="2044700"/>
            <a:ext cx="11176000" cy="3403600"/>
          </a:xfrm>
          <a:prstGeom prst="roundRect">
            <a:avLst/>
          </a:prstGeom>
          <a:solidFill>
            <a:srgbClr val="F7F4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69F2D14A-C2AF-4CFA-AE61-D33DCAF1D7FE}"/>
              </a:ext>
            </a:extLst>
          </p:cNvPr>
          <p:cNvSpPr txBox="1"/>
          <p:nvPr/>
        </p:nvSpPr>
        <p:spPr>
          <a:xfrm>
            <a:off x="711200" y="2171700"/>
            <a:ext cx="10922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b="1">
                <a:solidFill>
                  <a:srgbClr val="160D3D"/>
                </a:solidFill>
                <a:latin typeface="Montserrat"/>
              </a:rPr>
              <a:t>Étapes</a:t>
            </a:r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3781009A-660A-49F3-AFE2-7380412DC539}"/>
              </a:ext>
            </a:extLst>
          </p:cNvPr>
          <p:cNvSpPr/>
          <p:nvPr/>
        </p:nvSpPr>
        <p:spPr>
          <a:xfrm>
            <a:off x="711200" y="2667000"/>
            <a:ext cx="279400" cy="279400"/>
          </a:xfrm>
          <a:prstGeom prst="ellipse">
            <a:avLst/>
          </a:prstGeom>
          <a:solidFill>
            <a:srgbClr val="E879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fr-FR" sz="10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7D0CDFBC-4C48-4A0E-9DE7-967F58E1D9D6}"/>
              </a:ext>
            </a:extLst>
          </p:cNvPr>
          <p:cNvSpPr txBox="1"/>
          <p:nvPr/>
        </p:nvSpPr>
        <p:spPr>
          <a:xfrm>
            <a:off x="1117600" y="2679700"/>
            <a:ext cx="1016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it-IT" sz="1100">
                <a:solidFill>
                  <a:srgbClr val="160D3D"/>
                </a:solidFill>
                <a:latin typeface="Montserrat"/>
              </a:rPr>
              <a:t>Generer la doc : dbt docs generate</a:t>
            </a:r>
            <a:endParaRPr lang="fr-FR" sz="1100">
              <a:solidFill>
                <a:srgbClr val="160D3D"/>
              </a:solidFill>
              <a:latin typeface="Montserrat"/>
            </a:endParaRPr>
          </a:p>
        </p:txBody>
      </p:sp>
      <p:sp>
        <p:nvSpPr>
          <p:cNvPr id="28" name="Ellipse 27">
            <a:extLst>
              <a:ext uri="{FF2B5EF4-FFF2-40B4-BE49-F238E27FC236}">
                <a16:creationId xmlns:a16="http://schemas.microsoft.com/office/drawing/2014/main" id="{B855D73B-4AE2-49FB-BA2D-1E87FBA6BB02}"/>
              </a:ext>
            </a:extLst>
          </p:cNvPr>
          <p:cNvSpPr/>
          <p:nvPr/>
        </p:nvSpPr>
        <p:spPr>
          <a:xfrm>
            <a:off x="711200" y="3225800"/>
            <a:ext cx="279400" cy="279400"/>
          </a:xfrm>
          <a:prstGeom prst="ellipse">
            <a:avLst/>
          </a:prstGeom>
          <a:solidFill>
            <a:srgbClr val="E879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fr-FR" sz="10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0589B821-5E67-41D6-AE58-EFE67A2707C6}"/>
              </a:ext>
            </a:extLst>
          </p:cNvPr>
          <p:cNvSpPr txBox="1"/>
          <p:nvPr/>
        </p:nvSpPr>
        <p:spPr>
          <a:xfrm>
            <a:off x="1117600" y="3238500"/>
            <a:ext cx="1016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160D3D"/>
                </a:solidFill>
                <a:latin typeface="Montserrat"/>
              </a:rPr>
              <a:t>Lancer le serveur : dbt docs serve</a:t>
            </a:r>
          </a:p>
        </p:txBody>
      </p:sp>
      <p:sp>
        <p:nvSpPr>
          <p:cNvPr id="30" name="Ellipse 29">
            <a:extLst>
              <a:ext uri="{FF2B5EF4-FFF2-40B4-BE49-F238E27FC236}">
                <a16:creationId xmlns:a16="http://schemas.microsoft.com/office/drawing/2014/main" id="{2A2DAE67-E78B-4798-9485-1F50D942E7EF}"/>
              </a:ext>
            </a:extLst>
          </p:cNvPr>
          <p:cNvSpPr/>
          <p:nvPr/>
        </p:nvSpPr>
        <p:spPr>
          <a:xfrm>
            <a:off x="711200" y="3784600"/>
            <a:ext cx="279400" cy="279400"/>
          </a:xfrm>
          <a:prstGeom prst="ellipse">
            <a:avLst/>
          </a:prstGeom>
          <a:solidFill>
            <a:srgbClr val="E879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fr-FR" sz="10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7F57DE03-A1D0-4B0F-8C8E-0CA34EE8385A}"/>
              </a:ext>
            </a:extLst>
          </p:cNvPr>
          <p:cNvSpPr txBox="1"/>
          <p:nvPr/>
        </p:nvSpPr>
        <p:spPr>
          <a:xfrm>
            <a:off x="1117600" y="3797300"/>
            <a:ext cx="1016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160D3D"/>
                </a:solidFill>
                <a:latin typeface="Montserrat"/>
              </a:rPr>
              <a:t>Explorer le graphe de lignage (DAG)</a:t>
            </a:r>
          </a:p>
        </p:txBody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84EF8774-4B15-4398-9CA8-04909685A237}"/>
              </a:ext>
            </a:extLst>
          </p:cNvPr>
          <p:cNvSpPr/>
          <p:nvPr/>
        </p:nvSpPr>
        <p:spPr>
          <a:xfrm>
            <a:off x="711200" y="4343400"/>
            <a:ext cx="279400" cy="279400"/>
          </a:xfrm>
          <a:prstGeom prst="ellipse">
            <a:avLst/>
          </a:prstGeom>
          <a:solidFill>
            <a:srgbClr val="E879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fr-FR" sz="1000" b="1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8DD62D7F-05F8-48BA-B908-9E9A1C1FC5F0}"/>
              </a:ext>
            </a:extLst>
          </p:cNvPr>
          <p:cNvSpPr txBox="1"/>
          <p:nvPr/>
        </p:nvSpPr>
        <p:spPr>
          <a:xfrm>
            <a:off x="1117600" y="4356100"/>
            <a:ext cx="1016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160D3D"/>
                </a:solidFill>
                <a:latin typeface="Montserrat"/>
              </a:rPr>
              <a:t>Verifier que tous les modeles ont des descriptions</a:t>
            </a:r>
          </a:p>
        </p:txBody>
      </p:sp>
      <p:sp>
        <p:nvSpPr>
          <p:cNvPr id="34" name="Ellipse 33">
            <a:extLst>
              <a:ext uri="{FF2B5EF4-FFF2-40B4-BE49-F238E27FC236}">
                <a16:creationId xmlns:a16="http://schemas.microsoft.com/office/drawing/2014/main" id="{CB6768B3-E028-479E-B73F-A301872310C8}"/>
              </a:ext>
            </a:extLst>
          </p:cNvPr>
          <p:cNvSpPr/>
          <p:nvPr/>
        </p:nvSpPr>
        <p:spPr>
          <a:xfrm>
            <a:off x="711200" y="4902200"/>
            <a:ext cx="279400" cy="279400"/>
          </a:xfrm>
          <a:prstGeom prst="ellipse">
            <a:avLst/>
          </a:prstGeom>
          <a:solidFill>
            <a:srgbClr val="E879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fr-FR" sz="1000" b="1">
                <a:solidFill>
                  <a:srgbClr val="FFFFFF"/>
                </a:solidFill>
                <a:latin typeface="Montserrat"/>
              </a:rPr>
              <a:t>5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B28B9954-151C-4819-8F15-3F45A90ED28E}"/>
              </a:ext>
            </a:extLst>
          </p:cNvPr>
          <p:cNvSpPr txBox="1"/>
          <p:nvPr/>
        </p:nvSpPr>
        <p:spPr>
          <a:xfrm>
            <a:off x="1117600" y="4914900"/>
            <a:ext cx="1016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160D3D"/>
                </a:solidFill>
                <a:latin typeface="Montserrat"/>
              </a:rPr>
              <a:t>Inspecter la page de fct_orders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23A8F6-4D96-BB3A-8408-0BF372C78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B11EC052-2EF9-5742-A217-24593BDF76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7700"/>
            <a:ext cx="12192000" cy="5562600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C5C311B-1C74-9A8B-6F2B-188B14778A8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8000" y="0"/>
            <a:ext cx="11176000" cy="760021"/>
          </a:xfrm>
        </p:spPr>
        <p:txBody>
          <a:bodyPr/>
          <a:lstStyle/>
          <a:p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23610A-AD5F-C690-D361-61D321E109DD}"/>
              </a:ext>
            </a:extLst>
          </p:cNvPr>
          <p:cNvSpPr txBox="1"/>
          <p:nvPr/>
        </p:nvSpPr>
        <p:spPr>
          <a:xfrm>
            <a:off x="1143753" y="2203730"/>
            <a:ext cx="3000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0" b="1" dirty="0">
                <a:solidFill>
                  <a:schemeClr val="bg1"/>
                </a:solidFill>
                <a:latin typeface="Montserrat"/>
              </a:rPr>
              <a:t>0</a:t>
            </a:r>
            <a:r>
              <a:rPr lang="fr-FR" sz="12000" b="1" dirty="0">
                <a:solidFill>
                  <a:schemeClr val="bg1"/>
                </a:solidFill>
                <a:latin typeface="Montserrat"/>
              </a:rPr>
              <a:t>7</a:t>
            </a:r>
            <a:endParaRPr sz="12000" b="1" dirty="0">
              <a:solidFill>
                <a:schemeClr val="bg1"/>
              </a:solidFill>
              <a:latin typeface="Montserra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25CC44-C328-8A93-F8FE-05BC2D7D3069}"/>
              </a:ext>
            </a:extLst>
          </p:cNvPr>
          <p:cNvSpPr txBox="1"/>
          <p:nvPr/>
        </p:nvSpPr>
        <p:spPr>
          <a:xfrm>
            <a:off x="3938951" y="2788505"/>
            <a:ext cx="7800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fr-FR" sz="4400" b="1" dirty="0">
                <a:solidFill>
                  <a:schemeClr val="bg1"/>
                </a:solidFill>
              </a:rPr>
              <a:t>Jinja et Macros</a:t>
            </a:r>
          </a:p>
        </p:txBody>
      </p:sp>
    </p:spTree>
    <p:extLst>
      <p:ext uri="{BB962C8B-B14F-4D97-AF65-F5344CB8AC3E}">
        <p14:creationId xmlns:p14="http://schemas.microsoft.com/office/powerpoint/2010/main" val="111222977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5"/>
          </p:nvPr>
        </p:nvSpPr>
        <p:spPr>
          <a:xfrm>
            <a:off x="508000" y="0"/>
            <a:ext cx="11176000" cy="760021"/>
          </a:xfrm>
        </p:spPr>
        <p:txBody>
          <a:bodyPr/>
          <a:lstStyle/>
          <a:p>
            <a:pPr algn="ctr"/>
            <a:r>
              <a:rPr sz="2200" b="1">
                <a:solidFill>
                  <a:srgbClr val="160D3D"/>
                </a:solidFill>
                <a:latin typeface="Montserrat"/>
              </a:rPr>
              <a:t>Fondamentaux Jinja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00000" y="1473200"/>
            <a:ext cx="5200000" cy="4419600"/>
          </a:xfrm>
          <a:prstGeom prst="rect">
            <a:avLst/>
          </a:prstGeom>
          <a:solidFill>
            <a:srgbClr val="0A1730"/>
          </a:solidFill>
          <a:ln w="12700" cap="flat" cmpd="sng" algn="ctr">
            <a:noFill/>
            <a:prstDash val="solid"/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 anchorCtr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 lang="fr-FR" sz="900" dirty="0">
              <a:solidFill>
                <a:srgbClr val="E8E8F0"/>
              </a:solidFill>
              <a:latin typeface="Courier New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lang="fr-FR" sz="900" dirty="0">
              <a:solidFill>
                <a:srgbClr val="E8E8F0"/>
              </a:solidFill>
              <a:latin typeface="Courier New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lang="fr-FR" sz="900" dirty="0">
              <a:solidFill>
                <a:srgbClr val="E8E8F0"/>
              </a:solidFill>
              <a:latin typeface="Courier New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{%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set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price_columns = [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</a:t>
            </a:r>
            <a:r>
              <a:rPr lang="fr-FR" sz="900" dirty="0">
                <a:solidFill>
                  <a:srgbClr val="FFA76B"/>
                </a:solidFill>
                <a:latin typeface="Courier New"/>
              </a:rPr>
              <a:t>'extended_price'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</a:t>
            </a:r>
            <a:r>
              <a:rPr lang="fr-FR" sz="900" dirty="0">
                <a:solidFill>
                  <a:srgbClr val="FFA76B"/>
                </a:solidFill>
                <a:latin typeface="Courier New"/>
              </a:rPr>
              <a:t>'discounted_price'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</a:t>
            </a:r>
            <a:r>
              <a:rPr lang="fr-FR" sz="900" dirty="0">
                <a:solidFill>
                  <a:srgbClr val="FFA76B"/>
                </a:solidFill>
                <a:latin typeface="Courier New"/>
              </a:rPr>
              <a:t>'final_price'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] %}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b="1" dirty="0">
                <a:solidFill>
                  <a:srgbClr val="9D88FF"/>
                </a:solidFill>
                <a:latin typeface="Courier New"/>
              </a:rPr>
              <a:t>select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order_key,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</a:t>
            </a:r>
            <a:r>
              <a:rPr lang="fr-FR" sz="900" b="1" dirty="0">
                <a:solidFill>
                  <a:srgbClr val="FFB873"/>
                </a:solidFill>
                <a:latin typeface="Courier New"/>
              </a:rPr>
              <a:t>{% for col in price_columns %}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  </a:t>
            </a:r>
            <a:r>
              <a:rPr lang="fr-FR" sz="900" b="1" dirty="0">
                <a:solidFill>
                  <a:srgbClr val="7DB3FF"/>
                </a:solidFill>
                <a:latin typeface="Courier New"/>
              </a:rPr>
              <a:t>sum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(</a:t>
            </a:r>
            <a:r>
              <a:rPr lang="fr-FR" sz="900" b="1" dirty="0">
                <a:solidFill>
                  <a:srgbClr val="FFB873"/>
                </a:solidFill>
                <a:latin typeface="Courier New"/>
              </a:rPr>
              <a:t>{{ col }}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   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as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total_</a:t>
            </a:r>
            <a:r>
              <a:rPr lang="fr-FR" sz="900" b="1" dirty="0">
                <a:solidFill>
                  <a:srgbClr val="FFB873"/>
                </a:solidFill>
                <a:latin typeface="Courier New"/>
              </a:rPr>
              <a:t>{{ col }}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  </a:t>
            </a:r>
            <a:r>
              <a:rPr lang="fr-FR" sz="900" b="1" dirty="0">
                <a:solidFill>
                  <a:srgbClr val="FFB873"/>
                </a:solidFill>
                <a:latin typeface="Courier New"/>
              </a:rPr>
              <a:t>{% if not loop.last %}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  </a:t>
            </a:r>
            <a:r>
              <a:rPr lang="fr-FR" sz="900" b="1" dirty="0">
                <a:solidFill>
                  <a:srgbClr val="FFB873"/>
                </a:solidFill>
                <a:latin typeface="Courier New"/>
              </a:rPr>
              <a:t>{% endif %}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</a:t>
            </a:r>
            <a:r>
              <a:rPr lang="fr-FR" sz="900" b="1" dirty="0">
                <a:solidFill>
                  <a:srgbClr val="FFB873"/>
                </a:solidFill>
                <a:latin typeface="Courier New"/>
              </a:rPr>
              <a:t>{% endfor %}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b="1" dirty="0">
                <a:solidFill>
                  <a:srgbClr val="9D88FF"/>
                </a:solidFill>
                <a:latin typeface="Courier New"/>
              </a:rPr>
              <a:t>from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</a:t>
            </a:r>
            <a:r>
              <a:rPr lang="fr-FR" sz="900" b="1" dirty="0">
                <a:solidFill>
                  <a:srgbClr val="FFB873"/>
                </a:solidFill>
                <a:latin typeface="Courier New"/>
              </a:rPr>
              <a:t>{{ ref('int_order_items') }}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b="1" dirty="0">
                <a:solidFill>
                  <a:srgbClr val="9D88FF"/>
                </a:solidFill>
                <a:latin typeface="Courier New"/>
              </a:rPr>
              <a:t>group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by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</a:t>
            </a:r>
            <a:r>
              <a:rPr lang="fr-FR" sz="900" dirty="0">
                <a:solidFill>
                  <a:srgbClr val="FFA76B"/>
                </a:solidFill>
                <a:latin typeface="Courier New"/>
              </a:rPr>
              <a:t>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i="1" dirty="0">
                <a:solidFill>
                  <a:srgbClr val="6B7BA8"/>
                </a:solidFill>
                <a:latin typeface="Courier New"/>
              </a:rPr>
              <a:t>-- SQL genere 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i="1" dirty="0">
                <a:solidFill>
                  <a:srgbClr val="6B7BA8"/>
                </a:solidFill>
                <a:latin typeface="Courier New"/>
              </a:rPr>
              <a:t>-- sum(extended_price)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i="1" dirty="0">
                <a:solidFill>
                  <a:srgbClr val="6B7BA8"/>
                </a:solidFill>
                <a:latin typeface="Courier New"/>
              </a:rPr>
              <a:t>--   as total_extended_price,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i="1" dirty="0">
                <a:solidFill>
                  <a:srgbClr val="6B7BA8"/>
                </a:solidFill>
                <a:latin typeface="Courier New"/>
              </a:rPr>
              <a:t>-- sum(discounted_price)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i="1" dirty="0">
                <a:solidFill>
                  <a:srgbClr val="6B7BA8"/>
                </a:solidFill>
                <a:latin typeface="Courier New"/>
              </a:rPr>
              <a:t>--   as total_discounted_price,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i="1" dirty="0">
                <a:solidFill>
                  <a:srgbClr val="6B7BA8"/>
                </a:solidFill>
                <a:latin typeface="Courier New"/>
              </a:rPr>
              <a:t>-- sum(final_price)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i="1" dirty="0">
                <a:solidFill>
                  <a:srgbClr val="6B7BA8"/>
                </a:solidFill>
                <a:latin typeface="Courier New"/>
              </a:rPr>
              <a:t>--   as total_final_price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8842D475-C65D-44C8-9D91-5794D83A8BE6}"/>
              </a:ext>
            </a:extLst>
          </p:cNvPr>
          <p:cNvSpPr txBox="1"/>
          <p:nvPr/>
        </p:nvSpPr>
        <p:spPr>
          <a:xfrm>
            <a:off x="508000" y="1079500"/>
            <a:ext cx="584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500" b="1">
                <a:solidFill>
                  <a:srgbClr val="160D3D"/>
                </a:solidFill>
                <a:latin typeface="Montserrat"/>
              </a:rPr>
              <a:t>Du SQL dynamique avec Jinja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37686826-131C-4B3F-A353-F474C99541C0}"/>
              </a:ext>
            </a:extLst>
          </p:cNvPr>
          <p:cNvSpPr txBox="1"/>
          <p:nvPr/>
        </p:nvSpPr>
        <p:spPr>
          <a:xfrm>
            <a:off x="508000" y="1498600"/>
            <a:ext cx="5842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300" b="1">
                <a:solidFill>
                  <a:srgbClr val="160D3D"/>
                </a:solidFill>
                <a:latin typeface="Montserrat"/>
              </a:rPr>
              <a:t>3 types de blocs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01685164-B78F-47CA-A7CE-D7989FFC60AA}"/>
              </a:ext>
            </a:extLst>
          </p:cNvPr>
          <p:cNvSpPr/>
          <p:nvPr/>
        </p:nvSpPr>
        <p:spPr>
          <a:xfrm>
            <a:off x="508000" y="1828800"/>
            <a:ext cx="5842000" cy="660400"/>
          </a:xfrm>
          <a:prstGeom prst="roundRect">
            <a:avLst/>
          </a:prstGeom>
          <a:solidFill>
            <a:srgbClr val="F7F4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505838C-9217-4537-A096-C868569A1580}"/>
              </a:ext>
            </a:extLst>
          </p:cNvPr>
          <p:cNvSpPr/>
          <p:nvPr/>
        </p:nvSpPr>
        <p:spPr>
          <a:xfrm>
            <a:off x="685800" y="1981200"/>
            <a:ext cx="1397000" cy="355600"/>
          </a:xfrm>
          <a:prstGeom prst="rect">
            <a:avLst/>
          </a:prstGeom>
          <a:solidFill>
            <a:srgbClr val="E879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200" b="1">
                <a:solidFill>
                  <a:srgbClr val="FFFFFF"/>
                </a:solidFill>
                <a:latin typeface="Consolas"/>
              </a:rPr>
              <a:t>{# ... #}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0DBCAF50-6722-42DD-BF6D-652565410251}"/>
              </a:ext>
            </a:extLst>
          </p:cNvPr>
          <p:cNvSpPr txBox="1"/>
          <p:nvPr/>
        </p:nvSpPr>
        <p:spPr>
          <a:xfrm>
            <a:off x="2235200" y="1930400"/>
            <a:ext cx="40894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b="1">
                <a:solidFill>
                  <a:srgbClr val="160D3D"/>
                </a:solidFill>
                <a:latin typeface="Montserrat"/>
              </a:rPr>
              <a:t>Commentaire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F00108C0-92A2-45F6-A2CB-A5FD6A1E9FEC}"/>
              </a:ext>
            </a:extLst>
          </p:cNvPr>
          <p:cNvSpPr txBox="1"/>
          <p:nvPr/>
        </p:nvSpPr>
        <p:spPr>
          <a:xfrm>
            <a:off x="2235200" y="2159000"/>
            <a:ext cx="40894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160D3D"/>
                </a:solidFill>
                <a:latin typeface="Montserrat"/>
              </a:rPr>
              <a:t>Ignore dans le SQL compile</a:t>
            </a: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DF969E83-5ACD-4765-83FB-5BDB44096CBC}"/>
              </a:ext>
            </a:extLst>
          </p:cNvPr>
          <p:cNvSpPr/>
          <p:nvPr/>
        </p:nvSpPr>
        <p:spPr>
          <a:xfrm>
            <a:off x="508000" y="2590800"/>
            <a:ext cx="5842000" cy="660400"/>
          </a:xfrm>
          <a:prstGeom prst="roundRect">
            <a:avLst/>
          </a:prstGeom>
          <a:solidFill>
            <a:srgbClr val="F7F4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97CABE7-819C-4F8B-9FA7-8622D29BBC69}"/>
              </a:ext>
            </a:extLst>
          </p:cNvPr>
          <p:cNvSpPr/>
          <p:nvPr/>
        </p:nvSpPr>
        <p:spPr>
          <a:xfrm>
            <a:off x="685800" y="2743200"/>
            <a:ext cx="1397000" cy="355600"/>
          </a:xfrm>
          <a:prstGeom prst="rect">
            <a:avLst/>
          </a:prstGeom>
          <a:solidFill>
            <a:srgbClr val="E879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200" b="1">
                <a:solidFill>
                  <a:srgbClr val="FFFFFF"/>
                </a:solidFill>
                <a:latin typeface="Consolas"/>
              </a:rPr>
              <a:t>{% ... %}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C6EBA1FF-A86E-42CD-9FAF-8E4835545B80}"/>
              </a:ext>
            </a:extLst>
          </p:cNvPr>
          <p:cNvSpPr txBox="1"/>
          <p:nvPr/>
        </p:nvSpPr>
        <p:spPr>
          <a:xfrm>
            <a:off x="2235200" y="2692400"/>
            <a:ext cx="40894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b="1">
                <a:solidFill>
                  <a:srgbClr val="160D3D"/>
                </a:solidFill>
                <a:latin typeface="Montserrat"/>
              </a:rPr>
              <a:t>Statement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340FE7B3-1463-44AA-BB35-AEBE8F8D996D}"/>
              </a:ext>
            </a:extLst>
          </p:cNvPr>
          <p:cNvSpPr txBox="1"/>
          <p:nvPr/>
        </p:nvSpPr>
        <p:spPr>
          <a:xfrm>
            <a:off x="2235200" y="2921000"/>
            <a:ext cx="40894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>
                <a:solidFill>
                  <a:srgbClr val="160D3D"/>
                </a:solidFill>
                <a:latin typeface="Montserrat"/>
              </a:rPr>
              <a:t>Logique : set, for, if, macro</a:t>
            </a:r>
            <a:endParaRPr lang="fr-FR" sz="1100">
              <a:solidFill>
                <a:srgbClr val="160D3D"/>
              </a:solidFill>
              <a:latin typeface="Montserrat"/>
            </a:endParaRP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BC7A427A-C003-43ED-B649-D753D383E1EB}"/>
              </a:ext>
            </a:extLst>
          </p:cNvPr>
          <p:cNvSpPr/>
          <p:nvPr/>
        </p:nvSpPr>
        <p:spPr>
          <a:xfrm>
            <a:off x="508000" y="3352800"/>
            <a:ext cx="5842000" cy="660400"/>
          </a:xfrm>
          <a:prstGeom prst="roundRect">
            <a:avLst/>
          </a:prstGeom>
          <a:solidFill>
            <a:srgbClr val="F7F4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E4A2720-F6C9-4837-A832-5CA4A24E0CDB}"/>
              </a:ext>
            </a:extLst>
          </p:cNvPr>
          <p:cNvSpPr/>
          <p:nvPr/>
        </p:nvSpPr>
        <p:spPr>
          <a:xfrm>
            <a:off x="685800" y="3505200"/>
            <a:ext cx="1397000" cy="355600"/>
          </a:xfrm>
          <a:prstGeom prst="rect">
            <a:avLst/>
          </a:prstGeom>
          <a:solidFill>
            <a:srgbClr val="E879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200" b="1" dirty="0">
                <a:solidFill>
                  <a:srgbClr val="FFFFFF"/>
                </a:solidFill>
                <a:latin typeface="Consolas"/>
              </a:rPr>
              <a:t>{{ ... }}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BF97DFBF-3640-44F7-BDDD-2007F6BF6370}"/>
              </a:ext>
            </a:extLst>
          </p:cNvPr>
          <p:cNvSpPr txBox="1"/>
          <p:nvPr/>
        </p:nvSpPr>
        <p:spPr>
          <a:xfrm>
            <a:off x="2235200" y="3454400"/>
            <a:ext cx="40894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b="1">
                <a:solidFill>
                  <a:srgbClr val="160D3D"/>
                </a:solidFill>
                <a:latin typeface="Montserrat"/>
              </a:rPr>
              <a:t>Expression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1E1E7635-434A-4CE5-833E-5101E74A2124}"/>
              </a:ext>
            </a:extLst>
          </p:cNvPr>
          <p:cNvSpPr txBox="1"/>
          <p:nvPr/>
        </p:nvSpPr>
        <p:spPr>
          <a:xfrm>
            <a:off x="2235200" y="3683000"/>
            <a:ext cx="40894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160D3D"/>
                </a:solidFill>
                <a:latin typeface="Montserrat"/>
              </a:rPr>
              <a:t>Inseree dans le SQL final</a:t>
            </a:r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C3F55005-7800-4FFB-805A-4732E87FAC30}"/>
              </a:ext>
            </a:extLst>
          </p:cNvPr>
          <p:cNvSpPr/>
          <p:nvPr/>
        </p:nvSpPr>
        <p:spPr>
          <a:xfrm>
            <a:off x="508000" y="4191000"/>
            <a:ext cx="5842000" cy="1752600"/>
          </a:xfrm>
          <a:prstGeom prst="roundRect">
            <a:avLst/>
          </a:prstGeom>
          <a:solidFill>
            <a:srgbClr val="F7F4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66100CBC-4A7B-4E06-8A73-465F7C8F0836}"/>
              </a:ext>
            </a:extLst>
          </p:cNvPr>
          <p:cNvSpPr txBox="1"/>
          <p:nvPr/>
        </p:nvSpPr>
        <p:spPr>
          <a:xfrm>
            <a:off x="685800" y="4318000"/>
            <a:ext cx="54864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b="1">
                <a:solidFill>
                  <a:srgbClr val="160D3D"/>
                </a:solidFill>
                <a:latin typeface="Montserrat"/>
              </a:rPr>
              <a:t>Variables et controle de flux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0D58D28E-BA91-41C0-B128-D1523ED29721}"/>
              </a:ext>
            </a:extLst>
          </p:cNvPr>
          <p:cNvSpPr txBox="1"/>
          <p:nvPr/>
        </p:nvSpPr>
        <p:spPr>
          <a:xfrm>
            <a:off x="609600" y="4699000"/>
            <a:ext cx="5486400" cy="917388"/>
          </a:xfrm>
          <a:prstGeom prst="rect">
            <a:avLst/>
          </a:prstGeom>
          <a:solidFill>
            <a:srgbClr val="0A1730"/>
          </a:solidFill>
          <a:ln>
            <a:noFill/>
          </a:ln>
        </p:spPr>
        <p:txBody>
          <a:bodyPr vertOverflow="overflow" vert="horz" wrap="square" rtlCol="0" anchor="t" anchorCtr="0">
            <a:noAutofit/>
          </a:bodyPr>
          <a:lstStyle/>
          <a:p>
            <a:pPr algn="l"/>
            <a:r>
              <a:rPr lang="fr-FR" sz="1100">
                <a:solidFill>
                  <a:srgbClr val="E8E8F0"/>
                </a:solidFill>
                <a:latin typeface="Courier New"/>
              </a:rPr>
              <a:t>{% set var = ... %}    — declaration
{% for x in liste %}   — boucle
{% if condition %}     — condition
{{ var }}              — affichage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5FE743AA-A058-40C0-9477-867BCDFEFFC3}"/>
              </a:ext>
            </a:extLst>
          </p:cNvPr>
          <p:cNvSpPr txBox="1"/>
          <p:nvPr/>
        </p:nvSpPr>
        <p:spPr>
          <a:xfrm>
            <a:off x="9260000" y="1600200"/>
            <a:ext cx="2387600" cy="2286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fr-FR" sz="800" b="1">
                <a:solidFill>
                  <a:srgbClr val="6B7BA8"/>
                </a:solidFill>
                <a:latin typeface="Montserrat"/>
              </a:rPr>
              <a:t>MACRO JINJA</a:t>
            </a:r>
          </a:p>
        </p:txBody>
      </p:sp>
    </p:spTree>
    <p:extLst>
      <p:ext uri="{BB962C8B-B14F-4D97-AF65-F5344CB8AC3E}">
        <p14:creationId xmlns:p14="http://schemas.microsoft.com/office/powerpoint/2010/main" val="295273392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5"/>
          </p:nvPr>
        </p:nvSpPr>
        <p:spPr>
          <a:xfrm>
            <a:off x="508000" y="0"/>
            <a:ext cx="11176000" cy="760021"/>
          </a:xfrm>
        </p:spPr>
        <p:txBody>
          <a:bodyPr/>
          <a:lstStyle/>
          <a:p>
            <a:pPr algn="ctr"/>
            <a:r>
              <a:rPr sz="2200" b="1">
                <a:solidFill>
                  <a:srgbClr val="160D3D"/>
                </a:solidFill>
                <a:latin typeface="Montserrat"/>
              </a:rPr>
              <a:t>Construire une macro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00000" y="1930400"/>
            <a:ext cx="5200000" cy="3492500"/>
          </a:xfrm>
          <a:prstGeom prst="rect">
            <a:avLst/>
          </a:prstGeom>
          <a:solidFill>
            <a:srgbClr val="0A1730"/>
          </a:solidFill>
          <a:ln w="12700" cap="flat" cmpd="sng" algn="ctr">
            <a:noFill/>
            <a:prstDash val="solid"/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 anchorCtr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 lang="fr-FR" sz="900" i="1" dirty="0">
              <a:solidFill>
                <a:srgbClr val="6B7BA8"/>
              </a:solidFill>
              <a:latin typeface="Courier New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lang="fr-FR" sz="900" i="1" dirty="0">
              <a:solidFill>
                <a:srgbClr val="6B7BA8"/>
              </a:solidFill>
              <a:latin typeface="Courier New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lang="fr-FR" sz="900" i="1" dirty="0">
              <a:solidFill>
                <a:srgbClr val="6B7BA8"/>
              </a:solidFill>
              <a:latin typeface="Courier New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i="1" dirty="0">
                <a:solidFill>
                  <a:srgbClr val="6B7BA8"/>
                </a:solidFill>
                <a:latin typeface="Courier New"/>
              </a:rPr>
              <a:t>-- macros/discount_amount.sql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{% macro discount_amount(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price_col, discount_col) %}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(</a:t>
            </a:r>
            <a:r>
              <a:rPr lang="fr-FR" sz="900" b="1" dirty="0">
                <a:solidFill>
                  <a:srgbClr val="FFB873"/>
                </a:solidFill>
                <a:latin typeface="Courier New"/>
              </a:rPr>
              <a:t>{{ price_col }}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* </a:t>
            </a:r>
            <a:r>
              <a:rPr lang="fr-FR" sz="900" b="1" dirty="0">
                <a:solidFill>
                  <a:srgbClr val="FFB873"/>
                </a:solidFill>
                <a:latin typeface="Courier New"/>
              </a:rPr>
              <a:t>{{ discount_col }}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b="1" dirty="0">
                <a:solidFill>
                  <a:srgbClr val="FFB873"/>
                </a:solidFill>
                <a:latin typeface="Courier New"/>
              </a:rPr>
              <a:t>{% endmacro %}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i="1" dirty="0">
                <a:solidFill>
                  <a:srgbClr val="6B7BA8"/>
                </a:solidFill>
                <a:latin typeface="Courier New"/>
              </a:rPr>
              <a:t>-- macros/generate_schema_name.sql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{% macro generate_schema_name(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custom_schema_name, node) -%}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</a:t>
            </a:r>
            <a:r>
              <a:rPr lang="fr-FR" sz="900" b="1" dirty="0">
                <a:solidFill>
                  <a:srgbClr val="FFB873"/>
                </a:solidFill>
                <a:latin typeface="Courier New"/>
              </a:rPr>
              <a:t>{%- set default = target.schema -%}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</a:t>
            </a:r>
            <a:r>
              <a:rPr lang="fr-FR" sz="900" b="1" dirty="0">
                <a:solidFill>
                  <a:srgbClr val="FFB873"/>
                </a:solidFill>
                <a:latin typeface="Courier New"/>
              </a:rPr>
              <a:t>{%- if custom_schema_name is none -%}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</a:t>
            </a:r>
            <a:r>
              <a:rPr lang="fr-FR" sz="900" b="1" dirty="0">
                <a:solidFill>
                  <a:srgbClr val="FFB873"/>
                </a:solidFill>
                <a:latin typeface="Courier New"/>
              </a:rPr>
              <a:t>{{ default }}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</a:t>
            </a:r>
            <a:r>
              <a:rPr lang="fr-FR" sz="900" b="1" dirty="0">
                <a:solidFill>
                  <a:srgbClr val="FFB873"/>
                </a:solidFill>
                <a:latin typeface="Courier New"/>
              </a:rPr>
              <a:t>{%- elif target.name == 'prod' -%}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</a:t>
            </a:r>
            <a:r>
              <a:rPr lang="fr-FR" sz="900" b="1" dirty="0">
                <a:solidFill>
                  <a:srgbClr val="FFB873"/>
                </a:solidFill>
                <a:latin typeface="Courier New"/>
              </a:rPr>
              <a:t>{{ custom_schema_name | trim }}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</a:t>
            </a:r>
            <a:r>
              <a:rPr lang="fr-FR" sz="900" b="1" dirty="0">
                <a:solidFill>
                  <a:srgbClr val="FFB873"/>
                </a:solidFill>
                <a:latin typeface="Courier New"/>
              </a:rPr>
              <a:t>{%- else -%}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</a:t>
            </a:r>
            <a:r>
              <a:rPr lang="fr-FR" sz="900" b="1" dirty="0">
                <a:solidFill>
                  <a:srgbClr val="FFB873"/>
                </a:solidFill>
                <a:latin typeface="Courier New"/>
              </a:rPr>
              <a:t>{{ default }}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_</a:t>
            </a:r>
            <a:r>
              <a:rPr lang="fr-FR" sz="900" b="1" dirty="0">
                <a:solidFill>
                  <a:srgbClr val="FFB873"/>
                </a:solidFill>
                <a:latin typeface="Courier New"/>
              </a:rPr>
              <a:t>{{ custom_schema_name }}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</a:t>
            </a:r>
            <a:r>
              <a:rPr lang="fr-FR" sz="900" b="1" dirty="0">
                <a:solidFill>
                  <a:srgbClr val="FFB873"/>
                </a:solidFill>
                <a:latin typeface="Courier New"/>
              </a:rPr>
              <a:t>{%- endif -%}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b="1" dirty="0">
                <a:solidFill>
                  <a:srgbClr val="FFB873"/>
                </a:solidFill>
                <a:latin typeface="Courier New"/>
              </a:rPr>
              <a:t>{%- endmacro %}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C79A0770-24F2-496E-9C71-C18C40C852E4}"/>
              </a:ext>
            </a:extLst>
          </p:cNvPr>
          <p:cNvSpPr txBox="1"/>
          <p:nvPr/>
        </p:nvSpPr>
        <p:spPr>
          <a:xfrm>
            <a:off x="508000" y="1079500"/>
            <a:ext cx="584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500" b="1">
                <a:solidFill>
                  <a:srgbClr val="160D3D"/>
                </a:solidFill>
                <a:latin typeface="Montserrat"/>
              </a:rPr>
              <a:t>Encapsuler du SQL reutilisable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BE02DD74-DD16-4402-BF05-2CC7ED26B0B5}"/>
              </a:ext>
            </a:extLst>
          </p:cNvPr>
          <p:cNvSpPr/>
          <p:nvPr/>
        </p:nvSpPr>
        <p:spPr>
          <a:xfrm>
            <a:off x="508000" y="1498600"/>
            <a:ext cx="5842000" cy="914400"/>
          </a:xfrm>
          <a:prstGeom prst="roundRect">
            <a:avLst/>
          </a:prstGeom>
          <a:solidFill>
            <a:srgbClr val="F7F4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A316521A-BCC9-42B4-A18C-8C9A1DA7AA80}"/>
              </a:ext>
            </a:extLst>
          </p:cNvPr>
          <p:cNvSpPr txBox="1"/>
          <p:nvPr/>
        </p:nvSpPr>
        <p:spPr>
          <a:xfrm>
            <a:off x="685800" y="1625600"/>
            <a:ext cx="54864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b="1">
                <a:solidFill>
                  <a:srgbClr val="160D3D"/>
                </a:solidFill>
                <a:latin typeface="Montserrat"/>
              </a:rPr>
              <a:t>Macros = fonctions reutilisables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CE63FDBD-F8AC-421F-810F-3B7E6D799AA0}"/>
              </a:ext>
            </a:extLst>
          </p:cNvPr>
          <p:cNvSpPr txBox="1"/>
          <p:nvPr/>
        </p:nvSpPr>
        <p:spPr>
          <a:xfrm>
            <a:off x="685800" y="1905000"/>
            <a:ext cx="54864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160D3D"/>
                </a:solidFill>
                <a:latin typeface="Montserrat"/>
              </a:rPr>
              <a:t>Definies dans le dossier macros/ et appelees depuis n'importe quel modele SQL.
Factorisent les bouts de code repetitifs (calculs, formattage, GRANT...).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8D582D6C-E102-4CE1-AD10-54458F823F5E}"/>
              </a:ext>
            </a:extLst>
          </p:cNvPr>
          <p:cNvSpPr txBox="1"/>
          <p:nvPr/>
        </p:nvSpPr>
        <p:spPr>
          <a:xfrm>
            <a:off x="508000" y="2590800"/>
            <a:ext cx="5842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300" b="1">
                <a:solidFill>
                  <a:srgbClr val="160D3D"/>
                </a:solidFill>
                <a:latin typeface="Montserrat"/>
              </a:rPr>
              <a:t>Macros built-in utiles</a:t>
            </a: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EA31048E-B5D4-4E6E-BF6A-E6E421C9270E}"/>
              </a:ext>
            </a:extLst>
          </p:cNvPr>
          <p:cNvSpPr/>
          <p:nvPr/>
        </p:nvSpPr>
        <p:spPr>
          <a:xfrm>
            <a:off x="508000" y="2895600"/>
            <a:ext cx="2819400" cy="2032000"/>
          </a:xfrm>
          <a:prstGeom prst="roundRect">
            <a:avLst/>
          </a:prstGeom>
          <a:solidFill>
            <a:srgbClr val="F7F4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5D106418-247C-469E-B7DC-A9B05E22B684}"/>
              </a:ext>
            </a:extLst>
          </p:cNvPr>
          <p:cNvSpPr txBox="1"/>
          <p:nvPr/>
        </p:nvSpPr>
        <p:spPr>
          <a:xfrm>
            <a:off x="685800" y="3022600"/>
            <a:ext cx="254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b="1">
                <a:solidFill>
                  <a:srgbClr val="E8792F"/>
                </a:solidFill>
                <a:latin typeface="Montserrat"/>
              </a:rPr>
              <a:t>generate_schema_name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5CE23761-6827-4A8E-A992-4EB3C9FF93F6}"/>
              </a:ext>
            </a:extLst>
          </p:cNvPr>
          <p:cNvSpPr txBox="1"/>
          <p:nvPr/>
        </p:nvSpPr>
        <p:spPr>
          <a:xfrm>
            <a:off x="685800" y="3302000"/>
            <a:ext cx="2540000" cy="149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160D3D"/>
                </a:solidFill>
                <a:latin typeface="Montserrat"/>
              </a:rPr>
              <a:t>Controle le schema cible
par environnement.
Par defaut : custom + target.
Souvent surchargee pour
separer dev / prod.</a:t>
            </a: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3A73BD2A-07A0-434F-A133-27CBA59AB4D8}"/>
              </a:ext>
            </a:extLst>
          </p:cNvPr>
          <p:cNvSpPr/>
          <p:nvPr/>
        </p:nvSpPr>
        <p:spPr>
          <a:xfrm>
            <a:off x="3530600" y="2895600"/>
            <a:ext cx="2819400" cy="2032000"/>
          </a:xfrm>
          <a:prstGeom prst="roundRect">
            <a:avLst/>
          </a:prstGeom>
          <a:solidFill>
            <a:srgbClr val="F7F4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486A35E8-94DB-4C65-9501-76710BB01E9D}"/>
              </a:ext>
            </a:extLst>
          </p:cNvPr>
          <p:cNvSpPr txBox="1"/>
          <p:nvPr/>
        </p:nvSpPr>
        <p:spPr>
          <a:xfrm>
            <a:off x="3708400" y="3022600"/>
            <a:ext cx="254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b="1">
                <a:solidFill>
                  <a:srgbClr val="E8792F"/>
                </a:solidFill>
                <a:latin typeface="Montserrat"/>
              </a:rPr>
              <a:t>generate_database_name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3D6F2658-69F6-4B31-9048-1DDDD37E7977}"/>
              </a:ext>
            </a:extLst>
          </p:cNvPr>
          <p:cNvSpPr txBox="1"/>
          <p:nvPr/>
        </p:nvSpPr>
        <p:spPr>
          <a:xfrm>
            <a:off x="3708400" y="3302000"/>
            <a:ext cx="2540000" cy="149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160D3D"/>
                </a:solidFill>
                <a:latin typeface="Montserrat"/>
              </a:rPr>
              <a:t>Controle la base cible.
Utile pour pointer vers une
base differente selon le
target (DEV, PROD).</a:t>
            </a: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69BE4F6A-D005-4DBF-8395-AF246FECC788}"/>
              </a:ext>
            </a:extLst>
          </p:cNvPr>
          <p:cNvSpPr/>
          <p:nvPr/>
        </p:nvSpPr>
        <p:spPr>
          <a:xfrm>
            <a:off x="508000" y="5080000"/>
            <a:ext cx="5842000" cy="863600"/>
          </a:xfrm>
          <a:prstGeom prst="roundRect">
            <a:avLst/>
          </a:prstGeom>
          <a:solidFill>
            <a:srgbClr val="FFF0E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D67AAD99-1174-42FF-8C09-DC62B84ABA05}"/>
              </a:ext>
            </a:extLst>
          </p:cNvPr>
          <p:cNvSpPr txBox="1"/>
          <p:nvPr/>
        </p:nvSpPr>
        <p:spPr>
          <a:xfrm>
            <a:off x="685800" y="5181600"/>
            <a:ext cx="54864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 b="1">
                <a:solidFill>
                  <a:srgbClr val="E8792F"/>
                </a:solidFill>
                <a:latin typeface="Montserrat"/>
              </a:rPr>
              <a:t>→ Conventions</a:t>
            </a: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02322D38-3EB3-41CD-9238-32AB490EA870}"/>
              </a:ext>
            </a:extLst>
          </p:cNvPr>
          <p:cNvSpPr txBox="1"/>
          <p:nvPr/>
        </p:nvSpPr>
        <p:spPr>
          <a:xfrm>
            <a:off x="685800" y="5410200"/>
            <a:ext cx="5486400" cy="508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160D3D"/>
                </a:solidFill>
                <a:latin typeface="Montserrat"/>
              </a:rPr>
              <a:t>Un fichier .sql par macro, nom = nom de la macro.
Documenter dans macros/_macros.yml pour faire apparaitre dans dbt docs.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70BA199F-F7CF-4702-A932-AD105FEA85F8}"/>
              </a:ext>
            </a:extLst>
          </p:cNvPr>
          <p:cNvSpPr txBox="1"/>
          <p:nvPr/>
        </p:nvSpPr>
        <p:spPr>
          <a:xfrm>
            <a:off x="9260000" y="2057400"/>
            <a:ext cx="2387600" cy="2286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fr-FR" sz="800" b="1">
                <a:solidFill>
                  <a:srgbClr val="6B7BA8"/>
                </a:solidFill>
                <a:latin typeface="Montserrat"/>
              </a:rPr>
              <a:t>DISCOUNT_AMOUNT.SQL</a:t>
            </a:r>
          </a:p>
        </p:txBody>
      </p:sp>
    </p:spTree>
    <p:extLst>
      <p:ext uri="{BB962C8B-B14F-4D97-AF65-F5344CB8AC3E}">
        <p14:creationId xmlns:p14="http://schemas.microsoft.com/office/powerpoint/2010/main" val="36946811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5"/>
          </p:nvPr>
        </p:nvSpPr>
        <p:spPr>
          <a:xfrm>
            <a:off x="508000" y="0"/>
            <a:ext cx="11176000" cy="760021"/>
          </a:xfrm>
        </p:spPr>
        <p:txBody>
          <a:bodyPr/>
          <a:lstStyle/>
          <a:p>
            <a:pPr algn="ctr"/>
            <a:r>
              <a:rPr sz="2200" b="1">
                <a:solidFill>
                  <a:srgbClr val="160D3D"/>
                </a:solidFill>
                <a:latin typeface="Montserrat"/>
              </a:rPr>
              <a:t>Hooks et operations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00000" y="1397000"/>
            <a:ext cx="5200000" cy="4572000"/>
          </a:xfrm>
          <a:prstGeom prst="rect">
            <a:avLst/>
          </a:prstGeom>
          <a:solidFill>
            <a:srgbClr val="0A1730"/>
          </a:solidFill>
          <a:ln w="12700" cap="flat" cmpd="sng" algn="ctr">
            <a:noFill/>
            <a:prstDash val="solid"/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 anchorCtr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 lang="fr-FR" sz="900" i="1" dirty="0">
              <a:solidFill>
                <a:srgbClr val="6B7BA8"/>
              </a:solidFill>
              <a:latin typeface="Courier New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lang="fr-FR" sz="900" i="1" dirty="0">
              <a:solidFill>
                <a:srgbClr val="6B7BA8"/>
              </a:solidFill>
              <a:latin typeface="Courier New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lang="fr-FR" sz="900" i="1" dirty="0">
              <a:solidFill>
                <a:srgbClr val="6B7BA8"/>
              </a:solidFill>
              <a:latin typeface="Courier New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i="1" dirty="0">
                <a:solidFill>
                  <a:srgbClr val="6B7BA8"/>
                </a:solidFill>
                <a:latin typeface="Courier New"/>
              </a:rPr>
              <a:t>-- macros/grant_select.sql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{% macro grant_select(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role=</a:t>
            </a:r>
            <a:r>
              <a:rPr lang="fr-FR" sz="900" dirty="0">
                <a:solidFill>
                  <a:srgbClr val="FFA76B"/>
                </a:solidFill>
                <a:latin typeface="Courier New"/>
              </a:rPr>
              <a:t>'ANALYST'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) %}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</a:t>
            </a:r>
            <a:r>
              <a:rPr lang="fr-FR" sz="900" b="1" dirty="0">
                <a:solidFill>
                  <a:srgbClr val="FFB873"/>
                </a:solidFill>
                <a:latin typeface="Courier New"/>
              </a:rPr>
              <a:t>{% set sql %}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GRANT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SELECT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ON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</a:t>
            </a:r>
            <a:r>
              <a:rPr lang="fr-FR" sz="900" b="1" dirty="0">
                <a:solidFill>
                  <a:srgbClr val="FFB873"/>
                </a:solidFill>
                <a:latin typeface="Courier New"/>
              </a:rPr>
              <a:t>{{ this }}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TO ROLE </a:t>
            </a:r>
            <a:r>
              <a:rPr lang="fr-FR" sz="900" b="1" dirty="0">
                <a:solidFill>
                  <a:srgbClr val="FFB873"/>
                </a:solidFill>
                <a:latin typeface="Courier New"/>
              </a:rPr>
              <a:t>{{ role }}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</a:t>
            </a:r>
            <a:r>
              <a:rPr lang="fr-FR" sz="900" b="1" dirty="0">
                <a:solidFill>
                  <a:srgbClr val="FFB873"/>
                </a:solidFill>
                <a:latin typeface="Courier New"/>
              </a:rPr>
              <a:t>{% endset %}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</a:t>
            </a:r>
            <a:r>
              <a:rPr lang="fr-FR" sz="900" b="1" dirty="0">
                <a:solidFill>
                  <a:srgbClr val="FFB873"/>
                </a:solidFill>
                <a:latin typeface="Courier New"/>
              </a:rPr>
              <a:t>{% do run_query(sql) %}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b="1" dirty="0">
                <a:solidFill>
                  <a:srgbClr val="FFB873"/>
                </a:solidFill>
                <a:latin typeface="Courier New"/>
              </a:rPr>
              <a:t>{% endmacro %}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# dbt_project.yml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models: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tpch_analytics: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marts: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+post-hook: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  - </a:t>
            </a:r>
            <a:r>
              <a:rPr lang="fr-FR" sz="900" dirty="0">
                <a:solidFill>
                  <a:srgbClr val="FFA76B"/>
                </a:solidFill>
                <a:latin typeface="Courier New"/>
              </a:rPr>
              <a:t>"{{ grant_select('ANALYST') }}"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i="1" dirty="0">
                <a:solidFill>
                  <a:srgbClr val="6B7BA8"/>
                </a:solidFill>
                <a:latin typeface="Courier New"/>
              </a:rPr>
              <a:t>-- Limiter en dev 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b="1" dirty="0">
                <a:solidFill>
                  <a:srgbClr val="9D88FF"/>
                </a:solidFill>
                <a:latin typeface="Courier New"/>
              </a:rPr>
              <a:t>select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*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b="1" dirty="0">
                <a:solidFill>
                  <a:srgbClr val="9D88FF"/>
                </a:solidFill>
                <a:latin typeface="Courier New"/>
              </a:rPr>
              <a:t>from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</a:t>
            </a:r>
            <a:r>
              <a:rPr lang="fr-FR" sz="900" b="1" dirty="0">
                <a:solidFill>
                  <a:srgbClr val="FFB873"/>
                </a:solidFill>
                <a:latin typeface="Courier New"/>
              </a:rPr>
              <a:t>{{ ref('int_order_items') }}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b="1" dirty="0">
                <a:solidFill>
                  <a:srgbClr val="FFB873"/>
                </a:solidFill>
                <a:latin typeface="Courier New"/>
              </a:rPr>
              <a:t>{% if target.name == 'dev' %}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where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order_date &gt;=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</a:t>
            </a:r>
            <a:r>
              <a:rPr lang="fr-FR" sz="900" b="1" dirty="0">
                <a:solidFill>
                  <a:srgbClr val="7DB3FF"/>
                </a:solidFill>
                <a:latin typeface="Courier New"/>
              </a:rPr>
              <a:t>dateadd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(</a:t>
            </a:r>
            <a:r>
              <a:rPr lang="fr-FR" sz="900" dirty="0">
                <a:solidFill>
                  <a:srgbClr val="FFA76B"/>
                </a:solidFill>
                <a:latin typeface="Courier New"/>
              </a:rPr>
              <a:t>'year'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, -</a:t>
            </a:r>
            <a:r>
              <a:rPr lang="fr-FR" sz="900" dirty="0">
                <a:solidFill>
                  <a:srgbClr val="FFA76B"/>
                </a:solidFill>
                <a:latin typeface="Courier New"/>
              </a:rPr>
              <a:t>1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      </a:t>
            </a:r>
            <a:r>
              <a:rPr lang="fr-FR" sz="900" b="1" dirty="0">
                <a:solidFill>
                  <a:srgbClr val="7DB3FF"/>
                </a:solidFill>
                <a:latin typeface="Courier New"/>
              </a:rPr>
              <a:t>current_date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())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b="1" dirty="0">
                <a:solidFill>
                  <a:srgbClr val="FFB873"/>
                </a:solidFill>
                <a:latin typeface="Courier New"/>
              </a:rPr>
              <a:t>{% endif %}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EE2A4871-674D-4F19-B1DC-054B4F118C8D}"/>
              </a:ext>
            </a:extLst>
          </p:cNvPr>
          <p:cNvSpPr txBox="1"/>
          <p:nvPr/>
        </p:nvSpPr>
        <p:spPr>
          <a:xfrm>
            <a:off x="508000" y="1079500"/>
            <a:ext cx="584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500" b="1">
                <a:solidFill>
                  <a:srgbClr val="160D3D"/>
                </a:solidFill>
                <a:latin typeface="Montserrat"/>
              </a:rPr>
              <a:t>SQL declenche autour d'un modele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93381362-4C85-412B-8711-EEDBB60414B1}"/>
              </a:ext>
            </a:extLst>
          </p:cNvPr>
          <p:cNvSpPr txBox="1"/>
          <p:nvPr/>
        </p:nvSpPr>
        <p:spPr>
          <a:xfrm>
            <a:off x="508000" y="1498600"/>
            <a:ext cx="5842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300" b="1">
                <a:solidFill>
                  <a:srgbClr val="160D3D"/>
                </a:solidFill>
                <a:latin typeface="Montserrat"/>
              </a:rPr>
              <a:t>Hooks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B508877C-51D6-45C7-B69E-A6F2FB7D7013}"/>
              </a:ext>
            </a:extLst>
          </p:cNvPr>
          <p:cNvSpPr/>
          <p:nvPr/>
        </p:nvSpPr>
        <p:spPr>
          <a:xfrm>
            <a:off x="508000" y="1803400"/>
            <a:ext cx="2819400" cy="1371600"/>
          </a:xfrm>
          <a:prstGeom prst="roundRect">
            <a:avLst/>
          </a:prstGeom>
          <a:solidFill>
            <a:srgbClr val="F7F4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5D57FC23-6B42-4847-9147-BB6FB56D3E18}"/>
              </a:ext>
            </a:extLst>
          </p:cNvPr>
          <p:cNvSpPr txBox="1"/>
          <p:nvPr/>
        </p:nvSpPr>
        <p:spPr>
          <a:xfrm>
            <a:off x="685800" y="1930400"/>
            <a:ext cx="254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b="1">
                <a:solidFill>
                  <a:srgbClr val="160D3D"/>
                </a:solidFill>
                <a:latin typeface="Montserrat"/>
              </a:rPr>
              <a:t>pre-hook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AC448F89-B671-42D1-8B37-F289CEEB4F7E}"/>
              </a:ext>
            </a:extLst>
          </p:cNvPr>
          <p:cNvSpPr txBox="1"/>
          <p:nvPr/>
        </p:nvSpPr>
        <p:spPr>
          <a:xfrm>
            <a:off x="685800" y="2209800"/>
            <a:ext cx="2540000" cy="914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160D3D"/>
                </a:solidFill>
                <a:latin typeface="Montserrat"/>
              </a:rPr>
              <a:t>Execute AVANT le modele.
Preparation, nettoyage,
set session parameters.</a:t>
            </a: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44B8D010-D51F-4A8D-AA37-8052F359D994}"/>
              </a:ext>
            </a:extLst>
          </p:cNvPr>
          <p:cNvSpPr/>
          <p:nvPr/>
        </p:nvSpPr>
        <p:spPr>
          <a:xfrm>
            <a:off x="3530600" y="1803400"/>
            <a:ext cx="2819400" cy="1371600"/>
          </a:xfrm>
          <a:prstGeom prst="roundRect">
            <a:avLst/>
          </a:prstGeom>
          <a:solidFill>
            <a:srgbClr val="F7F4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697291D8-BC52-4573-99FC-2ABBB25A1E04}"/>
              </a:ext>
            </a:extLst>
          </p:cNvPr>
          <p:cNvSpPr txBox="1"/>
          <p:nvPr/>
        </p:nvSpPr>
        <p:spPr>
          <a:xfrm>
            <a:off x="3708400" y="1930400"/>
            <a:ext cx="254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b="1">
                <a:solidFill>
                  <a:srgbClr val="160D3D"/>
                </a:solidFill>
                <a:latin typeface="Montserrat"/>
              </a:rPr>
              <a:t>post-hook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332F78BF-C2C2-4322-A0E9-C238AB2BD0BD}"/>
              </a:ext>
            </a:extLst>
          </p:cNvPr>
          <p:cNvSpPr txBox="1"/>
          <p:nvPr/>
        </p:nvSpPr>
        <p:spPr>
          <a:xfrm>
            <a:off x="3708400" y="2209800"/>
            <a:ext cx="2540000" cy="914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160D3D"/>
                </a:solidFill>
                <a:latin typeface="Montserrat"/>
              </a:rPr>
              <a:t>Execute APRES le modele.
GRANT permissions, log,
notification, audit.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236B38CA-B651-44EE-81E4-E7BC039836F5}"/>
              </a:ext>
            </a:extLst>
          </p:cNvPr>
          <p:cNvSpPr txBox="1"/>
          <p:nvPr/>
        </p:nvSpPr>
        <p:spPr>
          <a:xfrm>
            <a:off x="508000" y="3327400"/>
            <a:ext cx="5842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300" b="1">
                <a:solidFill>
                  <a:srgbClr val="160D3D"/>
                </a:solidFill>
                <a:latin typeface="Montserrat"/>
              </a:rPr>
              <a:t>Operations</a:t>
            </a: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20E0F0D8-453C-4374-A17C-8789E2B4B68E}"/>
              </a:ext>
            </a:extLst>
          </p:cNvPr>
          <p:cNvSpPr/>
          <p:nvPr/>
        </p:nvSpPr>
        <p:spPr>
          <a:xfrm>
            <a:off x="508000" y="3632200"/>
            <a:ext cx="5842000" cy="965200"/>
          </a:xfrm>
          <a:prstGeom prst="roundRect">
            <a:avLst/>
          </a:prstGeom>
          <a:solidFill>
            <a:srgbClr val="F7F4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2A7D471C-B6FC-4649-B1C6-E0EA89D8963C}"/>
              </a:ext>
            </a:extLst>
          </p:cNvPr>
          <p:cNvSpPr txBox="1"/>
          <p:nvPr/>
        </p:nvSpPr>
        <p:spPr>
          <a:xfrm>
            <a:off x="685800" y="3759200"/>
            <a:ext cx="54864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ES" sz="1200" b="1">
                <a:solidFill>
                  <a:srgbClr val="160D3D"/>
                </a:solidFill>
                <a:latin typeface="Montserrat"/>
              </a:rPr>
              <a:t>Macros SQL lancees a la demande</a:t>
            </a:r>
            <a:endParaRPr lang="fr-FR" sz="1200" b="1">
              <a:solidFill>
                <a:srgbClr val="160D3D"/>
              </a:solidFill>
              <a:latin typeface="Montserrat"/>
            </a:endParaRP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FA95EB06-80F0-43A1-A919-57669760819F}"/>
              </a:ext>
            </a:extLst>
          </p:cNvPr>
          <p:cNvSpPr txBox="1"/>
          <p:nvPr/>
        </p:nvSpPr>
        <p:spPr>
          <a:xfrm>
            <a:off x="685800" y="4013200"/>
            <a:ext cx="5486400" cy="584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160D3D"/>
                </a:solidFill>
                <a:latin typeface="Montserrat"/>
              </a:rPr>
              <a:t>dbt run-operation &lt;nom&gt; [--args '{...}']
Utile pour des taches one-shot : creer un role, faire un GRANT massif,
lancer un dbt run-operation upload_files...</a:t>
            </a: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E34D7F55-2A49-48A8-ADE6-FC6BF7142AFA}"/>
              </a:ext>
            </a:extLst>
          </p:cNvPr>
          <p:cNvSpPr/>
          <p:nvPr/>
        </p:nvSpPr>
        <p:spPr>
          <a:xfrm>
            <a:off x="508000" y="4800600"/>
            <a:ext cx="5842000" cy="1143000"/>
          </a:xfrm>
          <a:prstGeom prst="roundRect">
            <a:avLst/>
          </a:prstGeom>
          <a:solidFill>
            <a:srgbClr val="FFF0E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077564EC-5140-48CD-A034-03781FFEF74F}"/>
              </a:ext>
            </a:extLst>
          </p:cNvPr>
          <p:cNvSpPr txBox="1"/>
          <p:nvPr/>
        </p:nvSpPr>
        <p:spPr>
          <a:xfrm>
            <a:off x="685800" y="4927600"/>
            <a:ext cx="54864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b="1">
                <a:solidFill>
                  <a:srgbClr val="E8792F"/>
                </a:solidFill>
                <a:latin typeface="Montserrat"/>
              </a:rPr>
              <a:t>Hooks globaux (dbt_project.yml)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87A8A67B-4CA4-47B2-9EDA-6E9185434C66}"/>
              </a:ext>
            </a:extLst>
          </p:cNvPr>
          <p:cNvSpPr txBox="1"/>
          <p:nvPr/>
        </p:nvSpPr>
        <p:spPr>
          <a:xfrm>
            <a:off x="685800" y="5207000"/>
            <a:ext cx="5486400" cy="584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>
                <a:solidFill>
                  <a:srgbClr val="160D3D"/>
                </a:solidFill>
                <a:latin typeface="Montserrat"/>
              </a:rPr>
              <a:t>on-run-start : SQL lance avant tout build (CREATE ROLE...)
on-run-end : SQL lance apres tout build (GRANT massif, audit log...)</a:t>
            </a:r>
            <a:endParaRPr lang="fr-FR" sz="1100">
              <a:solidFill>
                <a:srgbClr val="160D3D"/>
              </a:solidFill>
              <a:latin typeface="Montserrat"/>
            </a:endParaRP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73F95D0B-0149-44E6-A726-88A6FEA6F36A}"/>
              </a:ext>
            </a:extLst>
          </p:cNvPr>
          <p:cNvSpPr txBox="1"/>
          <p:nvPr/>
        </p:nvSpPr>
        <p:spPr>
          <a:xfrm>
            <a:off x="9260000" y="1524000"/>
            <a:ext cx="2387600" cy="2286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fr-FR" sz="800" b="1">
                <a:solidFill>
                  <a:srgbClr val="6B7BA8"/>
                </a:solidFill>
                <a:latin typeface="Montserrat"/>
              </a:rPr>
              <a:t>GRANT_SELECT.SQL</a:t>
            </a:r>
          </a:p>
        </p:txBody>
      </p:sp>
    </p:spTree>
    <p:extLst>
      <p:ext uri="{BB962C8B-B14F-4D97-AF65-F5344CB8AC3E}">
        <p14:creationId xmlns:p14="http://schemas.microsoft.com/office/powerpoint/2010/main" val="361285750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5"/>
          </p:nvPr>
        </p:nvSpPr>
        <p:spPr>
          <a:xfrm>
            <a:off x="508000" y="0"/>
            <a:ext cx="11176000" cy="760021"/>
          </a:xfrm>
        </p:spPr>
        <p:txBody>
          <a:bodyPr/>
          <a:lstStyle/>
          <a:p>
            <a:pPr algn="ctr"/>
            <a:r>
              <a:rPr sz="2200" b="1">
                <a:solidFill>
                  <a:srgbClr val="160D3D"/>
                </a:solidFill>
                <a:latin typeface="Montserrat"/>
              </a:rPr>
              <a:t>Exercice 7A</a:t>
            </a:r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407545D3-94DB-448C-A317-82673D0C3E41}"/>
              </a:ext>
            </a:extLst>
          </p:cNvPr>
          <p:cNvSpPr/>
          <p:nvPr/>
        </p:nvSpPr>
        <p:spPr>
          <a:xfrm>
            <a:off x="508000" y="1358900"/>
            <a:ext cx="11176000" cy="558800"/>
          </a:xfrm>
          <a:prstGeom prst="roundRect">
            <a:avLst/>
          </a:prstGeom>
          <a:solidFill>
            <a:srgbClr val="E879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66D64196-FAEF-41EA-AD32-50B2666E8188}"/>
              </a:ext>
            </a:extLst>
          </p:cNvPr>
          <p:cNvSpPr txBox="1"/>
          <p:nvPr/>
        </p:nvSpPr>
        <p:spPr>
          <a:xfrm>
            <a:off x="711200" y="1435100"/>
            <a:ext cx="109220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 b="1">
                <a:solidFill>
                  <a:srgbClr val="FFFFFF"/>
                </a:solidFill>
                <a:latin typeface="Montserrat"/>
              </a:rPr>
              <a:t>EXERCICE 7A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B68E34E4-895F-404F-808F-DAC7955EDD23}"/>
              </a:ext>
            </a:extLst>
          </p:cNvPr>
          <p:cNvSpPr txBox="1"/>
          <p:nvPr/>
        </p:nvSpPr>
        <p:spPr>
          <a:xfrm>
            <a:off x="711200" y="1638300"/>
            <a:ext cx="10922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s-ES" sz="1300" b="1">
                <a:solidFill>
                  <a:srgbClr val="FFFFFF"/>
                </a:solidFill>
                <a:latin typeface="Montserrat"/>
              </a:rPr>
              <a:t>Creer la macro star_except</a:t>
            </a:r>
            <a:endParaRPr lang="fr-FR" sz="1300" b="1">
              <a:solidFill>
                <a:srgbClr val="FFFFFF"/>
              </a:solidFill>
              <a:latin typeface="Montserrat"/>
            </a:endParaRPr>
          </a:p>
        </p:txBody>
      </p:sp>
      <p:sp>
        <p:nvSpPr>
          <p:cNvPr id="24" name="Rectangle : coins arrondis 23">
            <a:extLst>
              <a:ext uri="{FF2B5EF4-FFF2-40B4-BE49-F238E27FC236}">
                <a16:creationId xmlns:a16="http://schemas.microsoft.com/office/drawing/2014/main" id="{B42F6994-F841-4C2F-9408-38E2E42F4ACC}"/>
              </a:ext>
            </a:extLst>
          </p:cNvPr>
          <p:cNvSpPr/>
          <p:nvPr/>
        </p:nvSpPr>
        <p:spPr>
          <a:xfrm>
            <a:off x="508000" y="2044700"/>
            <a:ext cx="11176000" cy="3403600"/>
          </a:xfrm>
          <a:prstGeom prst="roundRect">
            <a:avLst/>
          </a:prstGeom>
          <a:solidFill>
            <a:srgbClr val="F7F4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85796703-3239-4CFB-8AF2-CA8DE9A1DCAF}"/>
              </a:ext>
            </a:extLst>
          </p:cNvPr>
          <p:cNvSpPr txBox="1"/>
          <p:nvPr/>
        </p:nvSpPr>
        <p:spPr>
          <a:xfrm>
            <a:off x="711200" y="2171700"/>
            <a:ext cx="10922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b="1">
                <a:solidFill>
                  <a:srgbClr val="160D3D"/>
                </a:solidFill>
                <a:latin typeface="Montserrat"/>
              </a:rPr>
              <a:t>Étapes</a:t>
            </a:r>
          </a:p>
        </p:txBody>
      </p:sp>
      <p:sp>
        <p:nvSpPr>
          <p:cNvPr id="26" name="Ellipse 25">
            <a:extLst>
              <a:ext uri="{FF2B5EF4-FFF2-40B4-BE49-F238E27FC236}">
                <a16:creationId xmlns:a16="http://schemas.microsoft.com/office/drawing/2014/main" id="{08543280-8B49-4149-9C60-63ADA970E06C}"/>
              </a:ext>
            </a:extLst>
          </p:cNvPr>
          <p:cNvSpPr/>
          <p:nvPr/>
        </p:nvSpPr>
        <p:spPr>
          <a:xfrm>
            <a:off x="711200" y="2667000"/>
            <a:ext cx="279400" cy="279400"/>
          </a:xfrm>
          <a:prstGeom prst="ellipse">
            <a:avLst/>
          </a:prstGeom>
          <a:solidFill>
            <a:srgbClr val="E879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fr-FR" sz="10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91A7CF97-AB06-4B17-BDED-8DB526C14C71}"/>
              </a:ext>
            </a:extLst>
          </p:cNvPr>
          <p:cNvSpPr txBox="1"/>
          <p:nvPr/>
        </p:nvSpPr>
        <p:spPr>
          <a:xfrm>
            <a:off x="1117600" y="2679700"/>
            <a:ext cx="1016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160D3D"/>
                </a:solidFill>
                <a:latin typeface="Montserrat"/>
              </a:rPr>
              <a:t>Creer macros/star_except.sql</a:t>
            </a:r>
          </a:p>
        </p:txBody>
      </p:sp>
      <p:sp>
        <p:nvSpPr>
          <p:cNvPr id="28" name="Ellipse 27">
            <a:extLst>
              <a:ext uri="{FF2B5EF4-FFF2-40B4-BE49-F238E27FC236}">
                <a16:creationId xmlns:a16="http://schemas.microsoft.com/office/drawing/2014/main" id="{F7AD1715-BDD5-4B68-B218-40890BFE6007}"/>
              </a:ext>
            </a:extLst>
          </p:cNvPr>
          <p:cNvSpPr/>
          <p:nvPr/>
        </p:nvSpPr>
        <p:spPr>
          <a:xfrm>
            <a:off x="711200" y="3225800"/>
            <a:ext cx="279400" cy="279400"/>
          </a:xfrm>
          <a:prstGeom prst="ellipse">
            <a:avLst/>
          </a:prstGeom>
          <a:solidFill>
            <a:srgbClr val="E879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fr-FR" sz="10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091706DD-D6C2-4D4F-87A0-3DD7327C2EBC}"/>
              </a:ext>
            </a:extLst>
          </p:cNvPr>
          <p:cNvSpPr txBox="1"/>
          <p:nvPr/>
        </p:nvSpPr>
        <p:spPr>
          <a:xfrm>
            <a:off x="1117600" y="3238500"/>
            <a:ext cx="1016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160D3D"/>
                </a:solidFill>
                <a:latin typeface="Montserrat"/>
              </a:rPr>
              <a:t>La macro selectionne toutes les colonnes sauf celles specifiees</a:t>
            </a:r>
          </a:p>
        </p:txBody>
      </p:sp>
      <p:sp>
        <p:nvSpPr>
          <p:cNvPr id="30" name="Ellipse 29">
            <a:extLst>
              <a:ext uri="{FF2B5EF4-FFF2-40B4-BE49-F238E27FC236}">
                <a16:creationId xmlns:a16="http://schemas.microsoft.com/office/drawing/2014/main" id="{9C05A95C-DB28-45D4-9346-C5B60CE7DF59}"/>
              </a:ext>
            </a:extLst>
          </p:cNvPr>
          <p:cNvSpPr/>
          <p:nvPr/>
        </p:nvSpPr>
        <p:spPr>
          <a:xfrm>
            <a:off x="711200" y="3784600"/>
            <a:ext cx="279400" cy="279400"/>
          </a:xfrm>
          <a:prstGeom prst="ellipse">
            <a:avLst/>
          </a:prstGeom>
          <a:solidFill>
            <a:srgbClr val="E879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fr-FR" sz="10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A15ADFB8-43ED-427C-B9F5-7F7E55276DD6}"/>
              </a:ext>
            </a:extLst>
          </p:cNvPr>
          <p:cNvSpPr txBox="1"/>
          <p:nvPr/>
        </p:nvSpPr>
        <p:spPr>
          <a:xfrm>
            <a:off x="1117600" y="3797300"/>
            <a:ext cx="1016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160D3D"/>
                </a:solidFill>
                <a:latin typeface="Montserrat"/>
              </a:rPr>
              <a:t>Utiliser adapter.get_columns_in_relation()</a:t>
            </a:r>
          </a:p>
        </p:txBody>
      </p:sp>
      <p:sp>
        <p:nvSpPr>
          <p:cNvPr id="32" name="Ellipse 31">
            <a:extLst>
              <a:ext uri="{FF2B5EF4-FFF2-40B4-BE49-F238E27FC236}">
                <a16:creationId xmlns:a16="http://schemas.microsoft.com/office/drawing/2014/main" id="{4C16F6E7-576E-4286-82DD-8C43AB89942C}"/>
              </a:ext>
            </a:extLst>
          </p:cNvPr>
          <p:cNvSpPr/>
          <p:nvPr/>
        </p:nvSpPr>
        <p:spPr>
          <a:xfrm>
            <a:off x="711200" y="4343400"/>
            <a:ext cx="279400" cy="279400"/>
          </a:xfrm>
          <a:prstGeom prst="ellipse">
            <a:avLst/>
          </a:prstGeom>
          <a:solidFill>
            <a:srgbClr val="E879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fr-FR" sz="1000" b="1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716A8484-A998-4379-AF04-7F026CB68E8B}"/>
              </a:ext>
            </a:extLst>
          </p:cNvPr>
          <p:cNvSpPr txBox="1"/>
          <p:nvPr/>
        </p:nvSpPr>
        <p:spPr>
          <a:xfrm>
            <a:off x="1117600" y="4356100"/>
            <a:ext cx="1016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160D3D"/>
                </a:solidFill>
                <a:latin typeface="Montserrat"/>
              </a:rPr>
              <a:t>Tester dans un modele : select {{ star_except(ref('stg_tpch__customers'), ['comment', 'address']) }} from {{ ref('stg_tpch__customers') }}</a:t>
            </a:r>
          </a:p>
        </p:txBody>
      </p:sp>
      <p:sp>
        <p:nvSpPr>
          <p:cNvPr id="34" name="Ellipse 33">
            <a:extLst>
              <a:ext uri="{FF2B5EF4-FFF2-40B4-BE49-F238E27FC236}">
                <a16:creationId xmlns:a16="http://schemas.microsoft.com/office/drawing/2014/main" id="{18DF0729-70A0-4684-9034-EF45AA227994}"/>
              </a:ext>
            </a:extLst>
          </p:cNvPr>
          <p:cNvSpPr/>
          <p:nvPr/>
        </p:nvSpPr>
        <p:spPr>
          <a:xfrm>
            <a:off x="711200" y="4902200"/>
            <a:ext cx="279400" cy="279400"/>
          </a:xfrm>
          <a:prstGeom prst="ellipse">
            <a:avLst/>
          </a:prstGeom>
          <a:solidFill>
            <a:srgbClr val="E879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fr-FR" sz="1000" b="1">
                <a:solidFill>
                  <a:srgbClr val="FFFFFF"/>
                </a:solidFill>
                <a:latin typeface="Montserrat"/>
              </a:rPr>
              <a:t>5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B912EDC6-8770-45A0-BC0B-AEEEE599B86B}"/>
              </a:ext>
            </a:extLst>
          </p:cNvPr>
          <p:cNvSpPr txBox="1"/>
          <p:nvPr/>
        </p:nvSpPr>
        <p:spPr>
          <a:xfrm>
            <a:off x="1117600" y="4914900"/>
            <a:ext cx="10160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160D3D"/>
                </a:solidFill>
                <a:latin typeface="Montserrat"/>
              </a:rPr>
              <a:t>Compiler pour verifier : dbt compile --select &lt;modele&gt;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5"/>
          </p:nvPr>
        </p:nvSpPr>
        <p:spPr>
          <a:xfrm>
            <a:off x="508000" y="0"/>
            <a:ext cx="11176000" cy="760021"/>
          </a:xfrm>
        </p:spPr>
        <p:txBody>
          <a:bodyPr/>
          <a:lstStyle/>
          <a:p>
            <a:pPr algn="ctr"/>
            <a:r>
              <a:rPr sz="2200" b="1">
                <a:solidFill>
                  <a:srgbClr val="160D3D"/>
                </a:solidFill>
                <a:latin typeface="Montserrat"/>
              </a:rPr>
              <a:t>Exercice 7B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00000" y="1854200"/>
            <a:ext cx="5200000" cy="3644900"/>
          </a:xfrm>
          <a:prstGeom prst="rect">
            <a:avLst/>
          </a:prstGeom>
          <a:solidFill>
            <a:srgbClr val="0A1730"/>
          </a:solidFill>
          <a:ln w="12700" cap="flat" cmpd="sng" algn="ctr">
            <a:noFill/>
            <a:prstDash val="solid"/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 anchorCtr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 lang="fr-FR" sz="900" dirty="0">
              <a:solidFill>
                <a:srgbClr val="E8E8F0"/>
              </a:solidFill>
              <a:latin typeface="Courier New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lang="fr-FR" sz="900" dirty="0">
              <a:solidFill>
                <a:srgbClr val="E8E8F0"/>
              </a:solidFill>
              <a:latin typeface="Courier New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lang="fr-FR" sz="900" dirty="0">
              <a:solidFill>
                <a:srgbClr val="E8E8F0"/>
              </a:solidFill>
              <a:latin typeface="Courier New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{%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set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priorities = dbt_utils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.get_column_values(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table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=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ref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(</a:t>
            </a:r>
            <a:r>
              <a:rPr lang="fr-FR" sz="900" dirty="0">
                <a:solidFill>
                  <a:srgbClr val="FFA76B"/>
                </a:solidFill>
                <a:latin typeface="Courier New"/>
              </a:rPr>
              <a:t>'stg_tpch__orders'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),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column=</a:t>
            </a:r>
            <a:r>
              <a:rPr lang="fr-FR" sz="900" dirty="0">
                <a:solidFill>
                  <a:srgbClr val="FFA76B"/>
                </a:solidFill>
                <a:latin typeface="Courier New"/>
              </a:rPr>
              <a:t>'order_priority'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) %}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b="1" dirty="0">
                <a:solidFill>
                  <a:srgbClr val="9D88FF"/>
                </a:solidFill>
                <a:latin typeface="Courier New"/>
              </a:rPr>
              <a:t>select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</a:t>
            </a:r>
            <a:r>
              <a:rPr lang="fr-FR" sz="900" b="1" dirty="0">
                <a:solidFill>
                  <a:srgbClr val="7DB3FF"/>
                </a:solidFill>
                <a:latin typeface="Courier New"/>
              </a:rPr>
              <a:t>date_trunc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(</a:t>
            </a:r>
            <a:r>
              <a:rPr lang="fr-FR" sz="900" dirty="0">
                <a:solidFill>
                  <a:srgbClr val="FFA76B"/>
                </a:solidFill>
                <a:latin typeface="Courier New"/>
              </a:rPr>
              <a:t>'month'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, order_date)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as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order_month,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</a:t>
            </a:r>
            <a:r>
              <a:rPr lang="fr-FR" sz="900" b="1" dirty="0">
                <a:solidFill>
                  <a:srgbClr val="FFB873"/>
                </a:solidFill>
                <a:latin typeface="Courier New"/>
              </a:rPr>
              <a:t>{% for p in priorities %}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</a:t>
            </a:r>
            <a:r>
              <a:rPr lang="fr-FR" sz="900" b="1" dirty="0">
                <a:solidFill>
                  <a:srgbClr val="7DB3FF"/>
                </a:solidFill>
                <a:latin typeface="Courier New"/>
              </a:rPr>
              <a:t>count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(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case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when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order_priority = </a:t>
            </a:r>
            <a:r>
              <a:rPr lang="fr-FR" sz="900" dirty="0">
                <a:solidFill>
                  <a:srgbClr val="FFA76B"/>
                </a:solidFill>
                <a:latin typeface="Courier New"/>
              </a:rPr>
              <a:t>'{{ p }}'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then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</a:t>
            </a:r>
            <a:r>
              <a:rPr lang="fr-FR" sz="900" dirty="0">
                <a:solidFill>
                  <a:srgbClr val="FFA76B"/>
                </a:solidFill>
                <a:latin typeface="Courier New"/>
              </a:rPr>
              <a:t>1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end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as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</a:t>
            </a:r>
            <a:r>
              <a:rPr lang="fr-FR" sz="900" b="1" dirty="0">
                <a:solidFill>
                  <a:srgbClr val="FFB873"/>
                </a:solidFill>
                <a:latin typeface="Courier New"/>
              </a:rPr>
              <a:t>{{ p | replace('-','_') | lower }}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</a:t>
            </a:r>
            <a:r>
              <a:rPr lang="fr-FR" sz="900" b="1" dirty="0">
                <a:solidFill>
                  <a:srgbClr val="FFB873"/>
                </a:solidFill>
                <a:latin typeface="Courier New"/>
              </a:rPr>
              <a:t>{% if not loop.last %}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,</a:t>
            </a:r>
            <a:r>
              <a:rPr lang="fr-FR" sz="900" b="1" dirty="0">
                <a:solidFill>
                  <a:srgbClr val="FFB873"/>
                </a:solidFill>
                <a:latin typeface="Courier New"/>
              </a:rPr>
              <a:t>{% endif %}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</a:t>
            </a:r>
            <a:r>
              <a:rPr lang="fr-FR" sz="900" b="1" dirty="0">
                <a:solidFill>
                  <a:srgbClr val="FFB873"/>
                </a:solidFill>
                <a:latin typeface="Courier New"/>
              </a:rPr>
              <a:t>{% endfor %}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b="1" dirty="0">
                <a:solidFill>
                  <a:srgbClr val="9D88FF"/>
                </a:solidFill>
                <a:latin typeface="Courier New"/>
              </a:rPr>
              <a:t>from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</a:t>
            </a:r>
            <a:r>
              <a:rPr lang="fr-FR" sz="900" b="1" dirty="0">
                <a:solidFill>
                  <a:srgbClr val="FFB873"/>
                </a:solidFill>
                <a:latin typeface="Courier New"/>
              </a:rPr>
              <a:t>{{ ref('stg_tpch__orders') }}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b="1" dirty="0">
                <a:solidFill>
                  <a:srgbClr val="9D88FF"/>
                </a:solidFill>
                <a:latin typeface="Courier New"/>
              </a:rPr>
              <a:t>group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by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</a:t>
            </a:r>
            <a:r>
              <a:rPr lang="fr-FR" sz="900" dirty="0">
                <a:solidFill>
                  <a:srgbClr val="FFA76B"/>
                </a:solidFill>
                <a:latin typeface="Courier New"/>
              </a:rPr>
              <a:t>1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b="1" dirty="0">
                <a:solidFill>
                  <a:srgbClr val="9D88FF"/>
                </a:solidFill>
                <a:latin typeface="Courier New"/>
              </a:rPr>
              <a:t>order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by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</a:t>
            </a:r>
            <a:r>
              <a:rPr lang="fr-FR" sz="900" dirty="0">
                <a:solidFill>
                  <a:srgbClr val="FFA76B"/>
                </a:solidFill>
                <a:latin typeface="Courier New"/>
              </a:rPr>
              <a:t>1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B78B4B94-B8B2-4D1B-B3CD-DE566BA9A85C}"/>
              </a:ext>
            </a:extLst>
          </p:cNvPr>
          <p:cNvSpPr/>
          <p:nvPr/>
        </p:nvSpPr>
        <p:spPr>
          <a:xfrm>
            <a:off x="508000" y="1079500"/>
            <a:ext cx="1397000" cy="355600"/>
          </a:xfrm>
          <a:prstGeom prst="roundRect">
            <a:avLst/>
          </a:prstGeom>
          <a:solidFill>
            <a:srgbClr val="E879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B333F24C-CB9F-4474-863A-79744892A3F0}"/>
              </a:ext>
            </a:extLst>
          </p:cNvPr>
          <p:cNvSpPr txBox="1"/>
          <p:nvPr/>
        </p:nvSpPr>
        <p:spPr>
          <a:xfrm>
            <a:off x="508000" y="1130300"/>
            <a:ext cx="1397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 b="1">
                <a:solidFill>
                  <a:srgbClr val="FFFFFF"/>
                </a:solidFill>
                <a:latin typeface="Montserrat"/>
              </a:rPr>
              <a:t>EXERCICE 7B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8DEAEAF5-B0CC-43F6-BD0E-1D896B6FAAEE}"/>
              </a:ext>
            </a:extLst>
          </p:cNvPr>
          <p:cNvSpPr txBox="1"/>
          <p:nvPr/>
        </p:nvSpPr>
        <p:spPr>
          <a:xfrm>
            <a:off x="2032000" y="1079500"/>
            <a:ext cx="43180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fr-FR" sz="1400" b="1">
                <a:solidFill>
                  <a:srgbClr val="160D3D"/>
                </a:solidFill>
                <a:latin typeface="Montserrat"/>
              </a:rPr>
              <a:t>Modele pivot avec boucle for</a:t>
            </a: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3B12DF4A-2EC5-45F3-BE87-B4EBA216B4DC}"/>
              </a:ext>
            </a:extLst>
          </p:cNvPr>
          <p:cNvSpPr/>
          <p:nvPr/>
        </p:nvSpPr>
        <p:spPr>
          <a:xfrm>
            <a:off x="508000" y="1625600"/>
            <a:ext cx="5842000" cy="711200"/>
          </a:xfrm>
          <a:prstGeom prst="roundRect">
            <a:avLst/>
          </a:prstGeom>
          <a:solidFill>
            <a:srgbClr val="F7F4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2CE234BB-572B-4297-B166-5792C98ADB5F}"/>
              </a:ext>
            </a:extLst>
          </p:cNvPr>
          <p:cNvSpPr/>
          <p:nvPr/>
        </p:nvSpPr>
        <p:spPr>
          <a:xfrm>
            <a:off x="711200" y="1778000"/>
            <a:ext cx="406400" cy="406400"/>
          </a:xfrm>
          <a:prstGeom prst="ellipse">
            <a:avLst/>
          </a:prstGeom>
          <a:solidFill>
            <a:srgbClr val="160D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1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75C2308F-E3CC-4CA8-B5F4-B48A89A4D6C6}"/>
              </a:ext>
            </a:extLst>
          </p:cNvPr>
          <p:cNvSpPr txBox="1"/>
          <p:nvPr/>
        </p:nvSpPr>
        <p:spPr>
          <a:xfrm>
            <a:off x="1270000" y="1727200"/>
            <a:ext cx="50292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b="1">
                <a:solidFill>
                  <a:srgbClr val="160D3D"/>
                </a:solidFill>
                <a:latin typeface="Montserrat"/>
              </a:rPr>
              <a:t>Creer le fichier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83096191-F03F-4926-869A-335BCD8C8980}"/>
              </a:ext>
            </a:extLst>
          </p:cNvPr>
          <p:cNvSpPr txBox="1"/>
          <p:nvPr/>
        </p:nvSpPr>
        <p:spPr>
          <a:xfrm>
            <a:off x="1270000" y="1981200"/>
            <a:ext cx="50292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>
                <a:solidFill>
                  <a:srgbClr val="160D3D"/>
                </a:solidFill>
                <a:latin typeface="Montserrat"/>
              </a:rPr>
              <a:t>analyses/monthly_orders_by_priority.sql</a:t>
            </a:r>
            <a:endParaRPr lang="fr-FR" sz="1100">
              <a:solidFill>
                <a:srgbClr val="160D3D"/>
              </a:solidFill>
              <a:latin typeface="Montserrat"/>
            </a:endParaRP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2983E11B-32CB-4E37-97B8-951E49FE2A6C}"/>
              </a:ext>
            </a:extLst>
          </p:cNvPr>
          <p:cNvSpPr/>
          <p:nvPr/>
        </p:nvSpPr>
        <p:spPr>
          <a:xfrm>
            <a:off x="508000" y="2438400"/>
            <a:ext cx="5842000" cy="711200"/>
          </a:xfrm>
          <a:prstGeom prst="roundRect">
            <a:avLst/>
          </a:prstGeom>
          <a:solidFill>
            <a:srgbClr val="F7F4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C0ED772D-5A4B-4FA4-9B05-610CB4C5836B}"/>
              </a:ext>
            </a:extLst>
          </p:cNvPr>
          <p:cNvSpPr/>
          <p:nvPr/>
        </p:nvSpPr>
        <p:spPr>
          <a:xfrm>
            <a:off x="711200" y="2590800"/>
            <a:ext cx="406400" cy="406400"/>
          </a:xfrm>
          <a:prstGeom prst="ellipse">
            <a:avLst/>
          </a:prstGeom>
          <a:solidFill>
            <a:srgbClr val="160D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1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A50FFC06-FC9C-4FC6-A934-BF4F89D58495}"/>
              </a:ext>
            </a:extLst>
          </p:cNvPr>
          <p:cNvSpPr txBox="1"/>
          <p:nvPr/>
        </p:nvSpPr>
        <p:spPr>
          <a:xfrm>
            <a:off x="1270000" y="2540000"/>
            <a:ext cx="50292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b="1">
                <a:solidFill>
                  <a:srgbClr val="160D3D"/>
                </a:solidFill>
                <a:latin typeface="Montserrat"/>
              </a:rPr>
              <a:t>Boucle Jinja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8C386FB0-B705-4316-B853-883BF4DD3365}"/>
              </a:ext>
            </a:extLst>
          </p:cNvPr>
          <p:cNvSpPr txBox="1"/>
          <p:nvPr/>
        </p:nvSpPr>
        <p:spPr>
          <a:xfrm>
            <a:off x="1270000" y="2794000"/>
            <a:ext cx="50292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160D3D"/>
                </a:solidFill>
                <a:latin typeface="Montserrat"/>
              </a:rPr>
              <a:t>Utiliser get_column_values() de dbt_utils</a:t>
            </a: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429C3D6E-79BA-40BB-B439-E33ED91C4EE5}"/>
              </a:ext>
            </a:extLst>
          </p:cNvPr>
          <p:cNvSpPr/>
          <p:nvPr/>
        </p:nvSpPr>
        <p:spPr>
          <a:xfrm>
            <a:off x="508000" y="3251200"/>
            <a:ext cx="5842000" cy="711200"/>
          </a:xfrm>
          <a:prstGeom prst="roundRect">
            <a:avLst/>
          </a:prstGeom>
          <a:solidFill>
            <a:srgbClr val="F7F4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7A77C1FC-064B-408D-B2D3-E90DE1E9AF95}"/>
              </a:ext>
            </a:extLst>
          </p:cNvPr>
          <p:cNvSpPr/>
          <p:nvPr/>
        </p:nvSpPr>
        <p:spPr>
          <a:xfrm>
            <a:off x="711200" y="3403600"/>
            <a:ext cx="406400" cy="406400"/>
          </a:xfrm>
          <a:prstGeom prst="ellipse">
            <a:avLst/>
          </a:prstGeom>
          <a:solidFill>
            <a:srgbClr val="160D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1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B8CB2670-BEBF-4A72-A151-680311C84881}"/>
              </a:ext>
            </a:extLst>
          </p:cNvPr>
          <p:cNvSpPr txBox="1"/>
          <p:nvPr/>
        </p:nvSpPr>
        <p:spPr>
          <a:xfrm>
            <a:off x="1270000" y="3352800"/>
            <a:ext cx="50292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b="1">
                <a:solidFill>
                  <a:srgbClr val="160D3D"/>
                </a:solidFill>
                <a:latin typeface="Montserrat"/>
              </a:rPr>
              <a:t>Construire le pivot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CE08307C-1B98-49CB-934C-B0A0388CDF3D}"/>
              </a:ext>
            </a:extLst>
          </p:cNvPr>
          <p:cNvSpPr txBox="1"/>
          <p:nvPr/>
        </p:nvSpPr>
        <p:spPr>
          <a:xfrm>
            <a:off x="1270000" y="3606800"/>
            <a:ext cx="50292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160D3D"/>
                </a:solidFill>
                <a:latin typeface="Montserrat"/>
              </a:rPr>
              <a:t>Une colonne SUM par valeur de order_priority</a:t>
            </a:r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BD986401-F195-4CF7-99BA-9282F093D360}"/>
              </a:ext>
            </a:extLst>
          </p:cNvPr>
          <p:cNvSpPr/>
          <p:nvPr/>
        </p:nvSpPr>
        <p:spPr>
          <a:xfrm>
            <a:off x="508000" y="4064000"/>
            <a:ext cx="5842000" cy="711200"/>
          </a:xfrm>
          <a:prstGeom prst="roundRect">
            <a:avLst/>
          </a:prstGeom>
          <a:solidFill>
            <a:srgbClr val="F7F4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F407339C-66E3-4059-89F0-3F339AE75FA0}"/>
              </a:ext>
            </a:extLst>
          </p:cNvPr>
          <p:cNvSpPr/>
          <p:nvPr/>
        </p:nvSpPr>
        <p:spPr>
          <a:xfrm>
            <a:off x="711200" y="4216400"/>
            <a:ext cx="406400" cy="406400"/>
          </a:xfrm>
          <a:prstGeom prst="ellipse">
            <a:avLst/>
          </a:prstGeom>
          <a:solidFill>
            <a:srgbClr val="160D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100" b="1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1DE09C5C-522B-4E0E-B3B0-354F3316FE62}"/>
              </a:ext>
            </a:extLst>
          </p:cNvPr>
          <p:cNvSpPr txBox="1"/>
          <p:nvPr/>
        </p:nvSpPr>
        <p:spPr>
          <a:xfrm>
            <a:off x="1270000" y="4165600"/>
            <a:ext cx="50292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b="1">
                <a:solidFill>
                  <a:srgbClr val="160D3D"/>
                </a:solidFill>
                <a:latin typeface="Montserrat"/>
              </a:rPr>
              <a:t>Compiler et executer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62483DF6-057E-4C0A-AC6E-6E6CA1F2DAA4}"/>
              </a:ext>
            </a:extLst>
          </p:cNvPr>
          <p:cNvSpPr txBox="1"/>
          <p:nvPr/>
        </p:nvSpPr>
        <p:spPr>
          <a:xfrm>
            <a:off x="1270000" y="4419600"/>
            <a:ext cx="50292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160D3D"/>
                </a:solidFill>
                <a:latin typeface="Montserrat"/>
              </a:rPr>
              <a:t>dbt compile pour voir le SQL final puis lancer</a:t>
            </a:r>
          </a:p>
        </p:txBody>
      </p:sp>
      <p:sp>
        <p:nvSpPr>
          <p:cNvPr id="26" name="Rectangle : coins arrondis 25">
            <a:extLst>
              <a:ext uri="{FF2B5EF4-FFF2-40B4-BE49-F238E27FC236}">
                <a16:creationId xmlns:a16="http://schemas.microsoft.com/office/drawing/2014/main" id="{D4DD7DC1-416A-4F19-8137-8942F6E7B223}"/>
              </a:ext>
            </a:extLst>
          </p:cNvPr>
          <p:cNvSpPr/>
          <p:nvPr/>
        </p:nvSpPr>
        <p:spPr>
          <a:xfrm>
            <a:off x="508000" y="4876800"/>
            <a:ext cx="5842000" cy="711200"/>
          </a:xfrm>
          <a:prstGeom prst="roundRect">
            <a:avLst/>
          </a:prstGeom>
          <a:solidFill>
            <a:srgbClr val="F7F4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DC3A239A-D04D-4CF3-8AB2-8747A99CB552}"/>
              </a:ext>
            </a:extLst>
          </p:cNvPr>
          <p:cNvSpPr/>
          <p:nvPr/>
        </p:nvSpPr>
        <p:spPr>
          <a:xfrm>
            <a:off x="711200" y="5029200"/>
            <a:ext cx="406400" cy="406400"/>
          </a:xfrm>
          <a:prstGeom prst="ellipse">
            <a:avLst/>
          </a:prstGeom>
          <a:solidFill>
            <a:srgbClr val="160D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100" b="1">
                <a:solidFill>
                  <a:srgbClr val="FFFFFF"/>
                </a:solidFill>
                <a:latin typeface="Montserrat"/>
              </a:rPr>
              <a:t>5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3446E5A4-4CC6-4E05-94F2-2356C1AE5250}"/>
              </a:ext>
            </a:extLst>
          </p:cNvPr>
          <p:cNvSpPr txBox="1"/>
          <p:nvPr/>
        </p:nvSpPr>
        <p:spPr>
          <a:xfrm>
            <a:off x="1270000" y="4978400"/>
            <a:ext cx="50292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b="1">
                <a:solidFill>
                  <a:srgbClr val="160D3D"/>
                </a:solidFill>
                <a:latin typeface="Montserrat"/>
              </a:rPr>
              <a:t>Inspecter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A9649562-8B46-4149-A099-CBF416A5F0FC}"/>
              </a:ext>
            </a:extLst>
          </p:cNvPr>
          <p:cNvSpPr txBox="1"/>
          <p:nvPr/>
        </p:nvSpPr>
        <p:spPr>
          <a:xfrm>
            <a:off x="1270000" y="5232400"/>
            <a:ext cx="50292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160D3D"/>
                </a:solidFill>
                <a:latin typeface="Montserrat"/>
              </a:rPr>
              <a:t>Verifier le pivot dans Snowflake</a:t>
            </a:r>
          </a:p>
        </p:txBody>
      </p:sp>
      <p:sp>
        <p:nvSpPr>
          <p:cNvPr id="30" name="Rectangle : coins arrondis 29">
            <a:extLst>
              <a:ext uri="{FF2B5EF4-FFF2-40B4-BE49-F238E27FC236}">
                <a16:creationId xmlns:a16="http://schemas.microsoft.com/office/drawing/2014/main" id="{EE99C7C5-393D-4F37-A4CE-968518C9FBBD}"/>
              </a:ext>
            </a:extLst>
          </p:cNvPr>
          <p:cNvSpPr/>
          <p:nvPr/>
        </p:nvSpPr>
        <p:spPr>
          <a:xfrm>
            <a:off x="508000" y="5689600"/>
            <a:ext cx="5842000" cy="406400"/>
          </a:xfrm>
          <a:prstGeom prst="roundRect">
            <a:avLst/>
          </a:prstGeom>
          <a:solidFill>
            <a:srgbClr val="FFF0E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A641FED8-E09C-4113-9C6B-BC6FE9B21E7D}"/>
              </a:ext>
            </a:extLst>
          </p:cNvPr>
          <p:cNvSpPr txBox="1"/>
          <p:nvPr/>
        </p:nvSpPr>
        <p:spPr>
          <a:xfrm>
            <a:off x="685800" y="5791200"/>
            <a:ext cx="54864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 b="1">
                <a:solidFill>
                  <a:srgbClr val="E8792F"/>
                </a:solidFill>
                <a:latin typeface="Montserrat"/>
              </a:rPr>
              <a:t>→ Astuce : dbt_utils.get_column_values() est evalue au compile time.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73F7AC9E-CBA1-4284-87E4-73DDC4F9B10B}"/>
              </a:ext>
            </a:extLst>
          </p:cNvPr>
          <p:cNvSpPr txBox="1"/>
          <p:nvPr/>
        </p:nvSpPr>
        <p:spPr>
          <a:xfrm>
            <a:off x="9260000" y="1981200"/>
            <a:ext cx="2387600" cy="2286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fr-FR" sz="800" b="1">
                <a:solidFill>
                  <a:srgbClr val="6B7BA8"/>
                </a:solidFill>
                <a:latin typeface="Montserrat"/>
              </a:rPr>
              <a:t>MACRO JINJA</a:t>
            </a:r>
          </a:p>
        </p:txBody>
      </p:sp>
    </p:spTree>
    <p:extLst>
      <p:ext uri="{BB962C8B-B14F-4D97-AF65-F5344CB8AC3E}">
        <p14:creationId xmlns:p14="http://schemas.microsoft.com/office/powerpoint/2010/main" val="32330264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BF884D-6763-C541-B4FE-DAAE120B1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 6">
            <a:extLst>
              <a:ext uri="{FF2B5EF4-FFF2-40B4-BE49-F238E27FC236}">
                <a16:creationId xmlns:a16="http://schemas.microsoft.com/office/drawing/2014/main" id="{938E2506-4BA0-B379-CDD3-7412DF1478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47700"/>
            <a:ext cx="12192000" cy="5562600"/>
          </a:xfrm>
          <a:prstGeom prst="rect">
            <a:avLst/>
          </a:prstGeom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51E5076-4042-704B-9235-CC1FE20A50C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8000" y="0"/>
            <a:ext cx="11176000" cy="760021"/>
          </a:xfrm>
        </p:spPr>
        <p:txBody>
          <a:bodyPr/>
          <a:lstStyle/>
          <a:p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04FCF7-77F4-583B-B923-ACD4AA6609A8}"/>
              </a:ext>
            </a:extLst>
          </p:cNvPr>
          <p:cNvSpPr txBox="1"/>
          <p:nvPr/>
        </p:nvSpPr>
        <p:spPr>
          <a:xfrm>
            <a:off x="1143753" y="2203730"/>
            <a:ext cx="30000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0" b="1" dirty="0">
                <a:solidFill>
                  <a:schemeClr val="bg1"/>
                </a:solidFill>
                <a:latin typeface="Montserrat"/>
              </a:rPr>
              <a:t>0</a:t>
            </a:r>
            <a:r>
              <a:rPr lang="fr-FR" sz="12000" b="1" dirty="0">
                <a:solidFill>
                  <a:schemeClr val="bg1"/>
                </a:solidFill>
                <a:latin typeface="Montserrat"/>
              </a:rPr>
              <a:t>8</a:t>
            </a:r>
            <a:endParaRPr sz="12000" b="1" dirty="0">
              <a:solidFill>
                <a:schemeClr val="bg1"/>
              </a:solidFill>
              <a:latin typeface="Montserra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4A4B52-A625-06E0-BE96-615E37B66B76}"/>
              </a:ext>
            </a:extLst>
          </p:cNvPr>
          <p:cNvSpPr txBox="1"/>
          <p:nvPr/>
        </p:nvSpPr>
        <p:spPr>
          <a:xfrm>
            <a:off x="4068940" y="2424303"/>
            <a:ext cx="7800000" cy="14978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lang="fr-FR" sz="4400" b="1" dirty="0">
                <a:solidFill>
                  <a:schemeClr val="bg1"/>
                </a:solidFill>
              </a:rPr>
              <a:t>Déploiement et
DBT Cloud</a:t>
            </a:r>
          </a:p>
        </p:txBody>
      </p:sp>
    </p:spTree>
    <p:extLst>
      <p:ext uri="{BB962C8B-B14F-4D97-AF65-F5344CB8AC3E}">
        <p14:creationId xmlns:p14="http://schemas.microsoft.com/office/powerpoint/2010/main" val="30029411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5"/>
          </p:nvPr>
        </p:nvSpPr>
        <p:spPr>
          <a:xfrm>
            <a:off x="508000" y="0"/>
            <a:ext cx="11176000" cy="760021"/>
          </a:xfrm>
        </p:spPr>
        <p:txBody>
          <a:bodyPr/>
          <a:lstStyle/>
          <a:p>
            <a:pPr algn="ctr"/>
            <a:r>
              <a:rPr sz="2200" b="1">
                <a:solidFill>
                  <a:srgbClr val="160D3D"/>
                </a:solidFill>
                <a:latin typeface="Montserrat"/>
              </a:rPr>
              <a:t>Profil de production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600000" y="2235200"/>
            <a:ext cx="5200000" cy="2882900"/>
          </a:xfrm>
          <a:prstGeom prst="rect">
            <a:avLst/>
          </a:prstGeom>
          <a:solidFill>
            <a:srgbClr val="0A1730"/>
          </a:solidFill>
          <a:ln w="12700" cap="flat" cmpd="sng" algn="ctr">
            <a:noFill/>
            <a:prstDash val="solid"/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 anchorCtr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 lang="fr-FR" sz="900" i="1" dirty="0">
              <a:solidFill>
                <a:srgbClr val="6B7BA8"/>
              </a:solidFill>
              <a:latin typeface="Courier New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lang="fr-FR" sz="900" i="1" dirty="0">
              <a:solidFill>
                <a:srgbClr val="6B7BA8"/>
              </a:solidFill>
              <a:latin typeface="Courier New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lang="fr-FR" sz="900" i="1" dirty="0">
              <a:solidFill>
                <a:srgbClr val="6B7BA8"/>
              </a:solidFill>
              <a:latin typeface="Courier New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i="1" dirty="0">
                <a:solidFill>
                  <a:srgbClr val="6B7BA8"/>
                </a:solidFill>
                <a:latin typeface="Courier New"/>
              </a:rPr>
              <a:t># profiles.yml (prod)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b="1" dirty="0">
                <a:solidFill>
                  <a:srgbClr val="9D88FF"/>
                </a:solidFill>
                <a:latin typeface="Courier New"/>
              </a:rPr>
              <a:t>tpch_analytics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target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 prod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outputs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prod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type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 snowflake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account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 QRQOCXI-KD48953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user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 STREAMLIT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private_key_path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 /path/key.p8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role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 SYSADMIN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database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 ANALYTICS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warehouse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 COMPUTE_WH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schema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 PROD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threads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: 8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F4B80C10-F986-4115-9964-0D4688F73429}"/>
              </a:ext>
            </a:extLst>
          </p:cNvPr>
          <p:cNvSpPr txBox="1"/>
          <p:nvPr/>
        </p:nvSpPr>
        <p:spPr>
          <a:xfrm>
            <a:off x="508000" y="1079500"/>
            <a:ext cx="58420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500" b="1">
                <a:solidFill>
                  <a:srgbClr val="160D3D"/>
                </a:solidFill>
                <a:latin typeface="Montserrat"/>
              </a:rPr>
              <a:t>Securiser dbt en production</a:t>
            </a: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394C335C-5BAA-4320-A457-89FBD46DDEFC}"/>
              </a:ext>
            </a:extLst>
          </p:cNvPr>
          <p:cNvSpPr/>
          <p:nvPr/>
        </p:nvSpPr>
        <p:spPr>
          <a:xfrm>
            <a:off x="508000" y="1498600"/>
            <a:ext cx="5842000" cy="1447800"/>
          </a:xfrm>
          <a:prstGeom prst="roundRect">
            <a:avLst/>
          </a:prstGeom>
          <a:solidFill>
            <a:srgbClr val="F7F4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7DF5D7E4-7145-4EDE-8E30-8EAC3465916E}"/>
              </a:ext>
            </a:extLst>
          </p:cNvPr>
          <p:cNvSpPr txBox="1"/>
          <p:nvPr/>
        </p:nvSpPr>
        <p:spPr>
          <a:xfrm>
            <a:off x="685800" y="1625600"/>
            <a:ext cx="54864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b="1">
                <a:solidFill>
                  <a:srgbClr val="160D3D"/>
                </a:solidFill>
                <a:latin typeface="Montserrat"/>
              </a:rPr>
              <a:t>Compte de service Snowflake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81310B66-58AE-464E-BE8D-49C5DD5480C4}"/>
              </a:ext>
            </a:extLst>
          </p:cNvPr>
          <p:cNvSpPr txBox="1"/>
          <p:nvPr/>
        </p:nvSpPr>
        <p:spPr>
          <a:xfrm>
            <a:off x="685800" y="1905000"/>
            <a:ext cx="5486400" cy="965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160D3D"/>
                </a:solidFill>
                <a:latin typeface="Montserrat"/>
              </a:rPr>
              <a:t>Utilisateur dedie (ex. STREAMLIT_DBT) different des comptes humains.
Authentification key-pair (cle RSA), pas de mot de passe.
Role dedie avec droits minimaux sur la base PROD.</a:t>
            </a: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08239C14-A659-47E3-9285-67F7598A341B}"/>
              </a:ext>
            </a:extLst>
          </p:cNvPr>
          <p:cNvSpPr/>
          <p:nvPr/>
        </p:nvSpPr>
        <p:spPr>
          <a:xfrm>
            <a:off x="508000" y="3098800"/>
            <a:ext cx="5842000" cy="1371600"/>
          </a:xfrm>
          <a:prstGeom prst="roundRect">
            <a:avLst/>
          </a:prstGeom>
          <a:solidFill>
            <a:srgbClr val="F7F4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EDF1D002-A007-410C-ACF0-8A2329B8D836}"/>
              </a:ext>
            </a:extLst>
          </p:cNvPr>
          <p:cNvSpPr txBox="1"/>
          <p:nvPr/>
        </p:nvSpPr>
        <p:spPr>
          <a:xfrm>
            <a:off x="685800" y="3225800"/>
            <a:ext cx="54864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b="1">
                <a:solidFill>
                  <a:srgbClr val="160D3D"/>
                </a:solidFill>
                <a:latin typeface="Montserrat"/>
              </a:rPr>
              <a:t>Variables d'environnement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7FE93F03-A0FC-4D85-A297-E5AA8C2C0F6A}"/>
              </a:ext>
            </a:extLst>
          </p:cNvPr>
          <p:cNvSpPr txBox="1"/>
          <p:nvPr/>
        </p:nvSpPr>
        <p:spPr>
          <a:xfrm>
            <a:off x="685800" y="3505200"/>
            <a:ext cx="5486400" cy="914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160D3D"/>
                </a:solidFill>
                <a:latin typeface="Montserrat"/>
              </a:rPr>
              <a:t>env_var('DBT_USER'), env_var('DBT_PRIVATE_KEY_PATH')...
Les secrets restent hors du code source.
Profiles.yml ne contient que des references.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F9E6668A-610D-4442-81B0-DDEAD5BA0CEF}"/>
              </a:ext>
            </a:extLst>
          </p:cNvPr>
          <p:cNvSpPr/>
          <p:nvPr/>
        </p:nvSpPr>
        <p:spPr>
          <a:xfrm>
            <a:off x="508000" y="4622800"/>
            <a:ext cx="5842000" cy="1320800"/>
          </a:xfrm>
          <a:prstGeom prst="roundRect">
            <a:avLst/>
          </a:prstGeom>
          <a:solidFill>
            <a:srgbClr val="FFF0E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0DB51728-6369-47E1-9FCC-6988EDE61887}"/>
              </a:ext>
            </a:extLst>
          </p:cNvPr>
          <p:cNvSpPr txBox="1"/>
          <p:nvPr/>
        </p:nvSpPr>
        <p:spPr>
          <a:xfrm>
            <a:off x="685800" y="4749800"/>
            <a:ext cx="54864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b="1">
                <a:solidFill>
                  <a:srgbClr val="E8792F"/>
                </a:solidFill>
                <a:latin typeface="Montserrat"/>
              </a:rPr>
              <a:t>→ Regles d'or</a:t>
            </a: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108AFDC1-73CE-4BFB-AD05-EE2D5905755E}"/>
              </a:ext>
            </a:extLst>
          </p:cNvPr>
          <p:cNvSpPr txBox="1"/>
          <p:nvPr/>
        </p:nvSpPr>
        <p:spPr>
          <a:xfrm>
            <a:off x="685800" y="5029200"/>
            <a:ext cx="5486400" cy="863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160D3D"/>
                </a:solidFill>
                <a:latin typeface="Montserrat"/>
              </a:rPr>
              <a:t>Ne jamais commiter profiles.yml ni les cles privees.
Gitignore systematique des .pem et .env.
Roter regulierement les cles RSA.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5299D985-714C-4733-AD65-BE0E5E34A1EA}"/>
              </a:ext>
            </a:extLst>
          </p:cNvPr>
          <p:cNvSpPr txBox="1"/>
          <p:nvPr/>
        </p:nvSpPr>
        <p:spPr>
          <a:xfrm>
            <a:off x="9260000" y="2362200"/>
            <a:ext cx="2387600" cy="2286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fr-FR" sz="800" b="1">
                <a:solidFill>
                  <a:srgbClr val="6B7BA8"/>
                </a:solidFill>
                <a:latin typeface="Montserrat"/>
              </a:rPr>
              <a:t>PROFILES.YML (PROD)</a:t>
            </a:r>
          </a:p>
        </p:txBody>
      </p:sp>
    </p:spTree>
    <p:extLst>
      <p:ext uri="{BB962C8B-B14F-4D97-AF65-F5344CB8AC3E}">
        <p14:creationId xmlns:p14="http://schemas.microsoft.com/office/powerpoint/2010/main" val="83263589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5"/>
          </p:nvPr>
        </p:nvSpPr>
        <p:spPr>
          <a:xfrm>
            <a:off x="508000" y="0"/>
            <a:ext cx="11176000" cy="760021"/>
          </a:xfrm>
        </p:spPr>
        <p:txBody>
          <a:bodyPr/>
          <a:lstStyle/>
          <a:p>
            <a:pPr algn="ctr"/>
            <a:r>
              <a:rPr sz="2200" b="1">
                <a:solidFill>
                  <a:srgbClr val="160D3D"/>
                </a:solidFill>
                <a:latin typeface="Montserrat"/>
              </a:rPr>
              <a:t>Setup dbt Cloud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820D0D83-8094-43E6-9155-BD6D31BF475D}"/>
              </a:ext>
            </a:extLst>
          </p:cNvPr>
          <p:cNvSpPr txBox="1"/>
          <p:nvPr/>
        </p:nvSpPr>
        <p:spPr>
          <a:xfrm>
            <a:off x="508000" y="1016000"/>
            <a:ext cx="1117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500" b="1">
                <a:solidFill>
                  <a:srgbClr val="160D3D"/>
                </a:solidFill>
                <a:latin typeface="Montserrat"/>
              </a:rPr>
              <a:t>Mise en route en 4 etapes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72C28557-BDBD-4274-B459-FB69E555AAFC}"/>
              </a:ext>
            </a:extLst>
          </p:cNvPr>
          <p:cNvSpPr/>
          <p:nvPr/>
        </p:nvSpPr>
        <p:spPr>
          <a:xfrm>
            <a:off x="533400" y="1447800"/>
            <a:ext cx="2667000" cy="1905000"/>
          </a:xfrm>
          <a:prstGeom prst="roundRect">
            <a:avLst/>
          </a:prstGeom>
          <a:solidFill>
            <a:srgbClr val="F7F4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4B9D2951-CF33-4F56-A5DB-41A7EC281B6F}"/>
              </a:ext>
            </a:extLst>
          </p:cNvPr>
          <p:cNvSpPr/>
          <p:nvPr/>
        </p:nvSpPr>
        <p:spPr>
          <a:xfrm>
            <a:off x="736600" y="1625600"/>
            <a:ext cx="406400" cy="406400"/>
          </a:xfrm>
          <a:prstGeom prst="ellipse">
            <a:avLst/>
          </a:prstGeom>
          <a:solidFill>
            <a:srgbClr val="E879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1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58654F02-9E6E-4911-8296-DE0A22BE7EF8}"/>
              </a:ext>
            </a:extLst>
          </p:cNvPr>
          <p:cNvSpPr txBox="1"/>
          <p:nvPr/>
        </p:nvSpPr>
        <p:spPr>
          <a:xfrm>
            <a:off x="736600" y="2159000"/>
            <a:ext cx="22606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 b="1">
                <a:solidFill>
                  <a:srgbClr val="160D3D"/>
                </a:solidFill>
                <a:latin typeface="Montserrat"/>
              </a:rPr>
              <a:t>Compte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F60A20A8-5290-415C-9363-4876F75B122B}"/>
              </a:ext>
            </a:extLst>
          </p:cNvPr>
          <p:cNvSpPr txBox="1"/>
          <p:nvPr/>
        </p:nvSpPr>
        <p:spPr>
          <a:xfrm>
            <a:off x="736600" y="2489200"/>
            <a:ext cx="22606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160D3D"/>
                </a:solidFill>
                <a:latin typeface="Montserrat"/>
              </a:rPr>
              <a:t>Creer un compte sur cloud.getdbt.com</a:t>
            </a: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C8B78978-3A1C-4357-8224-E45950C7C8E9}"/>
              </a:ext>
            </a:extLst>
          </p:cNvPr>
          <p:cNvSpPr/>
          <p:nvPr/>
        </p:nvSpPr>
        <p:spPr>
          <a:xfrm>
            <a:off x="3352800" y="1447800"/>
            <a:ext cx="2667000" cy="1905000"/>
          </a:xfrm>
          <a:prstGeom prst="roundRect">
            <a:avLst/>
          </a:prstGeom>
          <a:solidFill>
            <a:srgbClr val="F7F4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8D628064-BC18-42C9-B96A-FA2AE3641EA4}"/>
              </a:ext>
            </a:extLst>
          </p:cNvPr>
          <p:cNvSpPr/>
          <p:nvPr/>
        </p:nvSpPr>
        <p:spPr>
          <a:xfrm>
            <a:off x="3556000" y="1625600"/>
            <a:ext cx="406400" cy="406400"/>
          </a:xfrm>
          <a:prstGeom prst="ellipse">
            <a:avLst/>
          </a:prstGeom>
          <a:solidFill>
            <a:srgbClr val="E879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1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486FED32-727A-4C33-A89D-751D7961C4A2}"/>
              </a:ext>
            </a:extLst>
          </p:cNvPr>
          <p:cNvSpPr txBox="1"/>
          <p:nvPr/>
        </p:nvSpPr>
        <p:spPr>
          <a:xfrm>
            <a:off x="3556000" y="2159000"/>
            <a:ext cx="22606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 b="1">
                <a:solidFill>
                  <a:srgbClr val="160D3D"/>
                </a:solidFill>
                <a:latin typeface="Montserrat"/>
              </a:rPr>
              <a:t>Snowflake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C3975A0E-94D0-4117-B68D-973FA3689E3B}"/>
              </a:ext>
            </a:extLst>
          </p:cNvPr>
          <p:cNvSpPr txBox="1"/>
          <p:nvPr/>
        </p:nvSpPr>
        <p:spPr>
          <a:xfrm>
            <a:off x="3556000" y="2489200"/>
            <a:ext cx="22606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160D3D"/>
                </a:solidFill>
                <a:latin typeface="Montserrat"/>
              </a:rPr>
              <a:t>Connecter avec cle RSA (compte STREAMLIT)</a:t>
            </a: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B35F402E-9B9B-4A17-9AD5-38C4B0487395}"/>
              </a:ext>
            </a:extLst>
          </p:cNvPr>
          <p:cNvSpPr/>
          <p:nvPr/>
        </p:nvSpPr>
        <p:spPr>
          <a:xfrm>
            <a:off x="6172200" y="1447800"/>
            <a:ext cx="2667000" cy="1905000"/>
          </a:xfrm>
          <a:prstGeom prst="roundRect">
            <a:avLst/>
          </a:prstGeom>
          <a:solidFill>
            <a:srgbClr val="F7F4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79641306-ED63-4FA7-9DC2-30701E54FDE4}"/>
              </a:ext>
            </a:extLst>
          </p:cNvPr>
          <p:cNvSpPr/>
          <p:nvPr/>
        </p:nvSpPr>
        <p:spPr>
          <a:xfrm>
            <a:off x="6375400" y="1625600"/>
            <a:ext cx="406400" cy="406400"/>
          </a:xfrm>
          <a:prstGeom prst="ellipse">
            <a:avLst/>
          </a:prstGeom>
          <a:solidFill>
            <a:srgbClr val="E879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1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640DAF3F-94FB-453B-85DD-5C018A25A5FF}"/>
              </a:ext>
            </a:extLst>
          </p:cNvPr>
          <p:cNvSpPr txBox="1"/>
          <p:nvPr/>
        </p:nvSpPr>
        <p:spPr>
          <a:xfrm>
            <a:off x="6375400" y="2159000"/>
            <a:ext cx="22606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 b="1">
                <a:solidFill>
                  <a:srgbClr val="160D3D"/>
                </a:solidFill>
                <a:latin typeface="Montserrat"/>
              </a:rPr>
              <a:t>GitHub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8D14024A-5B49-47FF-872E-E2CA6966FB51}"/>
              </a:ext>
            </a:extLst>
          </p:cNvPr>
          <p:cNvSpPr txBox="1"/>
          <p:nvPr/>
        </p:nvSpPr>
        <p:spPr>
          <a:xfrm>
            <a:off x="6375400" y="2489200"/>
            <a:ext cx="22606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160D3D"/>
                </a:solidFill>
                <a:latin typeface="Montserrat"/>
              </a:rPr>
              <a:t>Connecter le repo du projet</a:t>
            </a: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B355CB6B-9C78-4803-8D55-01E2E1D0CECD}"/>
              </a:ext>
            </a:extLst>
          </p:cNvPr>
          <p:cNvSpPr/>
          <p:nvPr/>
        </p:nvSpPr>
        <p:spPr>
          <a:xfrm>
            <a:off x="8991600" y="1447800"/>
            <a:ext cx="2667000" cy="1905000"/>
          </a:xfrm>
          <a:prstGeom prst="roundRect">
            <a:avLst/>
          </a:prstGeom>
          <a:solidFill>
            <a:srgbClr val="F7F4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671FD7A2-7DB6-4776-B0C5-CD2CBE9268FA}"/>
              </a:ext>
            </a:extLst>
          </p:cNvPr>
          <p:cNvSpPr/>
          <p:nvPr/>
        </p:nvSpPr>
        <p:spPr>
          <a:xfrm>
            <a:off x="9194800" y="1625600"/>
            <a:ext cx="406400" cy="406400"/>
          </a:xfrm>
          <a:prstGeom prst="ellipse">
            <a:avLst/>
          </a:prstGeom>
          <a:solidFill>
            <a:srgbClr val="E879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100" b="1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BCDFFA28-EE95-41DF-84C7-39DB31BE68AA}"/>
              </a:ext>
            </a:extLst>
          </p:cNvPr>
          <p:cNvSpPr txBox="1"/>
          <p:nvPr/>
        </p:nvSpPr>
        <p:spPr>
          <a:xfrm>
            <a:off x="9194800" y="2159000"/>
            <a:ext cx="22606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 b="1">
                <a:solidFill>
                  <a:srgbClr val="160D3D"/>
                </a:solidFill>
                <a:latin typeface="Montserrat"/>
              </a:rPr>
              <a:t>Config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E3DAFA21-42D6-4C69-B1C2-9F3F1296E865}"/>
              </a:ext>
            </a:extLst>
          </p:cNvPr>
          <p:cNvSpPr txBox="1"/>
          <p:nvPr/>
        </p:nvSpPr>
        <p:spPr>
          <a:xfrm>
            <a:off x="9194800" y="2489200"/>
            <a:ext cx="2260600" cy="762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de-DE" sz="1100">
                <a:solidFill>
                  <a:srgbClr val="160D3D"/>
                </a:solidFill>
                <a:latin typeface="Montserrat"/>
              </a:rPr>
              <a:t>dbt version, target name, schema</a:t>
            </a:r>
            <a:endParaRPr lang="fr-FR" sz="1100">
              <a:solidFill>
                <a:srgbClr val="160D3D"/>
              </a:solidFill>
              <a:latin typeface="Montserrat"/>
            </a:endParaRP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92CC5BC6-925A-4EE7-9075-607C5A50B896}"/>
              </a:ext>
            </a:extLst>
          </p:cNvPr>
          <p:cNvSpPr txBox="1"/>
          <p:nvPr/>
        </p:nvSpPr>
        <p:spPr>
          <a:xfrm>
            <a:off x="508000" y="3733800"/>
            <a:ext cx="1117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500" b="1">
                <a:solidFill>
                  <a:srgbClr val="160D3D"/>
                </a:solidFill>
                <a:latin typeface="Montserrat"/>
              </a:rPr>
              <a:t>L'IDE dbt Cloud</a:t>
            </a:r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95E120D9-37A3-4DF4-B9C9-CE62BDB5D3F5}"/>
              </a:ext>
            </a:extLst>
          </p:cNvPr>
          <p:cNvSpPr/>
          <p:nvPr/>
        </p:nvSpPr>
        <p:spPr>
          <a:xfrm>
            <a:off x="508000" y="4165600"/>
            <a:ext cx="3619500" cy="1752600"/>
          </a:xfrm>
          <a:prstGeom prst="roundRect">
            <a:avLst/>
          </a:prstGeom>
          <a:solidFill>
            <a:srgbClr val="FFF0E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18BEFB12-D36A-4CAC-9026-320D42065F9F}"/>
              </a:ext>
            </a:extLst>
          </p:cNvPr>
          <p:cNvSpPr txBox="1"/>
          <p:nvPr/>
        </p:nvSpPr>
        <p:spPr>
          <a:xfrm>
            <a:off x="711200" y="4368800"/>
            <a:ext cx="32131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300" b="1">
                <a:solidFill>
                  <a:srgbClr val="E8792F"/>
                </a:solidFill>
                <a:latin typeface="Montserrat"/>
              </a:rPr>
              <a:t>Editeur SQL integre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B8491F8B-DAC9-478B-B6DA-CFEC7425C416}"/>
              </a:ext>
            </a:extLst>
          </p:cNvPr>
          <p:cNvSpPr txBox="1"/>
          <p:nvPr/>
        </p:nvSpPr>
        <p:spPr>
          <a:xfrm>
            <a:off x="711200" y="4724400"/>
            <a:ext cx="32131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>
                <a:solidFill>
                  <a:srgbClr val="160D3D"/>
                </a:solidFill>
                <a:latin typeface="Montserrat"/>
              </a:rPr>
              <a:t>Coloration, autocomplete, lint</a:t>
            </a:r>
          </a:p>
        </p:txBody>
      </p: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335DB364-C7D7-4C3B-89E2-4E7B5CB8F93C}"/>
              </a:ext>
            </a:extLst>
          </p:cNvPr>
          <p:cNvSpPr/>
          <p:nvPr/>
        </p:nvSpPr>
        <p:spPr>
          <a:xfrm>
            <a:off x="4279900" y="4165600"/>
            <a:ext cx="3619500" cy="1752600"/>
          </a:xfrm>
          <a:prstGeom prst="roundRect">
            <a:avLst/>
          </a:prstGeom>
          <a:solidFill>
            <a:srgbClr val="FFF0E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6E7DDF17-0592-4078-BFDB-FC5A3440124B}"/>
              </a:ext>
            </a:extLst>
          </p:cNvPr>
          <p:cNvSpPr txBox="1"/>
          <p:nvPr/>
        </p:nvSpPr>
        <p:spPr>
          <a:xfrm>
            <a:off x="4483100" y="4368800"/>
            <a:ext cx="32131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300" b="1">
                <a:solidFill>
                  <a:srgbClr val="E8792F"/>
                </a:solidFill>
                <a:latin typeface="Montserrat"/>
              </a:rPr>
              <a:t>Compilation live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3C235F72-A41C-4250-8BC4-E2C88D17A9B4}"/>
              </a:ext>
            </a:extLst>
          </p:cNvPr>
          <p:cNvSpPr txBox="1"/>
          <p:nvPr/>
        </p:nvSpPr>
        <p:spPr>
          <a:xfrm>
            <a:off x="4483100" y="4724400"/>
            <a:ext cx="32131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>
                <a:solidFill>
                  <a:srgbClr val="160D3D"/>
                </a:solidFill>
                <a:latin typeface="Montserrat"/>
              </a:rPr>
              <a:t>Voir le SQL final en temps reel</a:t>
            </a:r>
          </a:p>
        </p:txBody>
      </p:sp>
      <p:sp>
        <p:nvSpPr>
          <p:cNvPr id="28" name="Rectangle : coins arrondis 27">
            <a:extLst>
              <a:ext uri="{FF2B5EF4-FFF2-40B4-BE49-F238E27FC236}">
                <a16:creationId xmlns:a16="http://schemas.microsoft.com/office/drawing/2014/main" id="{13DAC605-6853-4922-A297-827CA7121D1A}"/>
              </a:ext>
            </a:extLst>
          </p:cNvPr>
          <p:cNvSpPr/>
          <p:nvPr/>
        </p:nvSpPr>
        <p:spPr>
          <a:xfrm>
            <a:off x="8051800" y="4165600"/>
            <a:ext cx="3619500" cy="1752600"/>
          </a:xfrm>
          <a:prstGeom prst="roundRect">
            <a:avLst/>
          </a:prstGeom>
          <a:solidFill>
            <a:srgbClr val="FFF0E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BEE2C5A7-0A58-4C43-A708-BF79580E00BD}"/>
              </a:ext>
            </a:extLst>
          </p:cNvPr>
          <p:cNvSpPr txBox="1"/>
          <p:nvPr/>
        </p:nvSpPr>
        <p:spPr>
          <a:xfrm>
            <a:off x="8255000" y="4368800"/>
            <a:ext cx="32131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300" b="1">
                <a:solidFill>
                  <a:srgbClr val="E8792F"/>
                </a:solidFill>
                <a:latin typeface="Montserrat"/>
              </a:rPr>
              <a:t>DAG visuel</a:t>
            </a:r>
          </a:p>
        </p:txBody>
      </p:sp>
      <p:sp>
        <p:nvSpPr>
          <p:cNvPr id="30" name="ZoneTexte 29">
            <a:extLst>
              <a:ext uri="{FF2B5EF4-FFF2-40B4-BE49-F238E27FC236}">
                <a16:creationId xmlns:a16="http://schemas.microsoft.com/office/drawing/2014/main" id="{D00CBA72-D086-4403-9489-347865211A68}"/>
              </a:ext>
            </a:extLst>
          </p:cNvPr>
          <p:cNvSpPr txBox="1"/>
          <p:nvPr/>
        </p:nvSpPr>
        <p:spPr>
          <a:xfrm>
            <a:off x="8255000" y="4724400"/>
            <a:ext cx="3213100" cy="1016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>
                <a:solidFill>
                  <a:srgbClr val="160D3D"/>
                </a:solidFill>
                <a:latin typeface="Montserrat"/>
              </a:rPr>
              <a:t>Naviguer le graphe sans regenerer la doc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5"/>
          </p:nvPr>
        </p:nvSpPr>
        <p:spPr>
          <a:xfrm>
            <a:off x="508000" y="0"/>
            <a:ext cx="11176000" cy="760021"/>
          </a:xfrm>
        </p:spPr>
        <p:txBody>
          <a:bodyPr/>
          <a:lstStyle/>
          <a:p>
            <a:pPr algn="ctr"/>
            <a:r>
              <a:rPr sz="2200" b="1" dirty="0">
                <a:solidFill>
                  <a:srgbClr val="160D3D"/>
                </a:solidFill>
                <a:latin typeface="Montserrat"/>
              </a:rPr>
              <a:t>Configuration des jobs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4568A112-AC93-4D84-88F8-9FF646ED1CD1}"/>
              </a:ext>
            </a:extLst>
          </p:cNvPr>
          <p:cNvSpPr txBox="1"/>
          <p:nvPr/>
        </p:nvSpPr>
        <p:spPr>
          <a:xfrm>
            <a:off x="508000" y="1016000"/>
            <a:ext cx="1117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500" b="1" dirty="0">
                <a:solidFill>
                  <a:srgbClr val="160D3D"/>
                </a:solidFill>
                <a:latin typeface="Montserrat"/>
              </a:rPr>
              <a:t>3 jobs </a:t>
            </a:r>
            <a:r>
              <a:rPr lang="fr-FR" sz="1500" b="1" dirty="0" err="1">
                <a:solidFill>
                  <a:srgbClr val="160D3D"/>
                </a:solidFill>
                <a:latin typeface="Montserrat"/>
              </a:rPr>
              <a:t>schedules</a:t>
            </a:r>
            <a:r>
              <a:rPr lang="fr-FR" sz="1500" b="1" dirty="0">
                <a:solidFill>
                  <a:srgbClr val="160D3D"/>
                </a:solidFill>
                <a:latin typeface="Montserrat"/>
              </a:rPr>
              <a:t> pour la production</a:t>
            </a: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686C0833-C271-4175-A48F-B74C54D2C775}"/>
              </a:ext>
            </a:extLst>
          </p:cNvPr>
          <p:cNvSpPr/>
          <p:nvPr/>
        </p:nvSpPr>
        <p:spPr>
          <a:xfrm>
            <a:off x="508000" y="1447800"/>
            <a:ext cx="3619500" cy="660400"/>
          </a:xfrm>
          <a:prstGeom prst="roundRect">
            <a:avLst/>
          </a:prstGeom>
          <a:solidFill>
            <a:srgbClr val="160D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CF52B7F8-5099-42BB-AF01-2FDA2D502D47}"/>
              </a:ext>
            </a:extLst>
          </p:cNvPr>
          <p:cNvSpPr txBox="1"/>
          <p:nvPr/>
        </p:nvSpPr>
        <p:spPr>
          <a:xfrm>
            <a:off x="711200" y="1549400"/>
            <a:ext cx="32131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>
                <a:solidFill>
                  <a:srgbClr val="FFFFFF"/>
                </a:solidFill>
                <a:latin typeface="Montserrat"/>
              </a:rPr>
              <a:t>Job 1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2EBC505D-35E7-49D2-A324-5228B2F4D96F}"/>
              </a:ext>
            </a:extLst>
          </p:cNvPr>
          <p:cNvSpPr txBox="1"/>
          <p:nvPr/>
        </p:nvSpPr>
        <p:spPr>
          <a:xfrm>
            <a:off x="711200" y="1752600"/>
            <a:ext cx="32131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 b="1">
                <a:solidFill>
                  <a:srgbClr val="FFFFFF"/>
                </a:solidFill>
                <a:latin typeface="Montserrat"/>
              </a:rPr>
              <a:t>Run quotidien</a:t>
            </a: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748A36E4-A559-4FDD-BA3B-FF63A316A526}"/>
              </a:ext>
            </a:extLst>
          </p:cNvPr>
          <p:cNvSpPr/>
          <p:nvPr/>
        </p:nvSpPr>
        <p:spPr>
          <a:xfrm>
            <a:off x="508000" y="2108200"/>
            <a:ext cx="3619500" cy="2895600"/>
          </a:xfrm>
          <a:prstGeom prst="roundRect">
            <a:avLst/>
          </a:prstGeom>
          <a:solidFill>
            <a:srgbClr val="E8E3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CB31DC8D-8FBB-4175-81F6-854975B63200}"/>
              </a:ext>
            </a:extLst>
          </p:cNvPr>
          <p:cNvSpPr txBox="1"/>
          <p:nvPr/>
        </p:nvSpPr>
        <p:spPr>
          <a:xfrm>
            <a:off x="711200" y="2260600"/>
            <a:ext cx="32131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 b="1">
                <a:solidFill>
                  <a:srgbClr val="160D3D"/>
                </a:solidFill>
                <a:latin typeface="Montserrat"/>
              </a:rPr>
              <a:t>Planification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1334C80D-2B04-499A-8495-254811126AB3}"/>
              </a:ext>
            </a:extLst>
          </p:cNvPr>
          <p:cNvSpPr txBox="1"/>
          <p:nvPr/>
        </p:nvSpPr>
        <p:spPr>
          <a:xfrm>
            <a:off x="711200" y="2489200"/>
            <a:ext cx="32131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160D3D"/>
                </a:solidFill>
                <a:latin typeface="Montserrat"/>
              </a:rPr>
              <a:t>06:00 UTC tous les jours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3B4ACCE8-16E8-4F44-BD57-18D903FA027C}"/>
              </a:ext>
            </a:extLst>
          </p:cNvPr>
          <p:cNvSpPr txBox="1"/>
          <p:nvPr/>
        </p:nvSpPr>
        <p:spPr>
          <a:xfrm>
            <a:off x="711200" y="2844800"/>
            <a:ext cx="32131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 b="1">
                <a:solidFill>
                  <a:srgbClr val="160D3D"/>
                </a:solidFill>
                <a:latin typeface="Montserrat"/>
              </a:rPr>
              <a:t>Commandes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0A8EAAC-FDB5-4EA2-98AC-685A1CF0A841}"/>
              </a:ext>
            </a:extLst>
          </p:cNvPr>
          <p:cNvSpPr/>
          <p:nvPr/>
        </p:nvSpPr>
        <p:spPr>
          <a:xfrm>
            <a:off x="711200" y="3098800"/>
            <a:ext cx="3213100" cy="304800"/>
          </a:xfrm>
          <a:prstGeom prst="rect">
            <a:avLst/>
          </a:prstGeom>
          <a:solidFill>
            <a:srgbClr val="160D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000" b="1">
                <a:solidFill>
                  <a:srgbClr val="FFFFFF"/>
                </a:solidFill>
                <a:latin typeface="Consolas"/>
              </a:rPr>
              <a:t>dbt seed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69136B8-1A9C-48BB-B0A1-A0E63CDCAEE6}"/>
              </a:ext>
            </a:extLst>
          </p:cNvPr>
          <p:cNvSpPr/>
          <p:nvPr/>
        </p:nvSpPr>
        <p:spPr>
          <a:xfrm>
            <a:off x="711200" y="3479800"/>
            <a:ext cx="3213100" cy="304800"/>
          </a:xfrm>
          <a:prstGeom prst="rect">
            <a:avLst/>
          </a:prstGeom>
          <a:solidFill>
            <a:srgbClr val="160D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000" b="1">
                <a:solidFill>
                  <a:srgbClr val="FFFFFF"/>
                </a:solidFill>
                <a:latin typeface="Consolas"/>
              </a:rPr>
              <a:t>dbt run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EBFD6068-85C0-4DF0-B123-C5C712DF0438}"/>
              </a:ext>
            </a:extLst>
          </p:cNvPr>
          <p:cNvSpPr/>
          <p:nvPr/>
        </p:nvSpPr>
        <p:spPr>
          <a:xfrm>
            <a:off x="711200" y="3860800"/>
            <a:ext cx="3213100" cy="304800"/>
          </a:xfrm>
          <a:prstGeom prst="rect">
            <a:avLst/>
          </a:prstGeom>
          <a:solidFill>
            <a:srgbClr val="160D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000" b="1">
                <a:solidFill>
                  <a:srgbClr val="FFFFFF"/>
                </a:solidFill>
                <a:latin typeface="Consolas"/>
              </a:rPr>
              <a:t>dbt test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D7324ABC-3C1E-4FD3-8BD1-7DE626A02100}"/>
              </a:ext>
            </a:extLst>
          </p:cNvPr>
          <p:cNvSpPr txBox="1"/>
          <p:nvPr/>
        </p:nvSpPr>
        <p:spPr>
          <a:xfrm>
            <a:off x="711200" y="4572000"/>
            <a:ext cx="32131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>
                <a:solidFill>
                  <a:srgbClr val="160D3D"/>
                </a:solidFill>
                <a:latin typeface="Montserrat"/>
              </a:rPr>
              <a:t>Build incremental du pipeline complet</a:t>
            </a:r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BEE8D1E6-A34A-4CE0-83FB-CBF9D88BAE03}"/>
              </a:ext>
            </a:extLst>
          </p:cNvPr>
          <p:cNvSpPr/>
          <p:nvPr/>
        </p:nvSpPr>
        <p:spPr>
          <a:xfrm>
            <a:off x="4279900" y="1447800"/>
            <a:ext cx="3619500" cy="660400"/>
          </a:xfrm>
          <a:prstGeom prst="roundRect">
            <a:avLst/>
          </a:prstGeom>
          <a:solidFill>
            <a:srgbClr val="E879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C77E5ADD-F232-44D4-B81C-5FB4E7DE5052}"/>
              </a:ext>
            </a:extLst>
          </p:cNvPr>
          <p:cNvSpPr txBox="1"/>
          <p:nvPr/>
        </p:nvSpPr>
        <p:spPr>
          <a:xfrm>
            <a:off x="4483100" y="1549400"/>
            <a:ext cx="32131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>
                <a:solidFill>
                  <a:srgbClr val="FFFFFF"/>
                </a:solidFill>
                <a:latin typeface="Montserrat"/>
              </a:rPr>
              <a:t>Job 2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53027CED-9610-4DD5-BC66-76DBDB057089}"/>
              </a:ext>
            </a:extLst>
          </p:cNvPr>
          <p:cNvSpPr txBox="1"/>
          <p:nvPr/>
        </p:nvSpPr>
        <p:spPr>
          <a:xfrm>
            <a:off x="4483100" y="1752600"/>
            <a:ext cx="32131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 b="1">
                <a:solidFill>
                  <a:srgbClr val="FFFFFF"/>
                </a:solidFill>
                <a:latin typeface="Montserrat"/>
              </a:rPr>
              <a:t>Full refresh hebdo</a:t>
            </a:r>
          </a:p>
        </p:txBody>
      </p:sp>
      <p:sp>
        <p:nvSpPr>
          <p:cNvPr id="25" name="Rectangle : coins arrondis 24">
            <a:extLst>
              <a:ext uri="{FF2B5EF4-FFF2-40B4-BE49-F238E27FC236}">
                <a16:creationId xmlns:a16="http://schemas.microsoft.com/office/drawing/2014/main" id="{80E3A6A5-C894-46EE-BB8E-EA67FB66497C}"/>
              </a:ext>
            </a:extLst>
          </p:cNvPr>
          <p:cNvSpPr/>
          <p:nvPr/>
        </p:nvSpPr>
        <p:spPr>
          <a:xfrm>
            <a:off x="4279900" y="2108200"/>
            <a:ext cx="3619500" cy="2895600"/>
          </a:xfrm>
          <a:prstGeom prst="roundRect">
            <a:avLst/>
          </a:prstGeom>
          <a:solidFill>
            <a:srgbClr val="FFE2C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6" name="ZoneTexte 25">
            <a:extLst>
              <a:ext uri="{FF2B5EF4-FFF2-40B4-BE49-F238E27FC236}">
                <a16:creationId xmlns:a16="http://schemas.microsoft.com/office/drawing/2014/main" id="{3B494DDA-015C-445B-88CA-AE96AF271E58}"/>
              </a:ext>
            </a:extLst>
          </p:cNvPr>
          <p:cNvSpPr txBox="1"/>
          <p:nvPr/>
        </p:nvSpPr>
        <p:spPr>
          <a:xfrm>
            <a:off x="4483100" y="2260600"/>
            <a:ext cx="32131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 b="1">
                <a:solidFill>
                  <a:srgbClr val="E8792F"/>
                </a:solidFill>
                <a:latin typeface="Montserrat"/>
              </a:rPr>
              <a:t>Planification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1225270A-DF63-4656-BF2C-7C0DFEC4AE62}"/>
              </a:ext>
            </a:extLst>
          </p:cNvPr>
          <p:cNvSpPr txBox="1"/>
          <p:nvPr/>
        </p:nvSpPr>
        <p:spPr>
          <a:xfrm>
            <a:off x="4483100" y="2489200"/>
            <a:ext cx="32131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160D3D"/>
                </a:solidFill>
                <a:latin typeface="Montserrat"/>
              </a:rPr>
              <a:t>Dimanche 02:00 UTC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E2D56AF6-2172-4FE5-9568-D5AEB5AAB1B9}"/>
              </a:ext>
            </a:extLst>
          </p:cNvPr>
          <p:cNvSpPr txBox="1"/>
          <p:nvPr/>
        </p:nvSpPr>
        <p:spPr>
          <a:xfrm>
            <a:off x="4483100" y="2844800"/>
            <a:ext cx="32131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 b="1">
                <a:solidFill>
                  <a:srgbClr val="E8792F"/>
                </a:solidFill>
                <a:latin typeface="Montserrat"/>
              </a:rPr>
              <a:t>Commandes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E933C97-A7D7-457D-9672-9FC392F798AB}"/>
              </a:ext>
            </a:extLst>
          </p:cNvPr>
          <p:cNvSpPr/>
          <p:nvPr/>
        </p:nvSpPr>
        <p:spPr>
          <a:xfrm>
            <a:off x="4483100" y="3098800"/>
            <a:ext cx="3213100" cy="304800"/>
          </a:xfrm>
          <a:prstGeom prst="rect">
            <a:avLst/>
          </a:prstGeom>
          <a:solidFill>
            <a:srgbClr val="E879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000" b="1">
                <a:solidFill>
                  <a:srgbClr val="FFFFFF"/>
                </a:solidFill>
                <a:latin typeface="Consolas"/>
              </a:rPr>
              <a:t>dbt run --full-refresh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D5E41BC-92A9-4D95-BF81-2FD850612F7B}"/>
              </a:ext>
            </a:extLst>
          </p:cNvPr>
          <p:cNvSpPr/>
          <p:nvPr/>
        </p:nvSpPr>
        <p:spPr>
          <a:xfrm>
            <a:off x="4483100" y="3479800"/>
            <a:ext cx="3213100" cy="304800"/>
          </a:xfrm>
          <a:prstGeom prst="rect">
            <a:avLst/>
          </a:prstGeom>
          <a:solidFill>
            <a:srgbClr val="E879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000" b="1">
                <a:solidFill>
                  <a:srgbClr val="FFFFFF"/>
                </a:solidFill>
                <a:latin typeface="Consolas"/>
              </a:rPr>
              <a:t>dbt test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C08496D-8244-405F-BE26-F3496C398B9E}"/>
              </a:ext>
            </a:extLst>
          </p:cNvPr>
          <p:cNvSpPr/>
          <p:nvPr/>
        </p:nvSpPr>
        <p:spPr>
          <a:xfrm>
            <a:off x="4483100" y="3860800"/>
            <a:ext cx="3213100" cy="304800"/>
          </a:xfrm>
          <a:prstGeom prst="rect">
            <a:avLst/>
          </a:prstGeom>
          <a:solidFill>
            <a:srgbClr val="E879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000" b="1">
                <a:solidFill>
                  <a:srgbClr val="FFFFFF"/>
                </a:solidFill>
                <a:latin typeface="Consolas"/>
              </a:rPr>
              <a:t>dbt source freshness</a:t>
            </a: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08E8B120-6984-4F35-AE00-AC1D5A3D57BC}"/>
              </a:ext>
            </a:extLst>
          </p:cNvPr>
          <p:cNvSpPr txBox="1"/>
          <p:nvPr/>
        </p:nvSpPr>
        <p:spPr>
          <a:xfrm>
            <a:off x="4483100" y="4572000"/>
            <a:ext cx="32131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>
                <a:solidFill>
                  <a:srgbClr val="160D3D"/>
                </a:solidFill>
                <a:latin typeface="Montserrat"/>
              </a:rPr>
              <a:t>Rebuild complet + verification fraicheur</a:t>
            </a:r>
          </a:p>
        </p:txBody>
      </p:sp>
      <p:sp>
        <p:nvSpPr>
          <p:cNvPr id="33" name="Rectangle : coins arrondis 32">
            <a:extLst>
              <a:ext uri="{FF2B5EF4-FFF2-40B4-BE49-F238E27FC236}">
                <a16:creationId xmlns:a16="http://schemas.microsoft.com/office/drawing/2014/main" id="{0B6EBA8D-F901-41E7-ADBA-60DA3C019B94}"/>
              </a:ext>
            </a:extLst>
          </p:cNvPr>
          <p:cNvSpPr/>
          <p:nvPr/>
        </p:nvSpPr>
        <p:spPr>
          <a:xfrm>
            <a:off x="8051800" y="1447800"/>
            <a:ext cx="3619500" cy="660400"/>
          </a:xfrm>
          <a:prstGeom prst="roundRect">
            <a:avLst/>
          </a:prstGeom>
          <a:solidFill>
            <a:srgbClr val="5B6B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34" name="ZoneTexte 33">
            <a:extLst>
              <a:ext uri="{FF2B5EF4-FFF2-40B4-BE49-F238E27FC236}">
                <a16:creationId xmlns:a16="http://schemas.microsoft.com/office/drawing/2014/main" id="{36A7E0FF-6057-4E78-8355-2B9EFF9FAAC2}"/>
              </a:ext>
            </a:extLst>
          </p:cNvPr>
          <p:cNvSpPr txBox="1"/>
          <p:nvPr/>
        </p:nvSpPr>
        <p:spPr>
          <a:xfrm>
            <a:off x="8255000" y="1549400"/>
            <a:ext cx="32131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>
                <a:solidFill>
                  <a:srgbClr val="FFFFFF"/>
                </a:solidFill>
                <a:latin typeface="Montserrat"/>
              </a:rPr>
              <a:t>Job 3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1B8A8558-551A-4096-A5A0-6E3AD2776190}"/>
              </a:ext>
            </a:extLst>
          </p:cNvPr>
          <p:cNvSpPr txBox="1"/>
          <p:nvPr/>
        </p:nvSpPr>
        <p:spPr>
          <a:xfrm>
            <a:off x="8255000" y="1752600"/>
            <a:ext cx="32131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400" b="1">
                <a:solidFill>
                  <a:srgbClr val="FFFFFF"/>
                </a:solidFill>
                <a:latin typeface="Montserrat"/>
              </a:rPr>
              <a:t>CI/CD Pull Request</a:t>
            </a:r>
          </a:p>
        </p:txBody>
      </p:sp>
      <p:sp>
        <p:nvSpPr>
          <p:cNvPr id="36" name="Rectangle : coins arrondis 35">
            <a:extLst>
              <a:ext uri="{FF2B5EF4-FFF2-40B4-BE49-F238E27FC236}">
                <a16:creationId xmlns:a16="http://schemas.microsoft.com/office/drawing/2014/main" id="{541CDAB3-5578-47B0-B27E-A45E251F0E01}"/>
              </a:ext>
            </a:extLst>
          </p:cNvPr>
          <p:cNvSpPr/>
          <p:nvPr/>
        </p:nvSpPr>
        <p:spPr>
          <a:xfrm>
            <a:off x="8051800" y="2108200"/>
            <a:ext cx="3619500" cy="2895600"/>
          </a:xfrm>
          <a:prstGeom prst="roundRect">
            <a:avLst/>
          </a:prstGeom>
          <a:solidFill>
            <a:srgbClr val="D8DEF6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69F5E985-8F8B-4EE3-9F73-BAB5270C00E3}"/>
              </a:ext>
            </a:extLst>
          </p:cNvPr>
          <p:cNvSpPr txBox="1"/>
          <p:nvPr/>
        </p:nvSpPr>
        <p:spPr>
          <a:xfrm>
            <a:off x="8255000" y="2260600"/>
            <a:ext cx="32131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 b="1">
                <a:solidFill>
                  <a:srgbClr val="5B6BC8"/>
                </a:solidFill>
                <a:latin typeface="Montserrat"/>
              </a:rPr>
              <a:t>Planification</a:t>
            </a:r>
          </a:p>
        </p:txBody>
      </p:sp>
      <p:sp>
        <p:nvSpPr>
          <p:cNvPr id="38" name="ZoneTexte 37">
            <a:extLst>
              <a:ext uri="{FF2B5EF4-FFF2-40B4-BE49-F238E27FC236}">
                <a16:creationId xmlns:a16="http://schemas.microsoft.com/office/drawing/2014/main" id="{5AF40EC4-A3D7-416C-9A2F-4E3E9F16C572}"/>
              </a:ext>
            </a:extLst>
          </p:cNvPr>
          <p:cNvSpPr txBox="1"/>
          <p:nvPr/>
        </p:nvSpPr>
        <p:spPr>
          <a:xfrm>
            <a:off x="8255000" y="2489200"/>
            <a:ext cx="32131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>
                <a:solidFill>
                  <a:srgbClr val="160D3D"/>
                </a:solidFill>
                <a:latin typeface="Montserrat"/>
              </a:rPr>
              <a:t>A chaque PR sur main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0717ECCF-D3F1-40F8-9A77-6DCE9D3857A3}"/>
              </a:ext>
            </a:extLst>
          </p:cNvPr>
          <p:cNvSpPr txBox="1"/>
          <p:nvPr/>
        </p:nvSpPr>
        <p:spPr>
          <a:xfrm>
            <a:off x="8255000" y="2844800"/>
            <a:ext cx="3213100" cy="2032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 b="1">
                <a:solidFill>
                  <a:srgbClr val="5B6BC8"/>
                </a:solidFill>
                <a:latin typeface="Montserrat"/>
              </a:rPr>
              <a:t>Commandes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8541D39-4EEB-4A6D-823F-7D29C020993C}"/>
              </a:ext>
            </a:extLst>
          </p:cNvPr>
          <p:cNvSpPr/>
          <p:nvPr/>
        </p:nvSpPr>
        <p:spPr>
          <a:xfrm>
            <a:off x="8255000" y="3098800"/>
            <a:ext cx="3213100" cy="304800"/>
          </a:xfrm>
          <a:prstGeom prst="rect">
            <a:avLst/>
          </a:prstGeom>
          <a:solidFill>
            <a:srgbClr val="5B6B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en-US" sz="1000" b="1">
                <a:solidFill>
                  <a:srgbClr val="FFFFFF"/>
                </a:solidFill>
                <a:latin typeface="Consolas"/>
              </a:rPr>
              <a:t>dbt build --select state:modified+</a:t>
            </a:r>
            <a:endParaRPr lang="fr-FR" sz="1000" b="1">
              <a:solidFill>
                <a:srgbClr val="FFFFFF"/>
              </a:solidFill>
              <a:latin typeface="Consolas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0ED45957-F6EC-470C-ABA2-4B5C65F4190F}"/>
              </a:ext>
            </a:extLst>
          </p:cNvPr>
          <p:cNvSpPr/>
          <p:nvPr/>
        </p:nvSpPr>
        <p:spPr>
          <a:xfrm>
            <a:off x="8255000" y="3479800"/>
            <a:ext cx="3213100" cy="304800"/>
          </a:xfrm>
          <a:prstGeom prst="rect">
            <a:avLst/>
          </a:prstGeom>
          <a:solidFill>
            <a:srgbClr val="5B6BC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000" b="1">
                <a:solidFill>
                  <a:srgbClr val="FFFFFF"/>
                </a:solidFill>
                <a:latin typeface="Consolas"/>
              </a:rPr>
              <a:t>dbt source freshness</a:t>
            </a: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1CD886D6-E75F-4962-BE97-47F602B8E2B1}"/>
              </a:ext>
            </a:extLst>
          </p:cNvPr>
          <p:cNvSpPr txBox="1"/>
          <p:nvPr/>
        </p:nvSpPr>
        <p:spPr>
          <a:xfrm>
            <a:off x="8255000" y="4572000"/>
            <a:ext cx="32131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>
                <a:solidFill>
                  <a:srgbClr val="160D3D"/>
                </a:solidFill>
                <a:latin typeface="Montserrat"/>
              </a:rPr>
              <a:t>Tests sur les modeles modifies uniquement</a:t>
            </a:r>
          </a:p>
        </p:txBody>
      </p:sp>
      <p:sp>
        <p:nvSpPr>
          <p:cNvPr id="43" name="Rectangle : coins arrondis 42">
            <a:extLst>
              <a:ext uri="{FF2B5EF4-FFF2-40B4-BE49-F238E27FC236}">
                <a16:creationId xmlns:a16="http://schemas.microsoft.com/office/drawing/2014/main" id="{671112B3-1630-4590-95B9-4BAEC7151C92}"/>
              </a:ext>
            </a:extLst>
          </p:cNvPr>
          <p:cNvSpPr/>
          <p:nvPr/>
        </p:nvSpPr>
        <p:spPr>
          <a:xfrm>
            <a:off x="508000" y="5181600"/>
            <a:ext cx="11176000" cy="660400"/>
          </a:xfrm>
          <a:prstGeom prst="roundRect">
            <a:avLst/>
          </a:prstGeom>
          <a:solidFill>
            <a:srgbClr val="FFF0E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44" name="ZoneTexte 43">
            <a:extLst>
              <a:ext uri="{FF2B5EF4-FFF2-40B4-BE49-F238E27FC236}">
                <a16:creationId xmlns:a16="http://schemas.microsoft.com/office/drawing/2014/main" id="{A89F6DFC-C01A-4E4F-9233-2DD58172CB03}"/>
              </a:ext>
            </a:extLst>
          </p:cNvPr>
          <p:cNvSpPr txBox="1"/>
          <p:nvPr/>
        </p:nvSpPr>
        <p:spPr>
          <a:xfrm>
            <a:off x="685800" y="5308600"/>
            <a:ext cx="10922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200" b="1">
                <a:solidFill>
                  <a:srgbClr val="E8792F"/>
                </a:solidFill>
                <a:latin typeface="Montserrat"/>
              </a:rPr>
              <a:t>→ Source freshness</a:t>
            </a:r>
          </a:p>
        </p:txBody>
      </p:sp>
      <p:sp>
        <p:nvSpPr>
          <p:cNvPr id="45" name="ZoneTexte 44">
            <a:extLst>
              <a:ext uri="{FF2B5EF4-FFF2-40B4-BE49-F238E27FC236}">
                <a16:creationId xmlns:a16="http://schemas.microsoft.com/office/drawing/2014/main" id="{70775963-79BC-4FD9-A81F-B3C732FD9245}"/>
              </a:ext>
            </a:extLst>
          </p:cNvPr>
          <p:cNvSpPr txBox="1"/>
          <p:nvPr/>
        </p:nvSpPr>
        <p:spPr>
          <a:xfrm>
            <a:off x="685800" y="5562600"/>
            <a:ext cx="10922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100">
                <a:solidFill>
                  <a:srgbClr val="160D3D"/>
                </a:solidFill>
                <a:latin typeface="Montserrat"/>
              </a:rPr>
              <a:t>Verifie que les tables sources sont mises a jour (loaded_at_field + warn_after / error_after).</a:t>
            </a:r>
            <a:endParaRPr lang="fr-FR" sz="1100">
              <a:solidFill>
                <a:srgbClr val="160D3D"/>
              </a:solidFill>
              <a:latin typeface="Montserrat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5"/>
          </p:nvPr>
        </p:nvSpPr>
        <p:spPr>
          <a:xfrm>
            <a:off x="508000" y="0"/>
            <a:ext cx="11176000" cy="760021"/>
          </a:xfrm>
        </p:spPr>
        <p:txBody>
          <a:bodyPr/>
          <a:lstStyle/>
          <a:p>
            <a:pPr algn="ctr"/>
            <a:r>
              <a:rPr sz="2200" b="1">
                <a:solidFill>
                  <a:srgbClr val="160D3D"/>
                </a:solidFill>
                <a:latin typeface="Montserrat"/>
              </a:rPr>
              <a:t>Exercice 8A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600000" y="1549400"/>
            <a:ext cx="5200000" cy="4267200"/>
          </a:xfrm>
          <a:prstGeom prst="rect">
            <a:avLst/>
          </a:prstGeom>
          <a:solidFill>
            <a:srgbClr val="0A1730"/>
          </a:solidFill>
          <a:ln w="12700" cap="flat" cmpd="sng" algn="ctr">
            <a:noFill/>
            <a:prstDash val="solid"/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 anchorCtr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 lang="fr-FR" sz="900" i="1" dirty="0">
              <a:solidFill>
                <a:srgbClr val="6B7BA8"/>
              </a:solidFill>
              <a:latin typeface="Courier New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lang="fr-FR" sz="900" i="1" dirty="0">
              <a:solidFill>
                <a:srgbClr val="6B7BA8"/>
              </a:solidFill>
              <a:latin typeface="Courier New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lang="fr-FR" sz="900" i="1" dirty="0">
              <a:solidFill>
                <a:srgbClr val="6B7BA8"/>
              </a:solidFill>
              <a:latin typeface="Courier New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i="1" dirty="0">
                <a:solidFill>
                  <a:srgbClr val="6B7BA8"/>
                </a:solidFill>
                <a:latin typeface="Courier New"/>
              </a:rPr>
              <a:t>-- agg_monthly_revenue.sql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b="1" dirty="0">
                <a:solidFill>
                  <a:srgbClr val="9D88FF"/>
                </a:solidFill>
                <a:latin typeface="Courier New"/>
              </a:rPr>
              <a:t>with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orders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as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(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select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*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from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</a:t>
            </a:r>
            <a:r>
              <a:rPr lang="fr-FR" sz="900" b="1" dirty="0">
                <a:solidFill>
                  <a:srgbClr val="FFB873"/>
                </a:solidFill>
                <a:latin typeface="Courier New"/>
              </a:rPr>
              <a:t>{{ ref('fct_orders') }}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),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monthly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as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(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select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  </a:t>
            </a:r>
            <a:r>
              <a:rPr lang="fr-FR" sz="900" b="1" dirty="0">
                <a:solidFill>
                  <a:srgbClr val="7DB3FF"/>
                </a:solidFill>
                <a:latin typeface="Courier New"/>
              </a:rPr>
              <a:t>date_trunc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(</a:t>
            </a:r>
            <a:r>
              <a:rPr lang="fr-FR" sz="900" dirty="0">
                <a:solidFill>
                  <a:srgbClr val="FFA76B"/>
                </a:solidFill>
                <a:latin typeface="Courier New"/>
              </a:rPr>
              <a:t>'month'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    order_date)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as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order_month,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  market_segment,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  </a:t>
            </a:r>
            <a:r>
              <a:rPr lang="fr-FR" sz="900" b="1" dirty="0">
                <a:solidFill>
                  <a:srgbClr val="7DB3FF"/>
                </a:solidFill>
                <a:latin typeface="Courier New"/>
              </a:rPr>
              <a:t>count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(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distinct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order_key)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   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as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total_orders,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  </a:t>
            </a:r>
            <a:r>
              <a:rPr lang="fr-FR" sz="900" b="1" dirty="0">
                <a:solidFill>
                  <a:srgbClr val="7DB3FF"/>
                </a:solidFill>
                <a:latin typeface="Courier New"/>
              </a:rPr>
              <a:t>sum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(net_amount)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     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as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total_revenue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from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orders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group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by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</a:t>
            </a:r>
            <a:r>
              <a:rPr lang="fr-FR" sz="900" dirty="0">
                <a:solidFill>
                  <a:srgbClr val="FFA76B"/>
                </a:solidFill>
                <a:latin typeface="Courier New"/>
              </a:rPr>
              <a:t>1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, </a:t>
            </a:r>
            <a:r>
              <a:rPr lang="fr-FR" sz="900" dirty="0">
                <a:solidFill>
                  <a:srgbClr val="FFA76B"/>
                </a:solidFill>
                <a:latin typeface="Courier New"/>
              </a:rPr>
              <a:t>2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b="1" dirty="0">
                <a:solidFill>
                  <a:srgbClr val="9D88FF"/>
                </a:solidFill>
                <a:latin typeface="Courier New"/>
              </a:rPr>
              <a:t>select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*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from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monthly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$ git add 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$ git commit -m </a:t>
            </a:r>
            <a:r>
              <a:rPr lang="fr-FR" sz="900" dirty="0">
                <a:solidFill>
                  <a:srgbClr val="FFA76B"/>
                </a:solidFill>
                <a:latin typeface="Courier New"/>
              </a:rPr>
              <a:t>"feat: monthly revenue"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$ git push -u origin \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   feature/add-monthly-revenue</a:t>
            </a: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BB54949A-18D8-47CD-B7B2-115EEA5689C3}"/>
              </a:ext>
            </a:extLst>
          </p:cNvPr>
          <p:cNvSpPr/>
          <p:nvPr/>
        </p:nvSpPr>
        <p:spPr>
          <a:xfrm>
            <a:off x="508000" y="1079500"/>
            <a:ext cx="1397000" cy="355600"/>
          </a:xfrm>
          <a:prstGeom prst="roundRect">
            <a:avLst/>
          </a:prstGeom>
          <a:solidFill>
            <a:srgbClr val="E879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0FEF5166-423D-4320-B80D-229EEA219E62}"/>
              </a:ext>
            </a:extLst>
          </p:cNvPr>
          <p:cNvSpPr txBox="1"/>
          <p:nvPr/>
        </p:nvSpPr>
        <p:spPr>
          <a:xfrm>
            <a:off x="508000" y="1130300"/>
            <a:ext cx="1397000" cy="2540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 b="1">
                <a:solidFill>
                  <a:srgbClr val="FFFFFF"/>
                </a:solidFill>
                <a:latin typeface="Montserrat"/>
              </a:rPr>
              <a:t>EXERCICE 8A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F54AE4A7-539B-458C-8C5A-7861D2EF8DBE}"/>
              </a:ext>
            </a:extLst>
          </p:cNvPr>
          <p:cNvSpPr txBox="1"/>
          <p:nvPr/>
        </p:nvSpPr>
        <p:spPr>
          <a:xfrm>
            <a:off x="2032000" y="1079500"/>
            <a:ext cx="4318000" cy="3556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fr-FR" sz="1400" b="1">
                <a:solidFill>
                  <a:srgbClr val="160D3D"/>
                </a:solidFill>
                <a:latin typeface="Montserrat"/>
              </a:rPr>
              <a:t>Workflow complet (final)</a:t>
            </a: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52484942-3EA3-449E-B33D-210ED3C83915}"/>
              </a:ext>
            </a:extLst>
          </p:cNvPr>
          <p:cNvSpPr/>
          <p:nvPr/>
        </p:nvSpPr>
        <p:spPr>
          <a:xfrm>
            <a:off x="508000" y="1574800"/>
            <a:ext cx="5842000" cy="558800"/>
          </a:xfrm>
          <a:prstGeom prst="roundRect">
            <a:avLst/>
          </a:prstGeom>
          <a:solidFill>
            <a:srgbClr val="F7F4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293A339A-7E43-4AF1-A692-D93E02DF959D}"/>
              </a:ext>
            </a:extLst>
          </p:cNvPr>
          <p:cNvSpPr/>
          <p:nvPr/>
        </p:nvSpPr>
        <p:spPr>
          <a:xfrm>
            <a:off x="685800" y="1701800"/>
            <a:ext cx="304800" cy="304800"/>
          </a:xfrm>
          <a:prstGeom prst="ellipse">
            <a:avLst/>
          </a:prstGeom>
          <a:solidFill>
            <a:srgbClr val="160D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000" b="1">
                <a:solidFill>
                  <a:srgbClr val="FFFFFF"/>
                </a:solidFill>
                <a:latin typeface="Montserrat"/>
              </a:rPr>
              <a:t>1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E95F2F6F-9461-47A5-80BE-290717AC3822}"/>
              </a:ext>
            </a:extLst>
          </p:cNvPr>
          <p:cNvSpPr txBox="1"/>
          <p:nvPr/>
        </p:nvSpPr>
        <p:spPr>
          <a:xfrm>
            <a:off x="1143000" y="1676400"/>
            <a:ext cx="1778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 b="1">
                <a:solidFill>
                  <a:srgbClr val="160D3D"/>
                </a:solidFill>
                <a:latin typeface="Montserrat"/>
              </a:rPr>
              <a:t>Brancher</a:t>
            </a: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8BB383D9-3620-4579-92FA-63D39E95ED9D}"/>
              </a:ext>
            </a:extLst>
          </p:cNvPr>
          <p:cNvSpPr txBox="1"/>
          <p:nvPr/>
        </p:nvSpPr>
        <p:spPr>
          <a:xfrm>
            <a:off x="2971800" y="1701800"/>
            <a:ext cx="32766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>
                <a:solidFill>
                  <a:srgbClr val="160D3D"/>
                </a:solidFill>
                <a:latin typeface="Montserrat"/>
              </a:rPr>
              <a:t>git checkout -b feature/add-monthly-revenue</a:t>
            </a:r>
            <a:endParaRPr lang="fr-FR" sz="1000">
              <a:solidFill>
                <a:srgbClr val="160D3D"/>
              </a:solidFill>
              <a:latin typeface="Montserrat"/>
            </a:endParaRP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4B606AFD-E3E0-496F-9498-B947C53BE6EF}"/>
              </a:ext>
            </a:extLst>
          </p:cNvPr>
          <p:cNvSpPr/>
          <p:nvPr/>
        </p:nvSpPr>
        <p:spPr>
          <a:xfrm>
            <a:off x="508000" y="2209800"/>
            <a:ext cx="5842000" cy="558800"/>
          </a:xfrm>
          <a:prstGeom prst="roundRect">
            <a:avLst/>
          </a:prstGeom>
          <a:solidFill>
            <a:srgbClr val="F7F4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9B00D9AA-B20C-414F-B706-3B388CEB7425}"/>
              </a:ext>
            </a:extLst>
          </p:cNvPr>
          <p:cNvSpPr/>
          <p:nvPr/>
        </p:nvSpPr>
        <p:spPr>
          <a:xfrm>
            <a:off x="685800" y="2336800"/>
            <a:ext cx="304800" cy="304800"/>
          </a:xfrm>
          <a:prstGeom prst="ellipse">
            <a:avLst/>
          </a:prstGeom>
          <a:solidFill>
            <a:srgbClr val="160D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000" b="1">
                <a:solidFill>
                  <a:srgbClr val="FFFFFF"/>
                </a:solidFill>
                <a:latin typeface="Montserrat"/>
              </a:rPr>
              <a:t>2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779D48E5-D799-427B-BC0E-FCD4BEEEC510}"/>
              </a:ext>
            </a:extLst>
          </p:cNvPr>
          <p:cNvSpPr txBox="1"/>
          <p:nvPr/>
        </p:nvSpPr>
        <p:spPr>
          <a:xfrm>
            <a:off x="1143000" y="2311400"/>
            <a:ext cx="1778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 b="1">
                <a:solidFill>
                  <a:srgbClr val="160D3D"/>
                </a:solidFill>
                <a:latin typeface="Montserrat"/>
              </a:rPr>
              <a:t>Coder</a:t>
            </a: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AFF89A2B-F846-438D-909A-FA4AE9AE27C0}"/>
              </a:ext>
            </a:extLst>
          </p:cNvPr>
          <p:cNvSpPr txBox="1"/>
          <p:nvPr/>
        </p:nvSpPr>
        <p:spPr>
          <a:xfrm>
            <a:off x="2971800" y="2336800"/>
            <a:ext cx="32766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>
                <a:solidFill>
                  <a:srgbClr val="160D3D"/>
                </a:solidFill>
                <a:latin typeface="Montserrat"/>
              </a:rPr>
              <a:t>Creer agg_monthly_revenue.sql + tests</a:t>
            </a:r>
            <a:endParaRPr lang="fr-FR" sz="1000">
              <a:solidFill>
                <a:srgbClr val="160D3D"/>
              </a:solidFill>
              <a:latin typeface="Montserrat"/>
            </a:endParaRP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9B81EDA2-3703-415B-AFDA-BCB2293EF455}"/>
              </a:ext>
            </a:extLst>
          </p:cNvPr>
          <p:cNvSpPr/>
          <p:nvPr/>
        </p:nvSpPr>
        <p:spPr>
          <a:xfrm>
            <a:off x="508000" y="2844800"/>
            <a:ext cx="5842000" cy="558800"/>
          </a:xfrm>
          <a:prstGeom prst="roundRect">
            <a:avLst/>
          </a:prstGeom>
          <a:solidFill>
            <a:srgbClr val="F7F4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71F8B1A6-83F5-4AD8-8481-44739AB54277}"/>
              </a:ext>
            </a:extLst>
          </p:cNvPr>
          <p:cNvSpPr/>
          <p:nvPr/>
        </p:nvSpPr>
        <p:spPr>
          <a:xfrm>
            <a:off x="685800" y="2971800"/>
            <a:ext cx="304800" cy="304800"/>
          </a:xfrm>
          <a:prstGeom prst="ellipse">
            <a:avLst/>
          </a:prstGeom>
          <a:solidFill>
            <a:srgbClr val="160D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000" b="1">
                <a:solidFill>
                  <a:srgbClr val="FFFFFF"/>
                </a:solidFill>
                <a:latin typeface="Montserrat"/>
              </a:rPr>
              <a:t>3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AB55D218-49BE-4D93-8D6A-4B42175AF471}"/>
              </a:ext>
            </a:extLst>
          </p:cNvPr>
          <p:cNvSpPr txBox="1"/>
          <p:nvPr/>
        </p:nvSpPr>
        <p:spPr>
          <a:xfrm>
            <a:off x="1143000" y="2946400"/>
            <a:ext cx="1778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 b="1">
                <a:solidFill>
                  <a:srgbClr val="160D3D"/>
                </a:solidFill>
                <a:latin typeface="Montserrat"/>
              </a:rPr>
              <a:t>Tester en local</a:t>
            </a: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5ACFF844-7CD4-42DC-A5F1-F87836D43675}"/>
              </a:ext>
            </a:extLst>
          </p:cNvPr>
          <p:cNvSpPr txBox="1"/>
          <p:nvPr/>
        </p:nvSpPr>
        <p:spPr>
          <a:xfrm>
            <a:off x="2971800" y="2971800"/>
            <a:ext cx="32766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>
                <a:solidFill>
                  <a:srgbClr val="160D3D"/>
                </a:solidFill>
                <a:latin typeface="Montserrat"/>
              </a:rPr>
              <a:t>dbt build --select agg_monthly_revenue</a:t>
            </a:r>
            <a:endParaRPr lang="fr-FR" sz="1000">
              <a:solidFill>
                <a:srgbClr val="160D3D"/>
              </a:solidFill>
              <a:latin typeface="Montserrat"/>
            </a:endParaRPr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1F12895A-48EC-4401-8767-6E665F4F6121}"/>
              </a:ext>
            </a:extLst>
          </p:cNvPr>
          <p:cNvSpPr/>
          <p:nvPr/>
        </p:nvSpPr>
        <p:spPr>
          <a:xfrm>
            <a:off x="508000" y="3479800"/>
            <a:ext cx="5842000" cy="558800"/>
          </a:xfrm>
          <a:prstGeom prst="roundRect">
            <a:avLst/>
          </a:prstGeom>
          <a:solidFill>
            <a:srgbClr val="F7F4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3" name="Ellipse 22">
            <a:extLst>
              <a:ext uri="{FF2B5EF4-FFF2-40B4-BE49-F238E27FC236}">
                <a16:creationId xmlns:a16="http://schemas.microsoft.com/office/drawing/2014/main" id="{9C8B0005-7004-4714-A619-9415E6792F62}"/>
              </a:ext>
            </a:extLst>
          </p:cNvPr>
          <p:cNvSpPr/>
          <p:nvPr/>
        </p:nvSpPr>
        <p:spPr>
          <a:xfrm>
            <a:off x="685800" y="3606800"/>
            <a:ext cx="304800" cy="304800"/>
          </a:xfrm>
          <a:prstGeom prst="ellipse">
            <a:avLst/>
          </a:prstGeom>
          <a:solidFill>
            <a:srgbClr val="160D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000" b="1">
                <a:solidFill>
                  <a:srgbClr val="FFFFFF"/>
                </a:solidFill>
                <a:latin typeface="Montserrat"/>
              </a:rPr>
              <a:t>4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8A22B2BD-CD89-4167-98DE-078E10A03BBD}"/>
              </a:ext>
            </a:extLst>
          </p:cNvPr>
          <p:cNvSpPr txBox="1"/>
          <p:nvPr/>
        </p:nvSpPr>
        <p:spPr>
          <a:xfrm>
            <a:off x="1143000" y="3581400"/>
            <a:ext cx="1778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 b="1">
                <a:solidFill>
                  <a:srgbClr val="160D3D"/>
                </a:solidFill>
                <a:latin typeface="Montserrat"/>
              </a:rPr>
              <a:t>Valider docs</a:t>
            </a: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DFF82546-F446-4925-8754-0D1A1649F957}"/>
              </a:ext>
            </a:extLst>
          </p:cNvPr>
          <p:cNvSpPr txBox="1"/>
          <p:nvPr/>
        </p:nvSpPr>
        <p:spPr>
          <a:xfrm>
            <a:off x="2971800" y="3606800"/>
            <a:ext cx="32766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>
                <a:solidFill>
                  <a:srgbClr val="160D3D"/>
                </a:solidFill>
                <a:latin typeface="Montserrat"/>
              </a:rPr>
              <a:t>dbt docs generate puis dbt docs serve</a:t>
            </a:r>
          </a:p>
        </p:txBody>
      </p:sp>
      <p:sp>
        <p:nvSpPr>
          <p:cNvPr id="26" name="Rectangle : coins arrondis 25">
            <a:extLst>
              <a:ext uri="{FF2B5EF4-FFF2-40B4-BE49-F238E27FC236}">
                <a16:creationId xmlns:a16="http://schemas.microsoft.com/office/drawing/2014/main" id="{CD281801-BA30-47AF-99F2-8748B1411F7A}"/>
              </a:ext>
            </a:extLst>
          </p:cNvPr>
          <p:cNvSpPr/>
          <p:nvPr/>
        </p:nvSpPr>
        <p:spPr>
          <a:xfrm>
            <a:off x="508000" y="4114800"/>
            <a:ext cx="5842000" cy="558800"/>
          </a:xfrm>
          <a:prstGeom prst="roundRect">
            <a:avLst/>
          </a:prstGeom>
          <a:solidFill>
            <a:srgbClr val="F7F4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27" name="Ellipse 26">
            <a:extLst>
              <a:ext uri="{FF2B5EF4-FFF2-40B4-BE49-F238E27FC236}">
                <a16:creationId xmlns:a16="http://schemas.microsoft.com/office/drawing/2014/main" id="{F66644DC-B56C-4403-8A7C-838879BFE081}"/>
              </a:ext>
            </a:extLst>
          </p:cNvPr>
          <p:cNvSpPr/>
          <p:nvPr/>
        </p:nvSpPr>
        <p:spPr>
          <a:xfrm>
            <a:off x="685800" y="4241800"/>
            <a:ext cx="304800" cy="304800"/>
          </a:xfrm>
          <a:prstGeom prst="ellipse">
            <a:avLst/>
          </a:prstGeom>
          <a:solidFill>
            <a:srgbClr val="160D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000" b="1">
                <a:solidFill>
                  <a:srgbClr val="FFFFFF"/>
                </a:solidFill>
                <a:latin typeface="Montserrat"/>
              </a:rPr>
              <a:t>5</a:t>
            </a:r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9A52714A-9FA6-48CC-A1A4-D782F57C3317}"/>
              </a:ext>
            </a:extLst>
          </p:cNvPr>
          <p:cNvSpPr txBox="1"/>
          <p:nvPr/>
        </p:nvSpPr>
        <p:spPr>
          <a:xfrm>
            <a:off x="1143000" y="4216400"/>
            <a:ext cx="1778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 b="1">
                <a:solidFill>
                  <a:srgbClr val="160D3D"/>
                </a:solidFill>
                <a:latin typeface="Montserrat"/>
              </a:rPr>
              <a:t>Commiter et push</a:t>
            </a:r>
          </a:p>
        </p:txBody>
      </p:sp>
      <p:sp>
        <p:nvSpPr>
          <p:cNvPr id="29" name="ZoneTexte 28">
            <a:extLst>
              <a:ext uri="{FF2B5EF4-FFF2-40B4-BE49-F238E27FC236}">
                <a16:creationId xmlns:a16="http://schemas.microsoft.com/office/drawing/2014/main" id="{5405AC00-6E14-4E25-AE15-A9E7C9679837}"/>
              </a:ext>
            </a:extLst>
          </p:cNvPr>
          <p:cNvSpPr txBox="1"/>
          <p:nvPr/>
        </p:nvSpPr>
        <p:spPr>
          <a:xfrm>
            <a:off x="2971800" y="4241800"/>
            <a:ext cx="32766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en-US" sz="1000">
                <a:solidFill>
                  <a:srgbClr val="160D3D"/>
                </a:solidFill>
                <a:latin typeface="Montserrat"/>
              </a:rPr>
              <a:t>git add, commit, push origin</a:t>
            </a:r>
            <a:endParaRPr lang="fr-FR" sz="1000">
              <a:solidFill>
                <a:srgbClr val="160D3D"/>
              </a:solidFill>
              <a:latin typeface="Montserrat"/>
            </a:endParaRPr>
          </a:p>
        </p:txBody>
      </p:sp>
      <p:sp>
        <p:nvSpPr>
          <p:cNvPr id="30" name="Rectangle : coins arrondis 29">
            <a:extLst>
              <a:ext uri="{FF2B5EF4-FFF2-40B4-BE49-F238E27FC236}">
                <a16:creationId xmlns:a16="http://schemas.microsoft.com/office/drawing/2014/main" id="{73D8F6A4-135A-476F-9912-CA127368FAAB}"/>
              </a:ext>
            </a:extLst>
          </p:cNvPr>
          <p:cNvSpPr/>
          <p:nvPr/>
        </p:nvSpPr>
        <p:spPr>
          <a:xfrm>
            <a:off x="508000" y="4749800"/>
            <a:ext cx="5842000" cy="558800"/>
          </a:xfrm>
          <a:prstGeom prst="roundRect">
            <a:avLst/>
          </a:prstGeom>
          <a:solidFill>
            <a:srgbClr val="F7F4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31" name="Ellipse 30">
            <a:extLst>
              <a:ext uri="{FF2B5EF4-FFF2-40B4-BE49-F238E27FC236}">
                <a16:creationId xmlns:a16="http://schemas.microsoft.com/office/drawing/2014/main" id="{92F129FA-4C13-42AE-B7C5-398E880914A9}"/>
              </a:ext>
            </a:extLst>
          </p:cNvPr>
          <p:cNvSpPr/>
          <p:nvPr/>
        </p:nvSpPr>
        <p:spPr>
          <a:xfrm>
            <a:off x="685800" y="4876800"/>
            <a:ext cx="304800" cy="304800"/>
          </a:xfrm>
          <a:prstGeom prst="ellipse">
            <a:avLst/>
          </a:prstGeom>
          <a:solidFill>
            <a:srgbClr val="160D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000" b="1">
                <a:solidFill>
                  <a:srgbClr val="FFFFFF"/>
                </a:solidFill>
                <a:latin typeface="Montserrat"/>
              </a:rPr>
              <a:t>6</a:t>
            </a:r>
          </a:p>
        </p:txBody>
      </p:sp>
      <p:sp>
        <p:nvSpPr>
          <p:cNvPr id="32" name="ZoneTexte 31">
            <a:extLst>
              <a:ext uri="{FF2B5EF4-FFF2-40B4-BE49-F238E27FC236}">
                <a16:creationId xmlns:a16="http://schemas.microsoft.com/office/drawing/2014/main" id="{A4843636-9274-468D-A102-8B974A06D053}"/>
              </a:ext>
            </a:extLst>
          </p:cNvPr>
          <p:cNvSpPr txBox="1"/>
          <p:nvPr/>
        </p:nvSpPr>
        <p:spPr>
          <a:xfrm>
            <a:off x="1143000" y="4851400"/>
            <a:ext cx="1778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 b="1">
                <a:solidFill>
                  <a:srgbClr val="160D3D"/>
                </a:solidFill>
                <a:latin typeface="Montserrat"/>
              </a:rPr>
              <a:t>Pull request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5A0DB835-0520-45AD-B5CB-CE6B2DDF4E76}"/>
              </a:ext>
            </a:extLst>
          </p:cNvPr>
          <p:cNvSpPr txBox="1"/>
          <p:nvPr/>
        </p:nvSpPr>
        <p:spPr>
          <a:xfrm>
            <a:off x="2971800" y="4876800"/>
            <a:ext cx="32766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>
                <a:solidFill>
                  <a:srgbClr val="160D3D"/>
                </a:solidFill>
                <a:latin typeface="Montserrat"/>
              </a:rPr>
              <a:t>Reviewer la PR, merger dans main</a:t>
            </a:r>
          </a:p>
        </p:txBody>
      </p:sp>
      <p:sp>
        <p:nvSpPr>
          <p:cNvPr id="34" name="Rectangle : coins arrondis 33">
            <a:extLst>
              <a:ext uri="{FF2B5EF4-FFF2-40B4-BE49-F238E27FC236}">
                <a16:creationId xmlns:a16="http://schemas.microsoft.com/office/drawing/2014/main" id="{B3EF116F-EC54-4080-9582-115E53AB8771}"/>
              </a:ext>
            </a:extLst>
          </p:cNvPr>
          <p:cNvSpPr/>
          <p:nvPr/>
        </p:nvSpPr>
        <p:spPr>
          <a:xfrm>
            <a:off x="508000" y="5384800"/>
            <a:ext cx="5842000" cy="558800"/>
          </a:xfrm>
          <a:prstGeom prst="roundRect">
            <a:avLst/>
          </a:prstGeom>
          <a:solidFill>
            <a:srgbClr val="F7F4F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fr-FR"/>
          </a:p>
        </p:txBody>
      </p:sp>
      <p:sp>
        <p:nvSpPr>
          <p:cNvPr id="35" name="Ellipse 34">
            <a:extLst>
              <a:ext uri="{FF2B5EF4-FFF2-40B4-BE49-F238E27FC236}">
                <a16:creationId xmlns:a16="http://schemas.microsoft.com/office/drawing/2014/main" id="{FB9E0BAA-3F74-42B2-9D54-F1A4AB682F38}"/>
              </a:ext>
            </a:extLst>
          </p:cNvPr>
          <p:cNvSpPr/>
          <p:nvPr/>
        </p:nvSpPr>
        <p:spPr>
          <a:xfrm>
            <a:off x="685800" y="5511800"/>
            <a:ext cx="304800" cy="304800"/>
          </a:xfrm>
          <a:prstGeom prst="ellipse">
            <a:avLst/>
          </a:prstGeom>
          <a:solidFill>
            <a:srgbClr val="160D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000" b="1">
                <a:solidFill>
                  <a:srgbClr val="FFFFFF"/>
                </a:solidFill>
                <a:latin typeface="Montserrat"/>
              </a:rPr>
              <a:t>7</a:t>
            </a:r>
          </a:p>
        </p:txBody>
      </p:sp>
      <p:sp>
        <p:nvSpPr>
          <p:cNvPr id="36" name="ZoneTexte 35">
            <a:extLst>
              <a:ext uri="{FF2B5EF4-FFF2-40B4-BE49-F238E27FC236}">
                <a16:creationId xmlns:a16="http://schemas.microsoft.com/office/drawing/2014/main" id="{C47B8238-D45C-48E6-98A3-960F44DE5BD6}"/>
              </a:ext>
            </a:extLst>
          </p:cNvPr>
          <p:cNvSpPr txBox="1"/>
          <p:nvPr/>
        </p:nvSpPr>
        <p:spPr>
          <a:xfrm>
            <a:off x="1143000" y="5486400"/>
            <a:ext cx="1778000" cy="2286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100" b="1">
                <a:solidFill>
                  <a:srgbClr val="160D3D"/>
                </a:solidFill>
                <a:latin typeface="Montserrat"/>
              </a:rPr>
              <a:t>Run prod</a:t>
            </a:r>
          </a:p>
        </p:txBody>
      </p:sp>
      <p:sp>
        <p:nvSpPr>
          <p:cNvPr id="37" name="ZoneTexte 36">
            <a:extLst>
              <a:ext uri="{FF2B5EF4-FFF2-40B4-BE49-F238E27FC236}">
                <a16:creationId xmlns:a16="http://schemas.microsoft.com/office/drawing/2014/main" id="{74E8F2F5-98B1-4FF9-8564-1BC160604964}"/>
              </a:ext>
            </a:extLst>
          </p:cNvPr>
          <p:cNvSpPr txBox="1"/>
          <p:nvPr/>
        </p:nvSpPr>
        <p:spPr>
          <a:xfrm>
            <a:off x="2971800" y="5511800"/>
            <a:ext cx="3276600" cy="279400"/>
          </a:xfrm>
          <a:prstGeom prst="rect">
            <a:avLst/>
          </a:prstGeom>
          <a:noFill/>
        </p:spPr>
        <p:txBody>
          <a:bodyPr vertOverflow="overflow" vert="horz" wrap="square" rtlCol="0" anchor="t">
            <a:noAutofit/>
          </a:bodyPr>
          <a:lstStyle/>
          <a:p>
            <a:pPr algn="l"/>
            <a:r>
              <a:rPr lang="fr-FR" sz="1000">
                <a:solidFill>
                  <a:srgbClr val="160D3D"/>
                </a:solidFill>
                <a:latin typeface="Montserrat"/>
              </a:rPr>
              <a:t>dbt build --target prod sur la branche main</a:t>
            </a:r>
          </a:p>
        </p:txBody>
      </p:sp>
      <p:sp>
        <p:nvSpPr>
          <p:cNvPr id="39" name="ZoneTexte 38">
            <a:extLst>
              <a:ext uri="{FF2B5EF4-FFF2-40B4-BE49-F238E27FC236}">
                <a16:creationId xmlns:a16="http://schemas.microsoft.com/office/drawing/2014/main" id="{70F99727-8970-4E80-8B7B-33F20E45E100}"/>
              </a:ext>
            </a:extLst>
          </p:cNvPr>
          <p:cNvSpPr txBox="1"/>
          <p:nvPr/>
        </p:nvSpPr>
        <p:spPr>
          <a:xfrm>
            <a:off x="9260000" y="1676400"/>
            <a:ext cx="2387600" cy="2286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fr-FR" sz="800" b="1">
                <a:solidFill>
                  <a:srgbClr val="6B7BA8"/>
                </a:solidFill>
                <a:latin typeface="Montserrat"/>
              </a:rPr>
              <a:t>AGG_MONTHLY_REVENUE.SQL</a:t>
            </a:r>
          </a:p>
        </p:txBody>
      </p:sp>
    </p:spTree>
    <p:extLst>
      <p:ext uri="{BB962C8B-B14F-4D97-AF65-F5344CB8AC3E}">
        <p14:creationId xmlns:p14="http://schemas.microsoft.com/office/powerpoint/2010/main" val="74129046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5"/>
          </p:nvPr>
        </p:nvSpPr>
        <p:spPr>
          <a:xfrm>
            <a:off x="508000" y="0"/>
            <a:ext cx="11176000" cy="760021"/>
          </a:xfrm>
        </p:spPr>
        <p:txBody>
          <a:bodyPr/>
          <a:lstStyle/>
          <a:p>
            <a:pPr algn="ctr"/>
            <a:r>
              <a:rPr sz="2200" b="1">
                <a:solidFill>
                  <a:srgbClr val="160D3D"/>
                </a:solidFill>
                <a:latin typeface="Montserrat"/>
              </a:rPr>
              <a:t>Aide-memoire des commandes dbt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00000" y="1930400"/>
            <a:ext cx="5400000" cy="3492500"/>
          </a:xfrm>
          <a:prstGeom prst="rect">
            <a:avLst/>
          </a:prstGeom>
          <a:solidFill>
            <a:srgbClr val="0A1730"/>
          </a:solidFill>
          <a:ln w="12700" cap="flat" cmpd="sng" algn="ctr">
            <a:noFill/>
            <a:prstDash val="solid"/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 anchorCtr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 lang="fr-FR" sz="900" i="1" dirty="0">
              <a:solidFill>
                <a:srgbClr val="6B7BA8"/>
              </a:solidFill>
              <a:latin typeface="Courier New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lang="fr-FR" sz="900" i="1" dirty="0">
              <a:solidFill>
                <a:srgbClr val="6B7BA8"/>
              </a:solidFill>
              <a:latin typeface="Courier New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lang="fr-FR" sz="900" i="1" dirty="0">
              <a:solidFill>
                <a:srgbClr val="6B7BA8"/>
              </a:solidFill>
              <a:latin typeface="Courier New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i="1" dirty="0">
                <a:solidFill>
                  <a:srgbClr val="6B7BA8"/>
                </a:solidFill>
                <a:latin typeface="Courier New"/>
              </a:rPr>
              <a:t># Cycle de developpement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b="1" dirty="0">
                <a:solidFill>
                  <a:srgbClr val="9D88FF"/>
                </a:solidFill>
                <a:latin typeface="Courier New"/>
              </a:rPr>
              <a:t>dbt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debug          </a:t>
            </a:r>
            <a:r>
              <a:rPr lang="fr-FR" sz="900" i="1" dirty="0">
                <a:solidFill>
                  <a:srgbClr val="6B7BA8"/>
                </a:solidFill>
                <a:latin typeface="Courier New"/>
              </a:rPr>
              <a:t># Connexion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b="1" dirty="0">
                <a:solidFill>
                  <a:srgbClr val="9D88FF"/>
                </a:solidFill>
                <a:latin typeface="Courier New"/>
              </a:rPr>
              <a:t>dbt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deps           </a:t>
            </a:r>
            <a:r>
              <a:rPr lang="fr-FR" sz="900" i="1" dirty="0">
                <a:solidFill>
                  <a:srgbClr val="6B7BA8"/>
                </a:solidFill>
                <a:latin typeface="Courier New"/>
              </a:rPr>
              <a:t># Packages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b="1" dirty="0">
                <a:solidFill>
                  <a:srgbClr val="9D88FF"/>
                </a:solidFill>
                <a:latin typeface="Courier New"/>
              </a:rPr>
              <a:t>dbt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seed           </a:t>
            </a:r>
            <a:r>
              <a:rPr lang="fr-FR" sz="900" i="1" dirty="0">
                <a:solidFill>
                  <a:srgbClr val="6B7BA8"/>
                </a:solidFill>
                <a:latin typeface="Courier New"/>
              </a:rPr>
              <a:t># CSV -&gt; tables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b="1" dirty="0">
                <a:solidFill>
                  <a:srgbClr val="9D88FF"/>
                </a:solidFill>
                <a:latin typeface="Courier New"/>
              </a:rPr>
              <a:t>dbt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run            </a:t>
            </a:r>
            <a:r>
              <a:rPr lang="fr-FR" sz="900" i="1" dirty="0">
                <a:solidFill>
                  <a:srgbClr val="6B7BA8"/>
                </a:solidFill>
                <a:latin typeface="Courier New"/>
              </a:rPr>
              <a:t># Modeles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b="1" dirty="0">
                <a:solidFill>
                  <a:srgbClr val="9D88FF"/>
                </a:solidFill>
                <a:latin typeface="Courier New"/>
              </a:rPr>
              <a:t>dbt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test           </a:t>
            </a:r>
            <a:r>
              <a:rPr lang="fr-FR" sz="900" i="1" dirty="0">
                <a:solidFill>
                  <a:srgbClr val="6B7BA8"/>
                </a:solidFill>
                <a:latin typeface="Courier New"/>
              </a:rPr>
              <a:t># Tests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b="1" dirty="0">
                <a:solidFill>
                  <a:srgbClr val="9D88FF"/>
                </a:solidFill>
                <a:latin typeface="Courier New"/>
              </a:rPr>
              <a:t>dbt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build          </a:t>
            </a:r>
            <a:r>
              <a:rPr lang="fr-FR" sz="900" i="1" dirty="0">
                <a:solidFill>
                  <a:srgbClr val="6B7BA8"/>
                </a:solidFill>
                <a:latin typeface="Courier New"/>
              </a:rPr>
              <a:t># Run+test (DAG)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b="1" dirty="0">
                <a:solidFill>
                  <a:srgbClr val="9D88FF"/>
                </a:solidFill>
                <a:latin typeface="Courier New"/>
              </a:rPr>
              <a:t>dbt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compile        </a:t>
            </a:r>
            <a:r>
              <a:rPr lang="fr-FR" sz="900" i="1" dirty="0">
                <a:solidFill>
                  <a:srgbClr val="6B7BA8"/>
                </a:solidFill>
                <a:latin typeface="Courier New"/>
              </a:rPr>
              <a:t># SQL sans exec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b="1" dirty="0">
                <a:solidFill>
                  <a:srgbClr val="9D88FF"/>
                </a:solidFill>
                <a:latin typeface="Courier New"/>
              </a:rPr>
              <a:t>dbt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snapshot       </a:t>
            </a:r>
            <a:r>
              <a:rPr lang="fr-FR" sz="900" i="1" dirty="0">
                <a:solidFill>
                  <a:srgbClr val="6B7BA8"/>
                </a:solidFill>
                <a:latin typeface="Courier New"/>
              </a:rPr>
              <a:t># Snapshots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b="1" dirty="0">
                <a:solidFill>
                  <a:srgbClr val="9D88FF"/>
                </a:solidFill>
                <a:latin typeface="Courier New"/>
              </a:rPr>
              <a:t>dbt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clean          </a:t>
            </a:r>
            <a:r>
              <a:rPr lang="fr-FR" sz="900" i="1" dirty="0">
                <a:solidFill>
                  <a:srgbClr val="6B7BA8"/>
                </a:solidFill>
                <a:latin typeface="Courier New"/>
              </a:rPr>
              <a:t># Nettoyage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i="1" dirty="0">
                <a:solidFill>
                  <a:srgbClr val="6B7BA8"/>
                </a:solidFill>
                <a:latin typeface="Courier New"/>
              </a:rPr>
              <a:t># Documentation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b="1" dirty="0">
                <a:solidFill>
                  <a:srgbClr val="9D88FF"/>
                </a:solidFill>
                <a:latin typeface="Courier New"/>
              </a:rPr>
              <a:t>dbt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docs generate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b="1" dirty="0">
                <a:solidFill>
                  <a:srgbClr val="9D88FF"/>
                </a:solidFill>
                <a:latin typeface="Courier New"/>
              </a:rPr>
              <a:t>dbt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docs serve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i="1" dirty="0">
                <a:solidFill>
                  <a:srgbClr val="6B7BA8"/>
                </a:solidFill>
                <a:latin typeface="Courier New"/>
              </a:rPr>
              <a:t># Operations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b="1" dirty="0">
                <a:solidFill>
                  <a:srgbClr val="9D88FF"/>
                </a:solidFill>
                <a:latin typeface="Courier New"/>
              </a:rPr>
              <a:t>dbt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run-operation &lt;macro&gt;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b="1" dirty="0">
                <a:solidFill>
                  <a:srgbClr val="9D88FF"/>
                </a:solidFill>
                <a:latin typeface="Courier New"/>
              </a:rPr>
              <a:t>dbt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source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freshness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0000" y="1930400"/>
            <a:ext cx="5400000" cy="3492500"/>
          </a:xfrm>
          <a:prstGeom prst="rect">
            <a:avLst/>
          </a:prstGeom>
          <a:solidFill>
            <a:srgbClr val="0A1730"/>
          </a:solidFill>
          <a:ln w="12700" cap="flat" cmpd="sng" algn="ctr">
            <a:noFill/>
            <a:prstDash val="solid"/>
            <a:miter lim="800000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t" anchorCtr="0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endParaRPr lang="fr-FR" sz="900" i="1" dirty="0">
              <a:solidFill>
                <a:srgbClr val="6B7BA8"/>
              </a:solidFill>
              <a:latin typeface="Courier New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lang="fr-FR" sz="900" i="1" dirty="0">
              <a:solidFill>
                <a:srgbClr val="6B7BA8"/>
              </a:solidFill>
              <a:latin typeface="Courier New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endParaRPr lang="fr-FR" sz="900" i="1" dirty="0">
              <a:solidFill>
                <a:srgbClr val="6B7BA8"/>
              </a:solidFill>
              <a:latin typeface="Courier New"/>
            </a:endParaRP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i="1" dirty="0">
                <a:solidFill>
                  <a:srgbClr val="6B7BA8"/>
                </a:solidFill>
                <a:latin typeface="Courier New"/>
              </a:rPr>
              <a:t># Selecteurs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b="1" dirty="0">
                <a:solidFill>
                  <a:srgbClr val="9D88FF"/>
                </a:solidFill>
                <a:latin typeface="Courier New"/>
              </a:rPr>
              <a:t>dbt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run --select &lt;model&gt;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b="1" dirty="0">
                <a:solidFill>
                  <a:srgbClr val="9D88FF"/>
                </a:solidFill>
                <a:latin typeface="Courier New"/>
              </a:rPr>
              <a:t>dbt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run --select &lt;model&gt;+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b="1" dirty="0">
                <a:solidFill>
                  <a:srgbClr val="9D88FF"/>
                </a:solidFill>
                <a:latin typeface="Courier New"/>
              </a:rPr>
              <a:t>dbt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run --select +&lt;model&gt;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b="1" dirty="0">
                <a:solidFill>
                  <a:srgbClr val="9D88FF"/>
                </a:solidFill>
                <a:latin typeface="Courier New"/>
              </a:rPr>
              <a:t>dbt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run --select &lt;folder&gt;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b="1" dirty="0">
                <a:solidFill>
                  <a:srgbClr val="9D88FF"/>
                </a:solidFill>
                <a:latin typeface="Courier New"/>
              </a:rPr>
              <a:t>dbt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run --select tag:&lt;tag&gt;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b="1" dirty="0">
                <a:solidFill>
                  <a:srgbClr val="9D88FF"/>
                </a:solidFill>
                <a:latin typeface="Courier New"/>
              </a:rPr>
              <a:t>dbt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run --exclude &lt;model&gt;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b="1" dirty="0">
                <a:solidFill>
                  <a:srgbClr val="9D88FF"/>
                </a:solidFill>
                <a:latin typeface="Courier New"/>
              </a:rPr>
              <a:t>dbt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run --full-refresh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i="1" dirty="0">
                <a:solidFill>
                  <a:srgbClr val="6B7BA8"/>
                </a:solidFill>
                <a:latin typeface="Courier New"/>
              </a:rPr>
              <a:t># Lister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b="1" dirty="0">
                <a:solidFill>
                  <a:srgbClr val="9D88FF"/>
                </a:solidFill>
                <a:latin typeface="Courier New"/>
              </a:rPr>
              <a:t>dbt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</a:t>
            </a:r>
            <a:r>
              <a:rPr lang="fr-FR" sz="900" b="1" dirty="0">
                <a:solidFill>
                  <a:srgbClr val="9D88FF"/>
                </a:solidFill>
                <a:latin typeface="Courier New"/>
              </a:rPr>
              <a:t>ls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--select &lt;selector&gt;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i="1" dirty="0">
                <a:solidFill>
                  <a:srgbClr val="6B7BA8"/>
                </a:solidFill>
                <a:latin typeface="Courier New"/>
              </a:rPr>
              <a:t># Tests par type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b="1" dirty="0">
                <a:solidFill>
                  <a:srgbClr val="9D88FF"/>
                </a:solidFill>
                <a:latin typeface="Courier New"/>
              </a:rPr>
              <a:t>dbt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test --select test_type:unit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b="1" dirty="0">
                <a:solidFill>
                  <a:srgbClr val="9D88FF"/>
                </a:solidFill>
                <a:latin typeface="Courier New"/>
              </a:rPr>
              <a:t>dbt</a:t>
            </a:r>
            <a:r>
              <a:rPr lang="fr-FR" sz="900" dirty="0">
                <a:solidFill>
                  <a:srgbClr val="E8E8F0"/>
                </a:solidFill>
                <a:latin typeface="Courier New"/>
              </a:rPr>
              <a:t> test --select test_type:singular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 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i="1" dirty="0">
                <a:solidFill>
                  <a:srgbClr val="6B7BA8"/>
                </a:solidFill>
                <a:latin typeface="Courier New"/>
              </a:rPr>
              <a:t># Materialisations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lang="fr-FR" sz="900" dirty="0">
                <a:solidFill>
                  <a:srgbClr val="E8E8F0"/>
                </a:solidFill>
                <a:latin typeface="Courier New"/>
              </a:rPr>
              <a:t>view | table | ephemeral | incremental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6DBC0E7-23D1-49EB-84FB-50C3506397EE}"/>
              </a:ext>
            </a:extLst>
          </p:cNvPr>
          <p:cNvSpPr/>
          <p:nvPr/>
        </p:nvSpPr>
        <p:spPr>
          <a:xfrm>
            <a:off x="700000" y="1628588"/>
            <a:ext cx="1905000" cy="279400"/>
          </a:xfrm>
          <a:prstGeom prst="rect">
            <a:avLst/>
          </a:prstGeom>
          <a:solidFill>
            <a:srgbClr val="160D3D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100" b="1">
                <a:solidFill>
                  <a:srgbClr val="FFFFFF"/>
                </a:solidFill>
                <a:latin typeface="Montserrat"/>
              </a:rPr>
              <a:t>CYCLE DBT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C5708CFF-833F-4500-AFB8-2A1B8988B47F}"/>
              </a:ext>
            </a:extLst>
          </p:cNvPr>
          <p:cNvSpPr txBox="1"/>
          <p:nvPr/>
        </p:nvSpPr>
        <p:spPr>
          <a:xfrm>
            <a:off x="2730500" y="901700"/>
            <a:ext cx="3365500" cy="2794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fr-FR" sz="1200" b="1">
                <a:solidFill>
                  <a:srgbClr val="160D3D"/>
                </a:solidFill>
                <a:latin typeface="Montserrat"/>
              </a:rPr>
              <a:t>Etapes d'un build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F483C0E-DE56-46C5-8CF8-582D05A43B4B}"/>
              </a:ext>
            </a:extLst>
          </p:cNvPr>
          <p:cNvSpPr/>
          <p:nvPr/>
        </p:nvSpPr>
        <p:spPr>
          <a:xfrm>
            <a:off x="6300000" y="1619623"/>
            <a:ext cx="1905000" cy="279400"/>
          </a:xfrm>
          <a:prstGeom prst="rect">
            <a:avLst/>
          </a:prstGeom>
          <a:solidFill>
            <a:srgbClr val="E8792F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sz="1100" b="1">
                <a:solidFill>
                  <a:srgbClr val="FFFFFF"/>
                </a:solidFill>
                <a:latin typeface="Montserrat"/>
              </a:rPr>
              <a:t>SELECTEURS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D333CD67-0779-4900-9C2D-DD882203ACAD}"/>
              </a:ext>
            </a:extLst>
          </p:cNvPr>
          <p:cNvSpPr txBox="1"/>
          <p:nvPr/>
        </p:nvSpPr>
        <p:spPr>
          <a:xfrm>
            <a:off x="8331200" y="901700"/>
            <a:ext cx="3365500" cy="2794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fr-FR" sz="1200" b="1">
                <a:solidFill>
                  <a:srgbClr val="160D3D"/>
                </a:solidFill>
                <a:latin typeface="Montserrat"/>
              </a:rPr>
              <a:t>Cibler les modeles</a:t>
            </a: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D5B919CD-B373-4335-ADDC-2431640B9A92}"/>
              </a:ext>
            </a:extLst>
          </p:cNvPr>
          <p:cNvSpPr txBox="1"/>
          <p:nvPr/>
        </p:nvSpPr>
        <p:spPr>
          <a:xfrm>
            <a:off x="3560000" y="2057400"/>
            <a:ext cx="2387600" cy="2286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fr-FR" sz="800" b="1">
                <a:solidFill>
                  <a:srgbClr val="6B7BA8"/>
                </a:solidFill>
                <a:latin typeface="Montserrat"/>
              </a:rPr>
              <a:t>CYCLE DBT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9319E7F1-FA53-4331-A84E-DD3B33F6597A}"/>
              </a:ext>
            </a:extLst>
          </p:cNvPr>
          <p:cNvSpPr txBox="1"/>
          <p:nvPr/>
        </p:nvSpPr>
        <p:spPr>
          <a:xfrm>
            <a:off x="9160000" y="2057400"/>
            <a:ext cx="2387600" cy="228600"/>
          </a:xfrm>
          <a:prstGeom prst="rect">
            <a:avLst/>
          </a:prstGeom>
          <a:noFill/>
        </p:spPr>
        <p:txBody>
          <a:bodyPr vertOverflow="overflow" vert="horz" wrap="none" rtlCol="0" anchor="ctr" anchorCtr="0">
            <a:noAutofit/>
          </a:bodyPr>
          <a:lstStyle/>
          <a:p>
            <a:pPr algn="l"/>
            <a:r>
              <a:rPr lang="fr-FR" sz="800" b="1">
                <a:solidFill>
                  <a:srgbClr val="6B7BA8"/>
                </a:solidFill>
                <a:latin typeface="Montserrat"/>
              </a:rPr>
              <a:t>SELECTEURS</a:t>
            </a:r>
          </a:p>
        </p:txBody>
      </p:sp>
    </p:spTree>
    <p:extLst>
      <p:ext uri="{BB962C8B-B14F-4D97-AF65-F5344CB8AC3E}">
        <p14:creationId xmlns:p14="http://schemas.microsoft.com/office/powerpoint/2010/main" val="59427850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0000" y="2000000"/>
            <a:ext cx="11400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6000" b="1">
                <a:solidFill>
                  <a:srgbClr val="FFFFFF"/>
                </a:solidFill>
                <a:latin typeface="Montserrat"/>
              </a:rPr>
              <a:t>Merci 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00000" y="3800000"/>
            <a:ext cx="11400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sz="1800" b="0">
                <a:solidFill>
                  <a:srgbClr val="FFFFFF"/>
                </a:solidFill>
                <a:latin typeface="Montserrat"/>
              </a:rPr>
              <a:t>www.kpcgroup.fr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 [1777302213082]">
  <a:themeElements>
    <a:clrScheme name="Personnalisé 6">
      <a:dk1>
        <a:srgbClr val="160D3D"/>
      </a:dk1>
      <a:lt1>
        <a:srgbClr val="FFFFFF"/>
      </a:lt1>
      <a:dk2>
        <a:srgbClr val="160D3D"/>
      </a:dk2>
      <a:lt2>
        <a:srgbClr val="E8E8E8"/>
      </a:lt2>
      <a:accent1>
        <a:srgbClr val="320CC9"/>
      </a:accent1>
      <a:accent2>
        <a:srgbClr val="FF660D"/>
      </a:accent2>
      <a:accent3>
        <a:srgbClr val="EFD3B9"/>
      </a:accent3>
      <a:accent4>
        <a:srgbClr val="ECA8A6"/>
      </a:accent4>
      <a:accent5>
        <a:srgbClr val="373AA0"/>
      </a:accent5>
      <a:accent6>
        <a:srgbClr val="A6EAC0"/>
      </a:accent6>
      <a:hlink>
        <a:srgbClr val="FF7F00"/>
      </a:hlink>
      <a:folHlink>
        <a:srgbClr val="FFE1BF"/>
      </a:folHlink>
    </a:clrScheme>
    <a:fontScheme name="KPC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Personnalisé 6">
    <a:dk1>
      <a:srgbClr val="160D3D"/>
    </a:dk1>
    <a:lt1>
      <a:srgbClr val="FFFFFF"/>
    </a:lt1>
    <a:dk2>
      <a:srgbClr val="160D3D"/>
    </a:dk2>
    <a:lt2>
      <a:srgbClr val="E8E8E8"/>
    </a:lt2>
    <a:accent1>
      <a:srgbClr val="320CC9"/>
    </a:accent1>
    <a:accent2>
      <a:srgbClr val="FF660D"/>
    </a:accent2>
    <a:accent3>
      <a:srgbClr val="EFD3B9"/>
    </a:accent3>
    <a:accent4>
      <a:srgbClr val="ECA8A6"/>
    </a:accent4>
    <a:accent5>
      <a:srgbClr val="373AA0"/>
    </a:accent5>
    <a:accent6>
      <a:srgbClr val="A6EAC0"/>
    </a:accent6>
    <a:hlink>
      <a:srgbClr val="FF7F00"/>
    </a:hlink>
    <a:folHlink>
      <a:srgbClr val="FFE1BF"/>
    </a:folHlink>
  </a:clrScheme>
</a:themeOverrid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4424EFF-5108-4FCE-A003-D94D350FD151}">
  <we:reference id="f5f369e5-aa35-49d7-ad7b-638152ddb008" version="1.0.0.0" store="EXCatalog" storeType="EXCatalog"/>
  <we:alternateReferences>
    <we:reference id="WA200010001" version="1.0.0.0" store="fr-FR" storeType="OMEX"/>
  </we:alternateReferences>
  <we:properties>
    <we:property name="claude.fileId" value="&quot;787c02ca-2593-4252-8892-fcd499c1e60d&quot;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23915e9-56e7-4472-aed1-4dca2ca6a966">
      <Terms xmlns="http://schemas.microsoft.com/office/infopath/2007/PartnerControls"/>
    </lcf76f155ced4ddcb4097134ff3c332f>
    <TaxCatchAll xmlns="e494f72c-dba8-45ae-9593-07e869b00ae4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F26FF92C1E61A4CBC232F5F7464998A" ma:contentTypeVersion="21" ma:contentTypeDescription="Crée un document." ma:contentTypeScope="" ma:versionID="6ba28d70f267e0751c934e389a087801">
  <xsd:schema xmlns:xsd="http://www.w3.org/2001/XMLSchema" xmlns:xs="http://www.w3.org/2001/XMLSchema" xmlns:p="http://schemas.microsoft.com/office/2006/metadata/properties" xmlns:ns2="e494f72c-dba8-45ae-9593-07e869b00ae4" xmlns:ns3="723915e9-56e7-4472-aed1-4dca2ca6a966" targetNamespace="http://schemas.microsoft.com/office/2006/metadata/properties" ma:root="true" ma:fieldsID="ce9c1c32ed5d3f8ff11d50324a3b95c9" ns2:_="" ns3:_="">
    <xsd:import namespace="e494f72c-dba8-45ae-9593-07e869b00ae4"/>
    <xsd:import namespace="723915e9-56e7-4472-aed1-4dca2ca6a966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lcf76f155ced4ddcb4097134ff3c332f" minOccurs="0"/>
                <xsd:element ref="ns2:TaxCatchAll" minOccurs="0"/>
                <xsd:element ref="ns3:MediaLengthInSeconds" minOccurs="0"/>
                <xsd:element ref="ns3:MediaServiceDateTaken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494f72c-dba8-45ae-9593-07e869b00ae4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e901ae58-b9dd-4780-91d4-faef2f24bb7f}" ma:internalName="TaxCatchAll" ma:readOnly="false" ma:showField="CatchAllData" ma:web="e494f72c-dba8-45ae-9593-07e869b00ae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23915e9-56e7-4472-aed1-4dca2ca6a96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lcf76f155ced4ddcb4097134ff3c332f" ma:index="17" nillable="true" ma:taxonomy="true" ma:internalName="lcf76f155ced4ddcb4097134ff3c332f" ma:taxonomyFieldName="MediaServiceImageTags" ma:displayName="Balises d’images" ma:readOnly="false" ma:fieldId="{5cf76f15-5ced-4ddc-b409-7134ff3c332f}" ma:taxonomyMulti="true" ma:sspId="18ef22ef-2a12-4dbb-8703-1eb9be77797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20" nillable="true" ma:displayName="MediaServiceDateTaken" ma:internalName="MediaServiceDateTaken" ma:readOnly="true">
      <xsd:simpleType>
        <xsd:restriction base="dms:Text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CAC1C13-1FEF-4D7F-AF2E-F611D936E02E}">
  <ds:schemaRefs>
    <ds:schemaRef ds:uri="723915e9-56e7-4472-aed1-4dca2ca6a966"/>
    <ds:schemaRef ds:uri="e494f72c-dba8-45ae-9593-07e869b00ae4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42FDE200-722E-4A2B-A8D1-92BE7C57AA39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6A0AA4E-4674-4F39-AE80-86C4BB0DB02D}">
  <ds:schemaRefs>
    <ds:schemaRef ds:uri="723915e9-56e7-4472-aed1-4dca2ca6a966"/>
    <ds:schemaRef ds:uri="e494f72c-dba8-45ae-9593-07e869b00ae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7316</Words>
  <Application>Microsoft Office PowerPoint</Application>
  <PresentationFormat>Grand écran</PresentationFormat>
  <Paragraphs>1546</Paragraphs>
  <Slides>57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57</vt:i4>
      </vt:variant>
    </vt:vector>
  </HeadingPairs>
  <TitlesOfParts>
    <vt:vector size="64" baseType="lpstr">
      <vt:lpstr>Aptos</vt:lpstr>
      <vt:lpstr>Arial</vt:lpstr>
      <vt:lpstr>Consolas</vt:lpstr>
      <vt:lpstr>Courier New</vt:lpstr>
      <vt:lpstr>Montserrat</vt:lpstr>
      <vt:lpstr>Wingdings</vt:lpstr>
      <vt:lpstr>Thème Office [1777302213082]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Staff Day</dc:title>
  <dc:creator>Christel Carbonnel</dc:creator>
  <cp:lastModifiedBy>Julien Jouclard</cp:lastModifiedBy>
  <cp:revision>4</cp:revision>
  <dcterms:created xsi:type="dcterms:W3CDTF">2024-06-20T09:16:39Z</dcterms:created>
  <dcterms:modified xsi:type="dcterms:W3CDTF">2026-05-28T13:28:32Z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0x010100EF26FF92C1E61A4CBC232F5F7464998A</vt:lpwstr>
  </property>
</Properties>
</file>